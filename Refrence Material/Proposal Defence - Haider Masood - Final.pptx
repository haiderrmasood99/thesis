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62" r:id="rId3"/>
    <p:sldId id="263" r:id="rId4"/>
    <p:sldId id="264" r:id="rId5"/>
    <p:sldId id="343" r:id="rId6"/>
    <p:sldId id="344" r:id="rId7"/>
    <p:sldId id="345" r:id="rId8"/>
    <p:sldId id="348" r:id="rId9"/>
    <p:sldId id="346" r:id="rId10"/>
    <p:sldId id="350" r:id="rId11"/>
    <p:sldId id="349" r:id="rId12"/>
    <p:sldId id="351" r:id="rId13"/>
    <p:sldId id="352" r:id="rId14"/>
    <p:sldId id="353" r:id="rId15"/>
    <p:sldId id="354" r:id="rId16"/>
    <p:sldId id="356" r:id="rId17"/>
    <p:sldId id="357" r:id="rId18"/>
    <p:sldId id="358" r:id="rId19"/>
    <p:sldId id="361" r:id="rId20"/>
    <p:sldId id="360" r:id="rId21"/>
    <p:sldId id="363" r:id="rId22"/>
    <p:sldId id="366" r:id="rId23"/>
    <p:sldId id="365" r:id="rId24"/>
    <p:sldId id="367" r:id="rId25"/>
    <p:sldId id="368" r:id="rId26"/>
    <p:sldId id="369" r:id="rId27"/>
    <p:sldId id="370" r:id="rId28"/>
    <p:sldId id="371" r:id="rId29"/>
    <p:sldId id="372" r:id="rId30"/>
    <p:sldId id="376" r:id="rId31"/>
    <p:sldId id="374" r:id="rId32"/>
    <p:sldId id="380" r:id="rId33"/>
    <p:sldId id="381" r:id="rId34"/>
    <p:sldId id="382" r:id="rId35"/>
    <p:sldId id="373" r:id="rId36"/>
    <p:sldId id="377" r:id="rId37"/>
    <p:sldId id="378" r:id="rId38"/>
    <p:sldId id="379" r:id="rId39"/>
    <p:sldId id="301" r:id="rId40"/>
    <p:sldId id="340" r:id="rId41"/>
    <p:sldId id="341" r:id="rId42"/>
    <p:sldId id="34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87A"/>
    <a:srgbClr val="2B62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734B28-D585-4D2A-B0FB-3C53C9FE3F8B}" type="datetimeFigureOut">
              <a:rPr lang="en-PK" smtClean="0"/>
              <a:t>28/10/2025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977C03-BCDA-49EA-BE48-845707FE6CE6}" type="slidenum">
              <a:rPr lang="en-PK" smtClean="0"/>
              <a:t>‹#›</a:t>
            </a:fld>
            <a:endParaRPr lang="en-PK"/>
          </a:p>
        </p:txBody>
      </p:sp>
    </p:spTree>
    <p:extLst>
      <p:ext uri="{BB962C8B-B14F-4D97-AF65-F5344CB8AC3E}">
        <p14:creationId xmlns:p14="http://schemas.microsoft.com/office/powerpoint/2010/main" val="2185826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48977C03-BCDA-49EA-BE48-845707FE6CE6}" type="slidenum">
              <a:rPr lang="en-PK" smtClean="0"/>
              <a:t>38</a:t>
            </a:fld>
            <a:endParaRPr lang="en-PK"/>
          </a:p>
        </p:txBody>
      </p:sp>
    </p:spTree>
    <p:extLst>
      <p:ext uri="{BB962C8B-B14F-4D97-AF65-F5344CB8AC3E}">
        <p14:creationId xmlns:p14="http://schemas.microsoft.com/office/powerpoint/2010/main" val="3567140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42671-8F67-8932-8A2D-1961711EB5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3BB6B5-8B73-A6A4-FE76-A13785FF30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F4AE27-7C35-566F-F648-979215925816}"/>
              </a:ext>
            </a:extLst>
          </p:cNvPr>
          <p:cNvSpPr>
            <a:spLocks noGrp="1"/>
          </p:cNvSpPr>
          <p:nvPr>
            <p:ph type="dt" sz="half" idx="10"/>
          </p:nvPr>
        </p:nvSpPr>
        <p:spPr/>
        <p:txBody>
          <a:bodyPr/>
          <a:lstStyle/>
          <a:p>
            <a:fld id="{DD7872E0-B922-4812-9478-68DCD2651DCE}" type="datetime1">
              <a:rPr lang="en-US" smtClean="0"/>
              <a:t>10/28/2025</a:t>
            </a:fld>
            <a:endParaRPr lang="en-US"/>
          </a:p>
        </p:txBody>
      </p:sp>
      <p:sp>
        <p:nvSpPr>
          <p:cNvPr id="5" name="Footer Placeholder 4">
            <a:extLst>
              <a:ext uri="{FF2B5EF4-FFF2-40B4-BE49-F238E27FC236}">
                <a16:creationId xmlns:a16="http://schemas.microsoft.com/office/drawing/2014/main" id="{855C4862-25E5-F27E-1155-4F41B97D3E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37EF3-DE45-A09B-367E-8875118D27D7}"/>
              </a:ext>
            </a:extLst>
          </p:cNvPr>
          <p:cNvSpPr>
            <a:spLocks noGrp="1"/>
          </p:cNvSpPr>
          <p:nvPr>
            <p:ph type="sldNum" sz="quarter" idx="12"/>
          </p:nvPr>
        </p:nvSpPr>
        <p:spPr>
          <a:xfrm>
            <a:off x="9369725" y="6520250"/>
            <a:ext cx="2743200" cy="365125"/>
          </a:xfrm>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419521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D0258-9146-24FA-926B-01B188C7E4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DD36FC-B8D5-1A25-352F-48B920A69C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10B63-4C4D-257D-D19F-BFE3FFAE9BA0}"/>
              </a:ext>
            </a:extLst>
          </p:cNvPr>
          <p:cNvSpPr>
            <a:spLocks noGrp="1"/>
          </p:cNvSpPr>
          <p:nvPr>
            <p:ph type="dt" sz="half" idx="10"/>
          </p:nvPr>
        </p:nvSpPr>
        <p:spPr/>
        <p:txBody>
          <a:bodyPr/>
          <a:lstStyle/>
          <a:p>
            <a:fld id="{7FE5E605-DBC2-4D53-864B-C18485A3660A}" type="datetime1">
              <a:rPr lang="en-US" smtClean="0"/>
              <a:t>10/28/2025</a:t>
            </a:fld>
            <a:endParaRPr lang="en-US"/>
          </a:p>
        </p:txBody>
      </p:sp>
      <p:sp>
        <p:nvSpPr>
          <p:cNvPr id="5" name="Footer Placeholder 4">
            <a:extLst>
              <a:ext uri="{FF2B5EF4-FFF2-40B4-BE49-F238E27FC236}">
                <a16:creationId xmlns:a16="http://schemas.microsoft.com/office/drawing/2014/main" id="{2408B6E9-CAFC-3302-C6AF-6D07EB1DF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26A31-8144-0936-EE9D-0A8D5784A587}"/>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1006657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ABA15-7F8C-0B16-A855-AA3B4F06F7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802A9F-AC1D-BF7F-191F-A94EA03460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63A9A4-5805-6879-CA62-1EE4102C413E}"/>
              </a:ext>
            </a:extLst>
          </p:cNvPr>
          <p:cNvSpPr>
            <a:spLocks noGrp="1"/>
          </p:cNvSpPr>
          <p:nvPr>
            <p:ph type="dt" sz="half" idx="10"/>
          </p:nvPr>
        </p:nvSpPr>
        <p:spPr/>
        <p:txBody>
          <a:bodyPr/>
          <a:lstStyle/>
          <a:p>
            <a:fld id="{D67BA334-5EBC-4E60-87D2-E3970B5BDA1B}" type="datetime1">
              <a:rPr lang="en-US" smtClean="0"/>
              <a:t>10/28/2025</a:t>
            </a:fld>
            <a:endParaRPr lang="en-US"/>
          </a:p>
        </p:txBody>
      </p:sp>
      <p:sp>
        <p:nvSpPr>
          <p:cNvPr id="5" name="Footer Placeholder 4">
            <a:extLst>
              <a:ext uri="{FF2B5EF4-FFF2-40B4-BE49-F238E27FC236}">
                <a16:creationId xmlns:a16="http://schemas.microsoft.com/office/drawing/2014/main" id="{50FA3C52-C6AF-6D66-A17F-4E5C488BA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B7110-4D01-4669-AED1-1FBA79836F21}"/>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2898957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163CE-B5C1-2DC3-2F32-EBBF70FEF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7CBFA9-3732-0366-1662-FAB4AD446B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7BFECC-E1E7-AA5E-3866-4348B26B06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81EF7-1D33-FF50-0AD4-E4D43DA87CAD}"/>
              </a:ext>
            </a:extLst>
          </p:cNvPr>
          <p:cNvSpPr>
            <a:spLocks noGrp="1"/>
          </p:cNvSpPr>
          <p:nvPr>
            <p:ph type="dt" sz="half" idx="10"/>
          </p:nvPr>
        </p:nvSpPr>
        <p:spPr/>
        <p:txBody>
          <a:bodyPr/>
          <a:lstStyle/>
          <a:p>
            <a:fld id="{AF6FA751-6FA6-448C-9D65-D62E076211DE}" type="datetime1">
              <a:rPr lang="en-US" smtClean="0"/>
              <a:t>10/28/2025</a:t>
            </a:fld>
            <a:endParaRPr lang="en-US"/>
          </a:p>
        </p:txBody>
      </p:sp>
      <p:sp>
        <p:nvSpPr>
          <p:cNvPr id="6" name="Footer Placeholder 5">
            <a:extLst>
              <a:ext uri="{FF2B5EF4-FFF2-40B4-BE49-F238E27FC236}">
                <a16:creationId xmlns:a16="http://schemas.microsoft.com/office/drawing/2014/main" id="{7340501D-19F5-EE62-A290-8CE2901D0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C8186F-BEE1-9F55-F148-1C786901E59F}"/>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3449624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C83C-1D71-5364-1819-3883296CD4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DAA153-251B-2346-A4EF-2759302AC8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5C07CB-4048-0991-47FE-DAFAC5E28C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22E0A-D3C7-4BA8-AB50-26746F3BCE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1EBD51-5048-B7FA-761C-54277C0BDA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E39C0C-E6AC-01C5-1B69-705AD054FA4C}"/>
              </a:ext>
            </a:extLst>
          </p:cNvPr>
          <p:cNvSpPr>
            <a:spLocks noGrp="1"/>
          </p:cNvSpPr>
          <p:nvPr>
            <p:ph type="dt" sz="half" idx="10"/>
          </p:nvPr>
        </p:nvSpPr>
        <p:spPr/>
        <p:txBody>
          <a:bodyPr/>
          <a:lstStyle/>
          <a:p>
            <a:fld id="{A37059D7-55DF-4C29-866B-1B743CF6189C}" type="datetime1">
              <a:rPr lang="en-US" smtClean="0"/>
              <a:t>10/28/2025</a:t>
            </a:fld>
            <a:endParaRPr lang="en-US"/>
          </a:p>
        </p:txBody>
      </p:sp>
      <p:sp>
        <p:nvSpPr>
          <p:cNvPr id="8" name="Footer Placeholder 7">
            <a:extLst>
              <a:ext uri="{FF2B5EF4-FFF2-40B4-BE49-F238E27FC236}">
                <a16:creationId xmlns:a16="http://schemas.microsoft.com/office/drawing/2014/main" id="{6E1288B7-4C55-6721-DC1F-C8F15CA2F8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87F816-EB7E-F13B-3332-E14710D8DCE5}"/>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881638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5A0E-79D9-8B0E-FB6A-CE664324DB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2C41AD-57A4-3CF1-B3B4-EB978BABEC5C}"/>
              </a:ext>
            </a:extLst>
          </p:cNvPr>
          <p:cNvSpPr>
            <a:spLocks noGrp="1"/>
          </p:cNvSpPr>
          <p:nvPr>
            <p:ph type="dt" sz="half" idx="10"/>
          </p:nvPr>
        </p:nvSpPr>
        <p:spPr/>
        <p:txBody>
          <a:bodyPr/>
          <a:lstStyle/>
          <a:p>
            <a:fld id="{604E90EF-B3DC-44CF-81E3-F145E8B02A15}" type="datetime1">
              <a:rPr lang="en-US" smtClean="0"/>
              <a:t>10/28/2025</a:t>
            </a:fld>
            <a:endParaRPr lang="en-US"/>
          </a:p>
        </p:txBody>
      </p:sp>
      <p:sp>
        <p:nvSpPr>
          <p:cNvPr id="4" name="Footer Placeholder 3">
            <a:extLst>
              <a:ext uri="{FF2B5EF4-FFF2-40B4-BE49-F238E27FC236}">
                <a16:creationId xmlns:a16="http://schemas.microsoft.com/office/drawing/2014/main" id="{79E0FE66-F1B5-BD72-016D-3C810B2EF5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B88E7-BF02-E4A9-E626-85D17E132658}"/>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1950768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FA4AA0-3885-ACD2-5446-7A86FBE15509}"/>
              </a:ext>
            </a:extLst>
          </p:cNvPr>
          <p:cNvSpPr>
            <a:spLocks noGrp="1"/>
          </p:cNvSpPr>
          <p:nvPr>
            <p:ph type="dt" sz="half" idx="10"/>
          </p:nvPr>
        </p:nvSpPr>
        <p:spPr/>
        <p:txBody>
          <a:bodyPr/>
          <a:lstStyle/>
          <a:p>
            <a:fld id="{18D6CEE6-E0E0-4F99-B595-2DBB427A73F9}" type="datetime1">
              <a:rPr lang="en-US" smtClean="0"/>
              <a:t>10/28/2025</a:t>
            </a:fld>
            <a:endParaRPr lang="en-US"/>
          </a:p>
        </p:txBody>
      </p:sp>
      <p:sp>
        <p:nvSpPr>
          <p:cNvPr id="3" name="Footer Placeholder 2">
            <a:extLst>
              <a:ext uri="{FF2B5EF4-FFF2-40B4-BE49-F238E27FC236}">
                <a16:creationId xmlns:a16="http://schemas.microsoft.com/office/drawing/2014/main" id="{DCCDE980-35BE-751B-2DC0-4E0A0588D0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9AEB5A-E526-48ED-386C-4309637EF28F}"/>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43999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57D9-79AB-8A69-E43F-8739C435AE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6942AE-6F4F-BDB2-C559-85D2C46866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92F8E4-C526-50A3-EAC4-66B46282E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3BA93D-3743-1EA3-7C88-BD6F33FA88C9}"/>
              </a:ext>
            </a:extLst>
          </p:cNvPr>
          <p:cNvSpPr>
            <a:spLocks noGrp="1"/>
          </p:cNvSpPr>
          <p:nvPr>
            <p:ph type="dt" sz="half" idx="10"/>
          </p:nvPr>
        </p:nvSpPr>
        <p:spPr/>
        <p:txBody>
          <a:bodyPr/>
          <a:lstStyle/>
          <a:p>
            <a:fld id="{0F0A4083-AF8C-4555-A46F-F11A56C818C4}" type="datetime1">
              <a:rPr lang="en-US" smtClean="0"/>
              <a:t>10/28/2025</a:t>
            </a:fld>
            <a:endParaRPr lang="en-US"/>
          </a:p>
        </p:txBody>
      </p:sp>
      <p:sp>
        <p:nvSpPr>
          <p:cNvPr id="6" name="Footer Placeholder 5">
            <a:extLst>
              <a:ext uri="{FF2B5EF4-FFF2-40B4-BE49-F238E27FC236}">
                <a16:creationId xmlns:a16="http://schemas.microsoft.com/office/drawing/2014/main" id="{16D1C1F2-7D73-2270-CBC1-A624BB6B49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B7FAF8-21EE-FFF9-EBA4-3A7CC8D4B21A}"/>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788463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5317-3C45-331F-B39A-22D40BC08E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E8A456-75D1-AA8E-47F5-F7FEDC35C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E697D4-C64A-0EAD-AE11-9176D7C99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B32936-EADC-7628-11BF-B46D21DB4665}"/>
              </a:ext>
            </a:extLst>
          </p:cNvPr>
          <p:cNvSpPr>
            <a:spLocks noGrp="1"/>
          </p:cNvSpPr>
          <p:nvPr>
            <p:ph type="dt" sz="half" idx="10"/>
          </p:nvPr>
        </p:nvSpPr>
        <p:spPr/>
        <p:txBody>
          <a:bodyPr/>
          <a:lstStyle/>
          <a:p>
            <a:fld id="{ACF4FFDC-C868-4210-89C1-22029D2B0444}" type="datetime1">
              <a:rPr lang="en-US" smtClean="0"/>
              <a:t>10/28/2025</a:t>
            </a:fld>
            <a:endParaRPr lang="en-US"/>
          </a:p>
        </p:txBody>
      </p:sp>
      <p:sp>
        <p:nvSpPr>
          <p:cNvPr id="6" name="Footer Placeholder 5">
            <a:extLst>
              <a:ext uri="{FF2B5EF4-FFF2-40B4-BE49-F238E27FC236}">
                <a16:creationId xmlns:a16="http://schemas.microsoft.com/office/drawing/2014/main" id="{110DB169-03B5-AE01-1D40-EB7B3139C5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2A7856-48D9-E5F3-3234-B65ED81CAD2B}"/>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1387926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F010A-83A8-ADC8-9EAC-1700F320B0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637DBC-8DD8-22B4-0CE4-BEC08AB67A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ED17A-B80F-DD79-C66E-A8A3C0435828}"/>
              </a:ext>
            </a:extLst>
          </p:cNvPr>
          <p:cNvSpPr>
            <a:spLocks noGrp="1"/>
          </p:cNvSpPr>
          <p:nvPr>
            <p:ph type="dt" sz="half" idx="10"/>
          </p:nvPr>
        </p:nvSpPr>
        <p:spPr/>
        <p:txBody>
          <a:bodyPr/>
          <a:lstStyle/>
          <a:p>
            <a:fld id="{AFF37E4D-04A7-41BD-85CA-F9B8B4A3C8F7}" type="datetime1">
              <a:rPr lang="en-US" smtClean="0"/>
              <a:t>10/28/2025</a:t>
            </a:fld>
            <a:endParaRPr lang="en-US"/>
          </a:p>
        </p:txBody>
      </p:sp>
      <p:sp>
        <p:nvSpPr>
          <p:cNvPr id="5" name="Footer Placeholder 4">
            <a:extLst>
              <a:ext uri="{FF2B5EF4-FFF2-40B4-BE49-F238E27FC236}">
                <a16:creationId xmlns:a16="http://schemas.microsoft.com/office/drawing/2014/main" id="{5F09BACC-F3EB-BF9B-FE6E-CEA09904D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F5377-DC5D-265A-C08A-350A6E605D08}"/>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684295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DDB95-07EC-3842-E678-62C6CD37B6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08EE16-47C0-F36B-266A-1B0715982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8DA3F-210A-F046-69DD-C09B7B743980}"/>
              </a:ext>
            </a:extLst>
          </p:cNvPr>
          <p:cNvSpPr>
            <a:spLocks noGrp="1"/>
          </p:cNvSpPr>
          <p:nvPr>
            <p:ph type="dt" sz="half" idx="10"/>
          </p:nvPr>
        </p:nvSpPr>
        <p:spPr/>
        <p:txBody>
          <a:bodyPr/>
          <a:lstStyle/>
          <a:p>
            <a:fld id="{E06BC7E2-3147-4196-AC4F-7B86331CD657}" type="datetime1">
              <a:rPr lang="en-US" smtClean="0"/>
              <a:t>10/28/2025</a:t>
            </a:fld>
            <a:endParaRPr lang="en-US"/>
          </a:p>
        </p:txBody>
      </p:sp>
      <p:sp>
        <p:nvSpPr>
          <p:cNvPr id="5" name="Footer Placeholder 4">
            <a:extLst>
              <a:ext uri="{FF2B5EF4-FFF2-40B4-BE49-F238E27FC236}">
                <a16:creationId xmlns:a16="http://schemas.microsoft.com/office/drawing/2014/main" id="{8BF81B65-909A-18ED-DF37-10109313D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9BC80-12FC-C084-3763-B6F1AC6F983E}"/>
              </a:ext>
            </a:extLst>
          </p:cNvPr>
          <p:cNvSpPr>
            <a:spLocks noGrp="1"/>
          </p:cNvSpPr>
          <p:nvPr>
            <p:ph type="sldNum" sz="quarter" idx="12"/>
          </p:nvPr>
        </p:nvSpPr>
        <p:spPr/>
        <p:txBody>
          <a:bodyPr/>
          <a:lstStyle/>
          <a:p>
            <a:fld id="{27698F7A-D9AE-4498-B063-4ED69550A214}" type="slidenum">
              <a:rPr lang="en-US" smtClean="0"/>
              <a:t>‹#›</a:t>
            </a:fld>
            <a:endParaRPr lang="en-US"/>
          </a:p>
        </p:txBody>
      </p:sp>
    </p:spTree>
    <p:extLst>
      <p:ext uri="{BB962C8B-B14F-4D97-AF65-F5344CB8AC3E}">
        <p14:creationId xmlns:p14="http://schemas.microsoft.com/office/powerpoint/2010/main" val="49423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352D41-3862-382A-5A07-2C944F427D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93DFFC-C4EB-1974-06E5-606A9C512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CB43B-4927-5F22-133E-1337D77B1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DC49C2-7C3F-4A45-809F-B5B6E58EEE9E}" type="datetime1">
              <a:rPr lang="en-US" smtClean="0"/>
              <a:t>10/28/2025</a:t>
            </a:fld>
            <a:endParaRPr lang="en-US"/>
          </a:p>
        </p:txBody>
      </p:sp>
      <p:sp>
        <p:nvSpPr>
          <p:cNvPr id="5" name="Footer Placeholder 4">
            <a:extLst>
              <a:ext uri="{FF2B5EF4-FFF2-40B4-BE49-F238E27FC236}">
                <a16:creationId xmlns:a16="http://schemas.microsoft.com/office/drawing/2014/main" id="{26264D14-7ED9-212E-A143-F9E53C2432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9716782-43BA-A440-80D2-4F2F891F8A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698F7A-D9AE-4498-B063-4ED69550A214}" type="slidenum">
              <a:rPr lang="en-US" smtClean="0"/>
              <a:t>‹#›</a:t>
            </a:fld>
            <a:endParaRPr lang="en-US"/>
          </a:p>
        </p:txBody>
      </p:sp>
    </p:spTree>
    <p:extLst>
      <p:ext uri="{BB962C8B-B14F-4D97-AF65-F5344CB8AC3E}">
        <p14:creationId xmlns:p14="http://schemas.microsoft.com/office/powerpoint/2010/main" val="3137293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www.agripunjab.gov.p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hyperlink" Target="https://ers.usda.gov/sites/default/files/_laserfiche/outlooks/111379/RCS-25C.pdf?v=34269&amp;utm_source=chatgpt.com" TargetMode="External"/><Relationship Id="rId3" Type="http://schemas.openxmlformats.org/officeDocument/2006/relationships/image" Target="../media/image2.png"/><Relationship Id="rId7" Type="http://schemas.openxmlformats.org/officeDocument/2006/relationships/hyperlink" Target="https://www.graincentral.com/markets/bearish-wheat-outlook-from-the-usda/?utm_source=chatgpt.com"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www.feedandgrain.com/business-markets/commodities/news/15746098/usda-projects-record-us-corn-crop-higher-exports-for-202526?utm_source=chatgpt.com" TargetMode="External"/><Relationship Id="rId5" Type="http://schemas.openxmlformats.org/officeDocument/2006/relationships/hyperlink" Target="https://www.lsuagcenter.com/~/media/system/2/7/5/3/275377358e238811fe47f1b0c7c82f9b/january%202025%20crop%20market%20update%20pdf.pdf?utm_source=chatgpt.com" TargetMode="External"/><Relationship Id="rId10" Type="http://schemas.openxmlformats.org/officeDocument/2006/relationships/image" Target="../media/image5.png"/><Relationship Id="rId4" Type="http://schemas.openxmlformats.org/officeDocument/2006/relationships/hyperlink" Target="https://downloads.usda.library.cornell.edu/usda-esmis/files/cz30ps64c/3j335078p/6t055d635/WHS-25e.pdf?utm_source=chatgpt.com" TargetMode="External"/><Relationship Id="rId9" Type="http://schemas.openxmlformats.org/officeDocument/2006/relationships/hyperlink" Target="https://www.usda.gov/oce/commodity/wasde/wasde0525v2.pdf?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E6E836-F7DC-0DDE-54FC-470EC6EFD861}"/>
              </a:ext>
            </a:extLst>
          </p:cNvPr>
          <p:cNvSpPr txBox="1"/>
          <p:nvPr/>
        </p:nvSpPr>
        <p:spPr>
          <a:xfrm>
            <a:off x="1371431" y="1701593"/>
            <a:ext cx="9449138" cy="1569660"/>
          </a:xfrm>
          <a:prstGeom prst="rect">
            <a:avLst/>
          </a:prstGeom>
          <a:noFill/>
        </p:spPr>
        <p:txBody>
          <a:bodyPr wrap="square" rtlCol="0">
            <a:spAutoFit/>
          </a:bodyPr>
          <a:lstStyle/>
          <a:p>
            <a:pPr algn="ctr"/>
            <a:r>
              <a:rPr lang="en-US" sz="3200" b="1" dirty="0">
                <a:solidFill>
                  <a:srgbClr val="222222"/>
                </a:solidFill>
                <a:latin typeface="Arial" panose="020B0604020202020204" pitchFamily="34" charset="0"/>
              </a:rPr>
              <a:t>Optimizing Agricultural Resource Allocation through Reinforcement Learning: A Cost-Driven Approach to Crop Efficiency Enhancement</a:t>
            </a:r>
            <a:endParaRPr lang="en-US" sz="32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24D7FF9-20F0-3FA4-202B-FBFB5A08D099}"/>
              </a:ext>
            </a:extLst>
          </p:cNvPr>
          <p:cNvSpPr txBox="1"/>
          <p:nvPr/>
        </p:nvSpPr>
        <p:spPr>
          <a:xfrm>
            <a:off x="2368734" y="3608766"/>
            <a:ext cx="2343038" cy="1200329"/>
          </a:xfrm>
          <a:prstGeom prst="rect">
            <a:avLst/>
          </a:prstGeom>
          <a:noFill/>
        </p:spPr>
        <p:txBody>
          <a:bodyPr wrap="square" rtlCol="0">
            <a:spAutoFit/>
          </a:bodyPr>
          <a:lstStyle/>
          <a:p>
            <a:pPr algn="r"/>
            <a:r>
              <a:rPr lang="en-US" sz="2400" dirty="0">
                <a:latin typeface="Arial" panose="020B0604020202020204" pitchFamily="34" charset="0"/>
                <a:cs typeface="Arial" panose="020B0604020202020204" pitchFamily="34" charset="0"/>
              </a:rPr>
              <a:t>Haider Masood</a:t>
            </a:r>
          </a:p>
          <a:p>
            <a:pPr algn="r"/>
            <a:r>
              <a:rPr lang="en-US" sz="2400" dirty="0">
                <a:latin typeface="Arial" panose="020B0604020202020204" pitchFamily="34" charset="0"/>
                <a:cs typeface="Arial" panose="020B0604020202020204" pitchFamily="34" charset="0"/>
              </a:rPr>
              <a:t>401636</a:t>
            </a:r>
          </a:p>
          <a:p>
            <a:pPr algn="r"/>
            <a:r>
              <a:rPr lang="en-US" sz="2400" dirty="0">
                <a:latin typeface="Arial" panose="020B0604020202020204" pitchFamily="34" charset="0"/>
                <a:cs typeface="Arial" panose="020B0604020202020204" pitchFamily="34" charset="0"/>
              </a:rPr>
              <a:t>MS-AI 2k22</a:t>
            </a:r>
          </a:p>
        </p:txBody>
      </p:sp>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cxnSp>
        <p:nvCxnSpPr>
          <p:cNvPr id="10" name="Straight Connector 9">
            <a:extLst>
              <a:ext uri="{FF2B5EF4-FFF2-40B4-BE49-F238E27FC236}">
                <a16:creationId xmlns:a16="http://schemas.microsoft.com/office/drawing/2014/main" id="{F03EB3B2-ED12-B4D6-0146-031516F9B910}"/>
              </a:ext>
            </a:extLst>
          </p:cNvPr>
          <p:cNvCxnSpPr>
            <a:cxnSpLocks/>
          </p:cNvCxnSpPr>
          <p:nvPr/>
        </p:nvCxnSpPr>
        <p:spPr>
          <a:xfrm>
            <a:off x="5081451" y="3339721"/>
            <a:ext cx="0" cy="1738418"/>
          </a:xfrm>
          <a:prstGeom prst="line">
            <a:avLst/>
          </a:prstGeom>
          <a:ln w="28575"/>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D375623-1CDD-DD24-E2A6-5443A21B5853}"/>
              </a:ext>
            </a:extLst>
          </p:cNvPr>
          <p:cNvSpPr txBox="1"/>
          <p:nvPr/>
        </p:nvSpPr>
        <p:spPr>
          <a:xfrm>
            <a:off x="5477257" y="3424101"/>
            <a:ext cx="4346009"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Dr. Zuhair Zafar</a:t>
            </a:r>
          </a:p>
          <a:p>
            <a:r>
              <a:rPr lang="en-US" sz="2400" dirty="0">
                <a:latin typeface="Arial" panose="020B0604020202020204" pitchFamily="34" charset="0"/>
                <a:cs typeface="Arial" panose="020B0604020202020204" pitchFamily="34" charset="0"/>
              </a:rPr>
              <a:t>Dr. Muhammad Moazam Fraz</a:t>
            </a:r>
          </a:p>
          <a:p>
            <a:r>
              <a:rPr lang="en-US" sz="2400" dirty="0">
                <a:latin typeface="Arial" panose="020B0604020202020204" pitchFamily="34" charset="0"/>
                <a:cs typeface="Arial" panose="020B0604020202020204" pitchFamily="34" charset="0"/>
              </a:rPr>
              <a:t>Dr. Fahad Ahmed </a:t>
            </a:r>
            <a:r>
              <a:rPr lang="en-US" sz="2400" dirty="0" err="1">
                <a:latin typeface="Arial" panose="020B0604020202020204" pitchFamily="34" charset="0"/>
                <a:cs typeface="Arial" panose="020B0604020202020204" pitchFamily="34" charset="0"/>
              </a:rPr>
              <a:t>Satti</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Dr. Syed Imran Ali</a:t>
            </a:r>
          </a:p>
        </p:txBody>
      </p:sp>
      <p:sp>
        <p:nvSpPr>
          <p:cNvPr id="17" name="TextBox 16">
            <a:extLst>
              <a:ext uri="{FF2B5EF4-FFF2-40B4-BE49-F238E27FC236}">
                <a16:creationId xmlns:a16="http://schemas.microsoft.com/office/drawing/2014/main" id="{603B27B6-9C74-D5DE-80DC-5640E4E1B728}"/>
              </a:ext>
            </a:extLst>
          </p:cNvPr>
          <p:cNvSpPr txBox="1"/>
          <p:nvPr/>
        </p:nvSpPr>
        <p:spPr>
          <a:xfrm>
            <a:off x="3011046" y="5641328"/>
            <a:ext cx="4140810" cy="400110"/>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28</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OCTOBER 2025</a:t>
            </a:r>
          </a:p>
        </p:txBody>
      </p:sp>
      <p:sp>
        <p:nvSpPr>
          <p:cNvPr id="7" name="Slide Number Placeholder 6">
            <a:extLst>
              <a:ext uri="{FF2B5EF4-FFF2-40B4-BE49-F238E27FC236}">
                <a16:creationId xmlns:a16="http://schemas.microsoft.com/office/drawing/2014/main" id="{DBD931DB-72B3-A67A-16B3-DC640FEF3C61}"/>
              </a:ext>
            </a:extLst>
          </p:cNvPr>
          <p:cNvSpPr>
            <a:spLocks noGrp="1"/>
          </p:cNvSpPr>
          <p:nvPr>
            <p:ph type="sldNum" sz="quarter" idx="12"/>
          </p:nvPr>
        </p:nvSpPr>
        <p:spPr/>
        <p:txBody>
          <a:bodyPr/>
          <a:lstStyle/>
          <a:p>
            <a:fld id="{27698F7A-D9AE-4498-B063-4ED69550A214}" type="slidenum">
              <a:rPr lang="en-US" smtClean="0"/>
              <a:t>1</a:t>
            </a:fld>
            <a:endParaRPr lang="en-US"/>
          </a:p>
        </p:txBody>
      </p:sp>
    </p:spTree>
    <p:extLst>
      <p:ext uri="{BB962C8B-B14F-4D97-AF65-F5344CB8AC3E}">
        <p14:creationId xmlns:p14="http://schemas.microsoft.com/office/powerpoint/2010/main" val="42461870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13" name="TextBox 12">
            <a:extLst>
              <a:ext uri="{FF2B5EF4-FFF2-40B4-BE49-F238E27FC236}">
                <a16:creationId xmlns:a16="http://schemas.microsoft.com/office/drawing/2014/main" id="{4D375623-1CDD-DD24-E2A6-5443A21B5853}"/>
              </a:ext>
            </a:extLst>
          </p:cNvPr>
          <p:cNvSpPr txBox="1"/>
          <p:nvPr/>
        </p:nvSpPr>
        <p:spPr>
          <a:xfrm>
            <a:off x="1506036" y="1923309"/>
            <a:ext cx="3904516" cy="3732560"/>
          </a:xfrm>
          <a:prstGeom prst="rect">
            <a:avLst/>
          </a:prstGeom>
          <a:noFill/>
        </p:spPr>
        <p:txBody>
          <a:bodyPr wrap="square" rtlCol="0">
            <a:spAutoFit/>
          </a:bodyPr>
          <a:lstStyle/>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Introduction</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Motivation</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Literature Review</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Research Gaps</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Problem Statement</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Solution Statement</a:t>
            </a:r>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t>PRESENTATION OUTLINE</a:t>
            </a:r>
            <a:endParaRPr lang="en-PK" sz="3600" b="1" dirty="0"/>
          </a:p>
        </p:txBody>
      </p:sp>
      <p:sp>
        <p:nvSpPr>
          <p:cNvPr id="4" name="Slide Number Placeholder 3">
            <a:extLst>
              <a:ext uri="{FF2B5EF4-FFF2-40B4-BE49-F238E27FC236}">
                <a16:creationId xmlns:a16="http://schemas.microsoft.com/office/drawing/2014/main" id="{146EECCF-C5BD-950B-EAD2-6FEBA9B8469E}"/>
              </a:ext>
            </a:extLst>
          </p:cNvPr>
          <p:cNvSpPr>
            <a:spLocks noGrp="1"/>
          </p:cNvSpPr>
          <p:nvPr>
            <p:ph type="sldNum" sz="quarter" idx="12"/>
          </p:nvPr>
        </p:nvSpPr>
        <p:spPr/>
        <p:txBody>
          <a:bodyPr/>
          <a:lstStyle/>
          <a:p>
            <a:fld id="{27698F7A-D9AE-4498-B063-4ED69550A214}" type="slidenum">
              <a:rPr lang="en-US" smtClean="0"/>
              <a:t>2</a:t>
            </a:fld>
            <a:endParaRPr lang="en-US"/>
          </a:p>
        </p:txBody>
      </p:sp>
      <p:sp>
        <p:nvSpPr>
          <p:cNvPr id="3" name="Rectangle 2">
            <a:extLst>
              <a:ext uri="{FF2B5EF4-FFF2-40B4-BE49-F238E27FC236}">
                <a16:creationId xmlns:a16="http://schemas.microsoft.com/office/drawing/2014/main" id="{A3E311DA-4F6B-49E3-B51F-1757179C8579}"/>
              </a:ext>
            </a:extLst>
          </p:cNvPr>
          <p:cNvSpPr/>
          <p:nvPr/>
        </p:nvSpPr>
        <p:spPr>
          <a:xfrm>
            <a:off x="6781450" y="1923309"/>
            <a:ext cx="3651529" cy="2393732"/>
          </a:xfrm>
          <a:prstGeom prst="rect">
            <a:avLst/>
          </a:prstGeom>
        </p:spPr>
        <p:txBody>
          <a:bodyPr wrap="square">
            <a:spAutoFit/>
          </a:bodyPr>
          <a:lstStyle/>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Research Objectives</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Approach / Methodology</a:t>
            </a:r>
          </a:p>
          <a:p>
            <a:pPr marL="342000" indent="-342900">
              <a:lnSpc>
                <a:spcPct val="150000"/>
              </a:lnSpc>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Proposed Timeline</a:t>
            </a:r>
          </a:p>
        </p:txBody>
      </p:sp>
    </p:spTree>
    <p:extLst>
      <p:ext uri="{BB962C8B-B14F-4D97-AF65-F5344CB8AC3E}">
        <p14:creationId xmlns:p14="http://schemas.microsoft.com/office/powerpoint/2010/main" val="27710061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2921168"/>
            <a:ext cx="6562779" cy="1015663"/>
          </a:xfrm>
          <a:prstGeom prst="rect">
            <a:avLst/>
          </a:prstGeom>
          <a:noFill/>
        </p:spPr>
        <p:txBody>
          <a:bodyPr wrap="square" rtlCol="0">
            <a:spAutoFit/>
          </a:bodyPr>
          <a:lstStyle/>
          <a:p>
            <a:pPr algn="ctr"/>
            <a:r>
              <a:rPr lang="en-US" sz="6000" b="1" dirty="0"/>
              <a:t>INTRODUCTION</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3</a:t>
            </a:fld>
            <a:endParaRPr lang="en-US"/>
          </a:p>
        </p:txBody>
      </p:sp>
    </p:spTree>
    <p:extLst>
      <p:ext uri="{BB962C8B-B14F-4D97-AF65-F5344CB8AC3E}">
        <p14:creationId xmlns:p14="http://schemas.microsoft.com/office/powerpoint/2010/main" val="5642427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INTRODUCTION</a:t>
            </a:r>
            <a:endParaRPr lang="en-PK" sz="3600" b="1" dirty="0">
              <a:latin typeface="Arial" panose="020B0604020202020204" pitchFamily="34" charset="0"/>
              <a:cs typeface="Arial" panose="020B0604020202020204" pitchFamily="34" charset="0"/>
            </a:endParaRPr>
          </a:p>
        </p:txBody>
      </p:sp>
      <p:sp>
        <p:nvSpPr>
          <p:cNvPr id="88" name="TextBox 6">
            <a:extLst>
              <a:ext uri="{FF2B5EF4-FFF2-40B4-BE49-F238E27FC236}">
                <a16:creationId xmlns:a16="http://schemas.microsoft.com/office/drawing/2014/main" id="{3C4E482A-3609-6653-91D9-ECF53AA3164B}"/>
              </a:ext>
            </a:extLst>
          </p:cNvPr>
          <p:cNvSpPr txBox="1"/>
          <p:nvPr/>
        </p:nvSpPr>
        <p:spPr>
          <a:xfrm>
            <a:off x="3632296" y="1169970"/>
            <a:ext cx="4927405"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PAKISTAN AN AGRICULTURAL NATION</a:t>
            </a: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4</a:t>
            </a:fld>
            <a:endParaRPr lang="en-US"/>
          </a:p>
        </p:txBody>
      </p:sp>
      <p:sp>
        <p:nvSpPr>
          <p:cNvPr id="8" name="Rectangle 7">
            <a:extLst>
              <a:ext uri="{FF2B5EF4-FFF2-40B4-BE49-F238E27FC236}">
                <a16:creationId xmlns:a16="http://schemas.microsoft.com/office/drawing/2014/main" id="{114774FD-3BEE-44DE-B67D-8980CE458A6E}"/>
              </a:ext>
            </a:extLst>
          </p:cNvPr>
          <p:cNvSpPr/>
          <p:nvPr/>
        </p:nvSpPr>
        <p:spPr>
          <a:xfrm>
            <a:off x="896594" y="1957218"/>
            <a:ext cx="4169796" cy="2943563"/>
          </a:xfrm>
          <a:prstGeom prst="rect">
            <a:avLst/>
          </a:prstGeom>
        </p:spPr>
        <p:txBody>
          <a:bodyPr wrap="none">
            <a:spAutoFit/>
          </a:bodyPr>
          <a:lstStyle/>
          <a:p>
            <a:pPr marL="285750" indent="-285750">
              <a:lnSpc>
                <a:spcPct val="200000"/>
              </a:lnSpc>
              <a:buFont typeface="Arial" panose="020B0604020202020204" pitchFamily="34" charset="0"/>
              <a:buChar char="•"/>
            </a:pPr>
            <a:r>
              <a:rPr lang="en-US" sz="2400" dirty="0"/>
              <a:t>~22% of GDP.</a:t>
            </a:r>
          </a:p>
          <a:p>
            <a:pPr marL="285750" indent="-285750">
              <a:lnSpc>
                <a:spcPct val="200000"/>
              </a:lnSpc>
              <a:buFont typeface="Arial" panose="020B0604020202020204" pitchFamily="34" charset="0"/>
              <a:buChar char="•"/>
            </a:pPr>
            <a:r>
              <a:rPr lang="en-US" sz="2400" dirty="0"/>
              <a:t>Major irrigated area</a:t>
            </a:r>
          </a:p>
          <a:p>
            <a:pPr marL="285750" indent="-285750">
              <a:lnSpc>
                <a:spcPct val="200000"/>
              </a:lnSpc>
              <a:buFont typeface="Arial" panose="020B0604020202020204" pitchFamily="34" charset="0"/>
              <a:buChar char="•"/>
            </a:pPr>
            <a:r>
              <a:rPr lang="en-US" sz="2400" dirty="0"/>
              <a:t>Exports share (rice, cotton) </a:t>
            </a:r>
          </a:p>
          <a:p>
            <a:pPr marL="285750" indent="-285750">
              <a:lnSpc>
                <a:spcPct val="200000"/>
              </a:lnSpc>
              <a:buFont typeface="Arial" panose="020B0604020202020204" pitchFamily="34" charset="0"/>
              <a:buChar char="•"/>
            </a:pPr>
            <a:r>
              <a:rPr lang="en-US" sz="2400" dirty="0"/>
              <a:t>Employs 36.1% of labor force</a:t>
            </a:r>
            <a:endParaRPr lang="en-PK" sz="2400" dirty="0"/>
          </a:p>
        </p:txBody>
      </p:sp>
      <p:sp>
        <p:nvSpPr>
          <p:cNvPr id="11" name="Rectangle 10">
            <a:extLst>
              <a:ext uri="{FF2B5EF4-FFF2-40B4-BE49-F238E27FC236}">
                <a16:creationId xmlns:a16="http://schemas.microsoft.com/office/drawing/2014/main" id="{C637CA75-926B-4F14-9326-44CEC4549A98}"/>
              </a:ext>
            </a:extLst>
          </p:cNvPr>
          <p:cNvSpPr/>
          <p:nvPr/>
        </p:nvSpPr>
        <p:spPr>
          <a:xfrm>
            <a:off x="197343" y="6425813"/>
            <a:ext cx="11772868" cy="276999"/>
          </a:xfrm>
          <a:prstGeom prst="rect">
            <a:avLst/>
          </a:prstGeom>
        </p:spPr>
        <p:txBody>
          <a:bodyPr wrap="square">
            <a:spAutoFit/>
          </a:bodyPr>
          <a:lstStyle/>
          <a:p>
            <a:r>
              <a:rPr lang="en-US" sz="1200" i="1" dirty="0">
                <a:latin typeface="Arial" panose="020B0604020202020204" pitchFamily="34" charset="0"/>
                <a:cs typeface="Arial" panose="020B0604020202020204" pitchFamily="34" charset="0"/>
                <a:hlinkClick r:id="rId4"/>
              </a:rPr>
              <a:t>https://www.agripunjab.gov.pk</a:t>
            </a:r>
            <a:r>
              <a:rPr lang="en-US" sz="1200" i="1" dirty="0">
                <a:latin typeface="Arial" panose="020B0604020202020204" pitchFamily="34" charset="0"/>
                <a:cs typeface="Arial" panose="020B0604020202020204" pitchFamily="34" charset="0"/>
              </a:rPr>
              <a:t>                https://tradingeconomics.com/pakistan/employment-in-agriculture-percent-of-total-employment-wb-data.html</a:t>
            </a:r>
            <a:endParaRPr lang="en-PK" sz="1200" i="1" dirty="0">
              <a:latin typeface="Arial" panose="020B0604020202020204" pitchFamily="34" charset="0"/>
              <a:cs typeface="Arial" panose="020B0604020202020204" pitchFamily="34" charset="0"/>
            </a:endParaRPr>
          </a:p>
        </p:txBody>
      </p:sp>
      <p:pic>
        <p:nvPicPr>
          <p:cNvPr id="1026" name="Picture 2" descr="Generated image">
            <a:extLst>
              <a:ext uri="{FF2B5EF4-FFF2-40B4-BE49-F238E27FC236}">
                <a16:creationId xmlns:a16="http://schemas.microsoft.com/office/drawing/2014/main" id="{1AA47B52-C241-4F23-86FD-535AB518B2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2395" y="1802200"/>
            <a:ext cx="6218015" cy="4145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24620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INTRODUCTION</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5</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3459331" y="1222841"/>
            <a:ext cx="5273336"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Global Agricultural Production Comparison</a:t>
            </a:r>
          </a:p>
        </p:txBody>
      </p:sp>
      <p:sp>
        <p:nvSpPr>
          <p:cNvPr id="14" name="Rectangle 13">
            <a:extLst>
              <a:ext uri="{FF2B5EF4-FFF2-40B4-BE49-F238E27FC236}">
                <a16:creationId xmlns:a16="http://schemas.microsoft.com/office/drawing/2014/main" id="{47F198F8-69BE-4D6E-81C4-CE4112559A15}"/>
              </a:ext>
            </a:extLst>
          </p:cNvPr>
          <p:cNvSpPr/>
          <p:nvPr/>
        </p:nvSpPr>
        <p:spPr>
          <a:xfrm>
            <a:off x="536402" y="2173970"/>
            <a:ext cx="6673878" cy="400110"/>
          </a:xfrm>
          <a:prstGeom prst="rect">
            <a:avLst/>
          </a:prstGeom>
        </p:spPr>
        <p:txBody>
          <a:bodyPr wrap="none">
            <a:spAutoFit/>
          </a:bodyPr>
          <a:lstStyle/>
          <a:p>
            <a:r>
              <a:rPr lang="en-US" sz="2000" dirty="0">
                <a:latin typeface="+mj-lt"/>
              </a:rPr>
              <a:t>Pakistan's Agricultural Performance vs. Global Standards</a:t>
            </a:r>
            <a:endParaRPr lang="en-PK" sz="2000" dirty="0">
              <a:latin typeface="+mj-lt"/>
            </a:endParaRPr>
          </a:p>
        </p:txBody>
      </p:sp>
      <p:graphicFrame>
        <p:nvGraphicFramePr>
          <p:cNvPr id="15" name="Table 14">
            <a:extLst>
              <a:ext uri="{FF2B5EF4-FFF2-40B4-BE49-F238E27FC236}">
                <a16:creationId xmlns:a16="http://schemas.microsoft.com/office/drawing/2014/main" id="{48778AB7-C532-4C00-8B34-4BEF4B54CD65}"/>
              </a:ext>
            </a:extLst>
          </p:cNvPr>
          <p:cNvGraphicFramePr>
            <a:graphicFrameLocks noGrp="1"/>
          </p:cNvGraphicFramePr>
          <p:nvPr>
            <p:extLst>
              <p:ext uri="{D42A27DB-BD31-4B8C-83A1-F6EECF244321}">
                <p14:modId xmlns:p14="http://schemas.microsoft.com/office/powerpoint/2010/main" val="512191561"/>
              </p:ext>
            </p:extLst>
          </p:nvPr>
        </p:nvGraphicFramePr>
        <p:xfrm>
          <a:off x="337351" y="2737992"/>
          <a:ext cx="5552884" cy="2874054"/>
        </p:xfrm>
        <a:graphic>
          <a:graphicData uri="http://schemas.openxmlformats.org/drawingml/2006/table">
            <a:tbl>
              <a:tblPr firstRow="1" bandRow="1">
                <a:tableStyleId>{5C22544A-7EE6-4342-B048-85BDC9FD1C3A}</a:tableStyleId>
              </a:tblPr>
              <a:tblGrid>
                <a:gridCol w="1388221">
                  <a:extLst>
                    <a:ext uri="{9D8B030D-6E8A-4147-A177-3AD203B41FA5}">
                      <a16:colId xmlns:a16="http://schemas.microsoft.com/office/drawing/2014/main" val="3487172933"/>
                    </a:ext>
                  </a:extLst>
                </a:gridCol>
                <a:gridCol w="1388221">
                  <a:extLst>
                    <a:ext uri="{9D8B030D-6E8A-4147-A177-3AD203B41FA5}">
                      <a16:colId xmlns:a16="http://schemas.microsoft.com/office/drawing/2014/main" val="4091379567"/>
                    </a:ext>
                  </a:extLst>
                </a:gridCol>
                <a:gridCol w="1388221">
                  <a:extLst>
                    <a:ext uri="{9D8B030D-6E8A-4147-A177-3AD203B41FA5}">
                      <a16:colId xmlns:a16="http://schemas.microsoft.com/office/drawing/2014/main" val="3512400805"/>
                    </a:ext>
                  </a:extLst>
                </a:gridCol>
                <a:gridCol w="1388221">
                  <a:extLst>
                    <a:ext uri="{9D8B030D-6E8A-4147-A177-3AD203B41FA5}">
                      <a16:colId xmlns:a16="http://schemas.microsoft.com/office/drawing/2014/main" val="2107737705"/>
                    </a:ext>
                  </a:extLst>
                </a:gridCol>
              </a:tblGrid>
              <a:tr h="638291">
                <a:tc>
                  <a:txBody>
                    <a:bodyPr/>
                    <a:lstStyle/>
                    <a:p>
                      <a:pPr algn="ctr" fontAlgn="ctr"/>
                      <a:r>
                        <a:rPr lang="en-US" sz="2000" b="0" i="0" u="none" strike="noStrike" dirty="0">
                          <a:solidFill>
                            <a:schemeClr val="bg1"/>
                          </a:solidFill>
                          <a:effectLst/>
                          <a:latin typeface="Calibri" panose="020F0502020204030204" pitchFamily="34" charset="0"/>
                        </a:rPr>
                        <a:t>Country</a:t>
                      </a:r>
                    </a:p>
                  </a:txBody>
                  <a:tcPr marL="9525" marR="9525" marT="9525" marB="0" anchor="ctr"/>
                </a:tc>
                <a:tc>
                  <a:txBody>
                    <a:bodyPr/>
                    <a:lstStyle/>
                    <a:p>
                      <a:pPr algn="ctr" fontAlgn="ctr"/>
                      <a:r>
                        <a:rPr lang="en-US" sz="2000" b="0" i="0" u="none" strike="noStrike" dirty="0">
                          <a:solidFill>
                            <a:schemeClr val="bg1"/>
                          </a:solidFill>
                          <a:effectLst/>
                          <a:latin typeface="Calibri" panose="020F0502020204030204" pitchFamily="34" charset="0"/>
                        </a:rPr>
                        <a:t>Wheat Yield (tons/ha)</a:t>
                      </a:r>
                    </a:p>
                  </a:txBody>
                  <a:tcPr marL="9525" marR="9525" marT="9525" marB="0" anchor="ctr"/>
                </a:tc>
                <a:tc>
                  <a:txBody>
                    <a:bodyPr/>
                    <a:lstStyle/>
                    <a:p>
                      <a:pPr algn="ctr" fontAlgn="ctr"/>
                      <a:r>
                        <a:rPr lang="en-US" sz="2000" b="0" i="0" u="none" strike="noStrike" dirty="0">
                          <a:solidFill>
                            <a:schemeClr val="bg1"/>
                          </a:solidFill>
                          <a:effectLst/>
                          <a:latin typeface="Calibri" panose="020F0502020204030204" pitchFamily="34" charset="0"/>
                        </a:rPr>
                        <a:t>Rice Yield (tons/ha)</a:t>
                      </a:r>
                    </a:p>
                  </a:txBody>
                  <a:tcPr marL="9525" marR="9525" marT="9525" marB="0" anchor="ctr"/>
                </a:tc>
                <a:tc>
                  <a:txBody>
                    <a:bodyPr/>
                    <a:lstStyle/>
                    <a:p>
                      <a:pPr algn="ctr" fontAlgn="ctr"/>
                      <a:r>
                        <a:rPr lang="en-US" sz="2000" b="0" i="0" u="none" strike="noStrike" dirty="0">
                          <a:solidFill>
                            <a:schemeClr val="bg1"/>
                          </a:solidFill>
                          <a:effectLst/>
                          <a:latin typeface="Calibri" panose="020F0502020204030204" pitchFamily="34" charset="0"/>
                        </a:rPr>
                        <a:t>Maize Yield (tons/ha)</a:t>
                      </a:r>
                    </a:p>
                  </a:txBody>
                  <a:tcPr marL="9525" marR="9525" marT="9525" marB="0" anchor="ctr"/>
                </a:tc>
                <a:extLst>
                  <a:ext uri="{0D108BD9-81ED-4DB2-BD59-A6C34878D82A}">
                    <a16:rowId xmlns:a16="http://schemas.microsoft.com/office/drawing/2014/main" val="205022587"/>
                  </a:ext>
                </a:extLst>
              </a:tr>
              <a:tr h="399368">
                <a:tc>
                  <a:txBody>
                    <a:bodyPr/>
                    <a:lstStyle/>
                    <a:p>
                      <a:pPr algn="ctr" fontAlgn="ctr"/>
                      <a:r>
                        <a:rPr lang="en-US" sz="1800" b="0" i="0" u="none" strike="noStrike" dirty="0">
                          <a:solidFill>
                            <a:srgbClr val="000000"/>
                          </a:solidFill>
                          <a:effectLst/>
                          <a:latin typeface="Calibri" panose="020F0502020204030204" pitchFamily="34" charset="0"/>
                        </a:rPr>
                        <a:t>Pakistan</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2.8</a:t>
                      </a:r>
                    </a:p>
                  </a:txBody>
                  <a:tcPr marL="9525" marR="9525" marT="9525" marB="0" anchor="ctr"/>
                </a:tc>
                <a:tc>
                  <a:txBody>
                    <a:bodyPr/>
                    <a:lstStyle/>
                    <a:p>
                      <a:pPr algn="ctr" fontAlgn="ctr"/>
                      <a:r>
                        <a:rPr lang="en-PK" sz="1800" b="0" i="0" u="none" strike="noStrike">
                          <a:solidFill>
                            <a:srgbClr val="000000"/>
                          </a:solidFill>
                          <a:effectLst/>
                          <a:latin typeface="Calibri" panose="020F0502020204030204" pitchFamily="34" charset="0"/>
                        </a:rPr>
                        <a:t>3.6</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4.9</a:t>
                      </a:r>
                    </a:p>
                  </a:txBody>
                  <a:tcPr marL="9525" marR="9525" marT="9525" marB="0" anchor="ctr"/>
                </a:tc>
                <a:extLst>
                  <a:ext uri="{0D108BD9-81ED-4DB2-BD59-A6C34878D82A}">
                    <a16:rowId xmlns:a16="http://schemas.microsoft.com/office/drawing/2014/main" val="2083516104"/>
                  </a:ext>
                </a:extLst>
              </a:tr>
              <a:tr h="399368">
                <a:tc>
                  <a:txBody>
                    <a:bodyPr/>
                    <a:lstStyle/>
                    <a:p>
                      <a:pPr algn="ctr" fontAlgn="ctr"/>
                      <a:r>
                        <a:rPr lang="en-US" sz="1800" b="0" i="0" u="none" strike="noStrike" dirty="0">
                          <a:solidFill>
                            <a:srgbClr val="000000"/>
                          </a:solidFill>
                          <a:effectLst/>
                          <a:latin typeface="Calibri" panose="020F0502020204030204" pitchFamily="34" charset="0"/>
                        </a:rPr>
                        <a:t>China</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5.4</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7</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6.3</a:t>
                      </a:r>
                    </a:p>
                  </a:txBody>
                  <a:tcPr marL="9525" marR="9525" marT="9525" marB="0" anchor="ctr"/>
                </a:tc>
                <a:extLst>
                  <a:ext uri="{0D108BD9-81ED-4DB2-BD59-A6C34878D82A}">
                    <a16:rowId xmlns:a16="http://schemas.microsoft.com/office/drawing/2014/main" val="1209902495"/>
                  </a:ext>
                </a:extLst>
              </a:tr>
              <a:tr h="399368">
                <a:tc>
                  <a:txBody>
                    <a:bodyPr/>
                    <a:lstStyle/>
                    <a:p>
                      <a:pPr algn="ctr" fontAlgn="ctr"/>
                      <a:r>
                        <a:rPr lang="en-US" sz="1800" b="0" i="0" u="none" strike="noStrike">
                          <a:solidFill>
                            <a:srgbClr val="000000"/>
                          </a:solidFill>
                          <a:effectLst/>
                          <a:latin typeface="Calibri" panose="020F0502020204030204" pitchFamily="34" charset="0"/>
                        </a:rPr>
                        <a:t>India</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3.5</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4</a:t>
                      </a:r>
                    </a:p>
                  </a:txBody>
                  <a:tcPr marL="9525" marR="9525" marT="9525" marB="0" anchor="ctr"/>
                </a:tc>
                <a:tc>
                  <a:txBody>
                    <a:bodyPr/>
                    <a:lstStyle/>
                    <a:p>
                      <a:pPr algn="ctr" fontAlgn="ctr"/>
                      <a:r>
                        <a:rPr lang="en-PK" sz="1800" b="0" i="0" u="none" strike="noStrike">
                          <a:solidFill>
                            <a:srgbClr val="000000"/>
                          </a:solidFill>
                          <a:effectLst/>
                          <a:latin typeface="Calibri" panose="020F0502020204030204" pitchFamily="34" charset="0"/>
                        </a:rPr>
                        <a:t>3.2</a:t>
                      </a:r>
                    </a:p>
                  </a:txBody>
                  <a:tcPr marL="9525" marR="9525" marT="9525" marB="0" anchor="ctr"/>
                </a:tc>
                <a:extLst>
                  <a:ext uri="{0D108BD9-81ED-4DB2-BD59-A6C34878D82A}">
                    <a16:rowId xmlns:a16="http://schemas.microsoft.com/office/drawing/2014/main" val="4175106662"/>
                  </a:ext>
                </a:extLst>
              </a:tr>
              <a:tr h="399368">
                <a:tc>
                  <a:txBody>
                    <a:bodyPr/>
                    <a:lstStyle/>
                    <a:p>
                      <a:pPr algn="ctr" fontAlgn="ctr"/>
                      <a:r>
                        <a:rPr lang="en-US" sz="1800" b="0" i="0" u="none" strike="noStrike">
                          <a:solidFill>
                            <a:srgbClr val="000000"/>
                          </a:solidFill>
                          <a:effectLst/>
                          <a:latin typeface="Calibri" panose="020F0502020204030204" pitchFamily="34" charset="0"/>
                        </a:rPr>
                        <a:t>USA</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3.2</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8.7</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11.1</a:t>
                      </a:r>
                    </a:p>
                  </a:txBody>
                  <a:tcPr marL="9525" marR="9525" marT="9525" marB="0" anchor="ctr"/>
                </a:tc>
                <a:extLst>
                  <a:ext uri="{0D108BD9-81ED-4DB2-BD59-A6C34878D82A}">
                    <a16:rowId xmlns:a16="http://schemas.microsoft.com/office/drawing/2014/main" val="22113455"/>
                  </a:ext>
                </a:extLst>
              </a:tr>
              <a:tr h="638291">
                <a:tc>
                  <a:txBody>
                    <a:bodyPr/>
                    <a:lstStyle/>
                    <a:p>
                      <a:pPr algn="ctr" fontAlgn="ctr"/>
                      <a:r>
                        <a:rPr lang="en-US" sz="1800" b="0" i="0" u="none" strike="noStrike">
                          <a:solidFill>
                            <a:srgbClr val="000000"/>
                          </a:solidFill>
                          <a:effectLst/>
                          <a:latin typeface="Calibri" panose="020F0502020204030204" pitchFamily="34" charset="0"/>
                        </a:rPr>
                        <a:t>World Average</a:t>
                      </a:r>
                    </a:p>
                  </a:txBody>
                  <a:tcPr marL="9525" marR="9525" marT="9525" marB="0" anchor="ctr"/>
                </a:tc>
                <a:tc>
                  <a:txBody>
                    <a:bodyPr/>
                    <a:lstStyle/>
                    <a:p>
                      <a:pPr algn="ctr" fontAlgn="ctr"/>
                      <a:r>
                        <a:rPr lang="en-PK" sz="18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4.6</a:t>
                      </a:r>
                    </a:p>
                  </a:txBody>
                  <a:tcPr marL="9525" marR="9525" marT="9525" marB="0" anchor="ctr"/>
                </a:tc>
                <a:tc>
                  <a:txBody>
                    <a:bodyPr/>
                    <a:lstStyle/>
                    <a:p>
                      <a:pPr algn="ctr" fontAlgn="ctr"/>
                      <a:r>
                        <a:rPr lang="en-PK" sz="18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3702001894"/>
                  </a:ext>
                </a:extLst>
              </a:tr>
            </a:tbl>
          </a:graphicData>
        </a:graphic>
      </p:graphicFrame>
      <p:pic>
        <p:nvPicPr>
          <p:cNvPr id="16" name="Picture 15">
            <a:extLst>
              <a:ext uri="{FF2B5EF4-FFF2-40B4-BE49-F238E27FC236}">
                <a16:creationId xmlns:a16="http://schemas.microsoft.com/office/drawing/2014/main" id="{C8C988CA-3A52-4A97-83F0-B050C09E4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999" y="2537959"/>
            <a:ext cx="5649471" cy="3368558"/>
          </a:xfrm>
          <a:prstGeom prst="rect">
            <a:avLst/>
          </a:prstGeom>
        </p:spPr>
      </p:pic>
      <p:sp>
        <p:nvSpPr>
          <p:cNvPr id="17" name="Rectangle 16">
            <a:extLst>
              <a:ext uri="{FF2B5EF4-FFF2-40B4-BE49-F238E27FC236}">
                <a16:creationId xmlns:a16="http://schemas.microsoft.com/office/drawing/2014/main" id="{04EB949A-785D-469E-A786-16D634595AD3}"/>
              </a:ext>
            </a:extLst>
          </p:cNvPr>
          <p:cNvSpPr/>
          <p:nvPr/>
        </p:nvSpPr>
        <p:spPr>
          <a:xfrm>
            <a:off x="197343" y="6425813"/>
            <a:ext cx="9397711" cy="276999"/>
          </a:xfrm>
          <a:prstGeom prst="rect">
            <a:avLst/>
          </a:prstGeom>
        </p:spPr>
        <p:txBody>
          <a:bodyPr wrap="square">
            <a:spAutoFit/>
          </a:bodyPr>
          <a:lstStyle/>
          <a:p>
            <a:r>
              <a:rPr lang="en-PK" sz="1200" i="1" dirty="0">
                <a:latin typeface="Arial" panose="020B0604020202020204" pitchFamily="34" charset="0"/>
                <a:cs typeface="Arial" panose="020B0604020202020204" pitchFamily="34" charset="0"/>
              </a:rPr>
              <a:t>https://ipad.fas.usda.gov/countrysummary/Default.aspx?id=PK&amp;crop=Wheat</a:t>
            </a:r>
          </a:p>
        </p:txBody>
      </p:sp>
    </p:spTree>
    <p:extLst>
      <p:ext uri="{BB962C8B-B14F-4D97-AF65-F5344CB8AC3E}">
        <p14:creationId xmlns:p14="http://schemas.microsoft.com/office/powerpoint/2010/main" val="23790595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INTRODUCTION</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6</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3459331" y="1222841"/>
            <a:ext cx="5273336"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Global Agricultural Production Comparison</a:t>
            </a:r>
          </a:p>
        </p:txBody>
      </p:sp>
      <p:sp>
        <p:nvSpPr>
          <p:cNvPr id="11" name="Rectangle 10">
            <a:extLst>
              <a:ext uri="{FF2B5EF4-FFF2-40B4-BE49-F238E27FC236}">
                <a16:creationId xmlns:a16="http://schemas.microsoft.com/office/drawing/2014/main" id="{2682972D-1BDC-4115-B3CF-83C855079FB9}"/>
              </a:ext>
            </a:extLst>
          </p:cNvPr>
          <p:cNvSpPr/>
          <p:nvPr/>
        </p:nvSpPr>
        <p:spPr>
          <a:xfrm>
            <a:off x="536402" y="1916560"/>
            <a:ext cx="5447838" cy="369332"/>
          </a:xfrm>
          <a:prstGeom prst="rect">
            <a:avLst/>
          </a:prstGeom>
        </p:spPr>
        <p:txBody>
          <a:bodyPr wrap="none">
            <a:spAutoFit/>
          </a:bodyPr>
          <a:lstStyle/>
          <a:p>
            <a:r>
              <a:rPr lang="en-US" dirty="0">
                <a:latin typeface="fkGroteskNeue"/>
              </a:rPr>
              <a:t>Pakistan's Agricultural Performance vs. Global Standards</a:t>
            </a:r>
            <a:endParaRPr lang="en-PK" dirty="0"/>
          </a:p>
        </p:txBody>
      </p:sp>
      <p:graphicFrame>
        <p:nvGraphicFramePr>
          <p:cNvPr id="12" name="Table 11">
            <a:extLst>
              <a:ext uri="{FF2B5EF4-FFF2-40B4-BE49-F238E27FC236}">
                <a16:creationId xmlns:a16="http://schemas.microsoft.com/office/drawing/2014/main" id="{B83B7DEA-83C6-423C-AEBF-12555061F686}"/>
              </a:ext>
            </a:extLst>
          </p:cNvPr>
          <p:cNvGraphicFramePr>
            <a:graphicFrameLocks noGrp="1"/>
          </p:cNvGraphicFramePr>
          <p:nvPr>
            <p:extLst>
              <p:ext uri="{D42A27DB-BD31-4B8C-83A1-F6EECF244321}">
                <p14:modId xmlns:p14="http://schemas.microsoft.com/office/powerpoint/2010/main" val="1694149840"/>
              </p:ext>
            </p:extLst>
          </p:nvPr>
        </p:nvGraphicFramePr>
        <p:xfrm>
          <a:off x="648161" y="2372191"/>
          <a:ext cx="5224320" cy="3195424"/>
        </p:xfrm>
        <a:graphic>
          <a:graphicData uri="http://schemas.openxmlformats.org/drawingml/2006/table">
            <a:tbl>
              <a:tblPr firstRow="1" bandRow="1">
                <a:tableStyleId>{5C22544A-7EE6-4342-B048-85BDC9FD1C3A}</a:tableStyleId>
              </a:tblPr>
              <a:tblGrid>
                <a:gridCol w="1306080">
                  <a:extLst>
                    <a:ext uri="{9D8B030D-6E8A-4147-A177-3AD203B41FA5}">
                      <a16:colId xmlns:a16="http://schemas.microsoft.com/office/drawing/2014/main" val="3487172933"/>
                    </a:ext>
                  </a:extLst>
                </a:gridCol>
                <a:gridCol w="1306080">
                  <a:extLst>
                    <a:ext uri="{9D8B030D-6E8A-4147-A177-3AD203B41FA5}">
                      <a16:colId xmlns:a16="http://schemas.microsoft.com/office/drawing/2014/main" val="4091379567"/>
                    </a:ext>
                  </a:extLst>
                </a:gridCol>
                <a:gridCol w="1306080">
                  <a:extLst>
                    <a:ext uri="{9D8B030D-6E8A-4147-A177-3AD203B41FA5}">
                      <a16:colId xmlns:a16="http://schemas.microsoft.com/office/drawing/2014/main" val="3512400805"/>
                    </a:ext>
                  </a:extLst>
                </a:gridCol>
                <a:gridCol w="1306080">
                  <a:extLst>
                    <a:ext uri="{9D8B030D-6E8A-4147-A177-3AD203B41FA5}">
                      <a16:colId xmlns:a16="http://schemas.microsoft.com/office/drawing/2014/main" val="2107737705"/>
                    </a:ext>
                  </a:extLst>
                </a:gridCol>
              </a:tblGrid>
              <a:tr h="387376">
                <a:tc>
                  <a:txBody>
                    <a:bodyPr/>
                    <a:lstStyle/>
                    <a:p>
                      <a:r>
                        <a:rPr lang="en-US" sz="1200" b="0" dirty="0"/>
                        <a:t>Country</a:t>
                      </a:r>
                    </a:p>
                  </a:txBody>
                  <a:tcPr anchor="ctr"/>
                </a:tc>
                <a:tc>
                  <a:txBody>
                    <a:bodyPr/>
                    <a:lstStyle/>
                    <a:p>
                      <a:r>
                        <a:rPr lang="en-US" sz="1200" b="0" dirty="0"/>
                        <a:t>Wheat</a:t>
                      </a:r>
                    </a:p>
                  </a:txBody>
                  <a:tcPr anchor="ctr"/>
                </a:tc>
                <a:tc>
                  <a:txBody>
                    <a:bodyPr/>
                    <a:lstStyle/>
                    <a:p>
                      <a:r>
                        <a:rPr lang="en-US" sz="1200" b="0"/>
                        <a:t>Rice (milled-eq.)</a:t>
                      </a:r>
                    </a:p>
                  </a:txBody>
                  <a:tcPr anchor="ctr"/>
                </a:tc>
                <a:tc>
                  <a:txBody>
                    <a:bodyPr/>
                    <a:lstStyle/>
                    <a:p>
                      <a:r>
                        <a:rPr lang="en-US" sz="1200" b="0"/>
                        <a:t>Maize</a:t>
                      </a:r>
                    </a:p>
                  </a:txBody>
                  <a:tcPr anchor="ctr"/>
                </a:tc>
                <a:extLst>
                  <a:ext uri="{0D108BD9-81ED-4DB2-BD59-A6C34878D82A}">
                    <a16:rowId xmlns:a16="http://schemas.microsoft.com/office/drawing/2014/main" val="205022587"/>
                  </a:ext>
                </a:extLst>
              </a:tr>
              <a:tr h="387376">
                <a:tc>
                  <a:txBody>
                    <a:bodyPr/>
                    <a:lstStyle/>
                    <a:p>
                      <a:r>
                        <a:rPr lang="en-US" sz="1200" b="0"/>
                        <a:t>Pakistan</a:t>
                      </a:r>
                    </a:p>
                  </a:txBody>
                  <a:tcPr anchor="ctr"/>
                </a:tc>
                <a:tc>
                  <a:txBody>
                    <a:bodyPr/>
                    <a:lstStyle/>
                    <a:p>
                      <a:r>
                        <a:rPr lang="en-US" sz="1200" b="0"/>
                        <a:t>27.5 MMT </a:t>
                      </a:r>
                    </a:p>
                  </a:txBody>
                  <a:tcPr anchor="ctr"/>
                </a:tc>
                <a:tc>
                  <a:txBody>
                    <a:bodyPr/>
                    <a:lstStyle/>
                    <a:p>
                      <a:r>
                        <a:rPr lang="en-US" sz="1200" b="0"/>
                        <a:t>9.8 MMT </a:t>
                      </a:r>
                    </a:p>
                  </a:txBody>
                  <a:tcPr anchor="ctr"/>
                </a:tc>
                <a:tc>
                  <a:txBody>
                    <a:bodyPr/>
                    <a:lstStyle/>
                    <a:p>
                      <a:r>
                        <a:rPr lang="en-US" sz="1200" b="0"/>
                        <a:t>9.6 MMT </a:t>
                      </a:r>
                    </a:p>
                  </a:txBody>
                  <a:tcPr anchor="ctr"/>
                </a:tc>
                <a:extLst>
                  <a:ext uri="{0D108BD9-81ED-4DB2-BD59-A6C34878D82A}">
                    <a16:rowId xmlns:a16="http://schemas.microsoft.com/office/drawing/2014/main" val="2083516104"/>
                  </a:ext>
                </a:extLst>
              </a:tr>
              <a:tr h="387376">
                <a:tc>
                  <a:txBody>
                    <a:bodyPr/>
                    <a:lstStyle/>
                    <a:p>
                      <a:r>
                        <a:rPr lang="en-US" sz="1200" b="0"/>
                        <a:t>China</a:t>
                      </a:r>
                    </a:p>
                  </a:txBody>
                  <a:tcPr anchor="ctr"/>
                </a:tc>
                <a:tc>
                  <a:txBody>
                    <a:bodyPr/>
                    <a:lstStyle/>
                    <a:p>
                      <a:r>
                        <a:rPr lang="en-US" sz="1200" b="0"/>
                        <a:t>141 MMT </a:t>
                      </a:r>
                    </a:p>
                  </a:txBody>
                  <a:tcPr anchor="ctr"/>
                </a:tc>
                <a:tc>
                  <a:txBody>
                    <a:bodyPr/>
                    <a:lstStyle/>
                    <a:p>
                      <a:r>
                        <a:rPr lang="en-US" sz="1200" b="0"/>
                        <a:t>146 MMT </a:t>
                      </a:r>
                    </a:p>
                  </a:txBody>
                  <a:tcPr anchor="ctr"/>
                </a:tc>
                <a:tc>
                  <a:txBody>
                    <a:bodyPr/>
                    <a:lstStyle/>
                    <a:p>
                      <a:r>
                        <a:rPr lang="en-US" sz="1200" b="0"/>
                        <a:t>298 MMT </a:t>
                      </a:r>
                    </a:p>
                  </a:txBody>
                  <a:tcPr anchor="ctr"/>
                </a:tc>
                <a:extLst>
                  <a:ext uri="{0D108BD9-81ED-4DB2-BD59-A6C34878D82A}">
                    <a16:rowId xmlns:a16="http://schemas.microsoft.com/office/drawing/2014/main" val="1209902495"/>
                  </a:ext>
                </a:extLst>
              </a:tr>
              <a:tr h="387376">
                <a:tc>
                  <a:txBody>
                    <a:bodyPr/>
                    <a:lstStyle/>
                    <a:p>
                      <a:r>
                        <a:rPr lang="en-US" sz="1200" b="0"/>
                        <a:t>India</a:t>
                      </a:r>
                    </a:p>
                  </a:txBody>
                  <a:tcPr anchor="ctr"/>
                </a:tc>
                <a:tc>
                  <a:txBody>
                    <a:bodyPr/>
                    <a:lstStyle/>
                    <a:p>
                      <a:r>
                        <a:rPr lang="en-US" sz="1200" b="0"/>
                        <a:t>113.3 MMT </a:t>
                      </a:r>
                    </a:p>
                  </a:txBody>
                  <a:tcPr anchor="ctr"/>
                </a:tc>
                <a:tc>
                  <a:txBody>
                    <a:bodyPr/>
                    <a:lstStyle/>
                    <a:p>
                      <a:r>
                        <a:rPr lang="en-US" sz="1200" b="0"/>
                        <a:t>137.8 MMT </a:t>
                      </a:r>
                    </a:p>
                  </a:txBody>
                  <a:tcPr anchor="ctr"/>
                </a:tc>
                <a:tc>
                  <a:txBody>
                    <a:bodyPr/>
                    <a:lstStyle/>
                    <a:p>
                      <a:r>
                        <a:rPr lang="en-US" sz="1200" b="0"/>
                        <a:t>37.7 MMT </a:t>
                      </a:r>
                    </a:p>
                  </a:txBody>
                  <a:tcPr anchor="ctr"/>
                </a:tc>
                <a:extLst>
                  <a:ext uri="{0D108BD9-81ED-4DB2-BD59-A6C34878D82A}">
                    <a16:rowId xmlns:a16="http://schemas.microsoft.com/office/drawing/2014/main" val="4175106662"/>
                  </a:ext>
                </a:extLst>
              </a:tr>
              <a:tr h="387376">
                <a:tc>
                  <a:txBody>
                    <a:bodyPr/>
                    <a:lstStyle/>
                    <a:p>
                      <a:r>
                        <a:rPr lang="en-US" sz="1200" b="0"/>
                        <a:t>United States</a:t>
                      </a:r>
                    </a:p>
                  </a:txBody>
                  <a:tcPr anchor="ctr"/>
                </a:tc>
                <a:tc>
                  <a:txBody>
                    <a:bodyPr/>
                    <a:lstStyle/>
                    <a:p>
                      <a:r>
                        <a:rPr lang="en-US" sz="1200" b="0"/>
                        <a:t>≈52 MMT (1.921 bn bu) (</a:t>
                      </a:r>
                      <a:r>
                        <a:rPr lang="en-US" sz="1200" b="0">
                          <a:hlinkClick r:id="rId4" tooltip="[PDF] Wheat Outlook: May 2025"/>
                        </a:rPr>
                        <a:t>downloads.usda.library.cornell.edu</a:t>
                      </a:r>
                      <a:r>
                        <a:rPr lang="en-US" sz="1200" b="0"/>
                        <a:t>)</a:t>
                      </a:r>
                    </a:p>
                  </a:txBody>
                  <a:tcPr anchor="ctr"/>
                </a:tc>
                <a:tc>
                  <a:txBody>
                    <a:bodyPr/>
                    <a:lstStyle/>
                    <a:p>
                      <a:r>
                        <a:rPr lang="en-US" sz="1200" b="0"/>
                        <a:t>≈10 MMT (222 M cwt) (</a:t>
                      </a:r>
                      <a:r>
                        <a:rPr lang="en-US" sz="1200" b="0">
                          <a:hlinkClick r:id="rId5" tooltip="[PDF] January 2025 crop market update pdf.pdf - LSU AgCenter"/>
                        </a:rPr>
                        <a:t>lsuagcenter.com</a:t>
                      </a:r>
                      <a:r>
                        <a:rPr lang="en-US" sz="1200" b="0"/>
                        <a:t>)</a:t>
                      </a:r>
                    </a:p>
                  </a:txBody>
                  <a:tcPr anchor="ctr"/>
                </a:tc>
                <a:tc>
                  <a:txBody>
                    <a:bodyPr/>
                    <a:lstStyle/>
                    <a:p>
                      <a:r>
                        <a:rPr lang="en-US" sz="1200" b="0"/>
                        <a:t>≈402 MMT (15.82 bn bu) (</a:t>
                      </a:r>
                      <a:r>
                        <a:rPr lang="en-US" sz="1200" b="0">
                          <a:hlinkClick r:id="rId6" tooltip="USDA projects record US corn crop, higher exports for 2025/26"/>
                        </a:rPr>
                        <a:t>feedandgrain.com</a:t>
                      </a:r>
                      <a:r>
                        <a:rPr lang="en-US" sz="1200" b="0"/>
                        <a:t>)</a:t>
                      </a:r>
                    </a:p>
                  </a:txBody>
                  <a:tcPr anchor="ctr"/>
                </a:tc>
                <a:extLst>
                  <a:ext uri="{0D108BD9-81ED-4DB2-BD59-A6C34878D82A}">
                    <a16:rowId xmlns:a16="http://schemas.microsoft.com/office/drawing/2014/main" val="22113455"/>
                  </a:ext>
                </a:extLst>
              </a:tr>
              <a:tr h="387376">
                <a:tc>
                  <a:txBody>
                    <a:bodyPr/>
                    <a:lstStyle/>
                    <a:p>
                      <a:r>
                        <a:rPr lang="en-US" sz="1200" b="0"/>
                        <a:t>World total</a:t>
                      </a:r>
                    </a:p>
                  </a:txBody>
                  <a:tcPr anchor="ctr"/>
                </a:tc>
                <a:tc>
                  <a:txBody>
                    <a:bodyPr/>
                    <a:lstStyle/>
                    <a:p>
                      <a:r>
                        <a:rPr lang="en-US" sz="1200" b="0"/>
                        <a:t>808.5 MMT (</a:t>
                      </a:r>
                      <a:r>
                        <a:rPr lang="en-US" sz="1200" b="0">
                          <a:hlinkClick r:id="rId7" tooltip="Bearish wheat outlook from the USDA - Grain Central"/>
                        </a:rPr>
                        <a:t>graincentral.com</a:t>
                      </a:r>
                      <a:r>
                        <a:rPr lang="en-US" sz="1200" b="0"/>
                        <a:t>)</a:t>
                      </a:r>
                    </a:p>
                  </a:txBody>
                  <a:tcPr anchor="ctr"/>
                </a:tc>
                <a:tc>
                  <a:txBody>
                    <a:bodyPr/>
                    <a:lstStyle/>
                    <a:p>
                      <a:r>
                        <a:rPr lang="en-US" sz="1200" b="0"/>
                        <a:t>535.8 MMT (</a:t>
                      </a:r>
                      <a:r>
                        <a:rPr lang="en-US" sz="1200" b="0">
                          <a:hlinkClick r:id="rId8" tooltip="[PDF] Rice Outlook: April 2025 - USDA ERS"/>
                        </a:rPr>
                        <a:t>ers.usda.gov</a:t>
                      </a:r>
                      <a:r>
                        <a:rPr lang="en-US" sz="1200" b="0"/>
                        <a:t>)</a:t>
                      </a:r>
                    </a:p>
                  </a:txBody>
                  <a:tcPr anchor="ctr"/>
                </a:tc>
                <a:tc>
                  <a:txBody>
                    <a:bodyPr/>
                    <a:lstStyle/>
                    <a:p>
                      <a:r>
                        <a:rPr lang="en-US" sz="1200" b="0" dirty="0"/>
                        <a:t>1 265 MMT (</a:t>
                      </a:r>
                      <a:r>
                        <a:rPr lang="en-US" sz="1200" b="0" dirty="0">
                          <a:hlinkClick r:id="rId9" tooltip="[PDF] World Agricultural Supply and Demand Estimates - USDA"/>
                        </a:rPr>
                        <a:t>usda.gov</a:t>
                      </a:r>
                      <a:r>
                        <a:rPr lang="en-US" sz="1200" b="0" dirty="0"/>
                        <a:t>)</a:t>
                      </a:r>
                    </a:p>
                  </a:txBody>
                  <a:tcPr anchor="ctr"/>
                </a:tc>
                <a:extLst>
                  <a:ext uri="{0D108BD9-81ED-4DB2-BD59-A6C34878D82A}">
                    <a16:rowId xmlns:a16="http://schemas.microsoft.com/office/drawing/2014/main" val="3702001894"/>
                  </a:ext>
                </a:extLst>
              </a:tr>
            </a:tbl>
          </a:graphicData>
        </a:graphic>
      </p:graphicFrame>
      <p:sp>
        <p:nvSpPr>
          <p:cNvPr id="18" name="Rectangle 17">
            <a:extLst>
              <a:ext uri="{FF2B5EF4-FFF2-40B4-BE49-F238E27FC236}">
                <a16:creationId xmlns:a16="http://schemas.microsoft.com/office/drawing/2014/main" id="{2D96A42F-A07B-47BB-9278-8B4DD38624C3}"/>
              </a:ext>
            </a:extLst>
          </p:cNvPr>
          <p:cNvSpPr/>
          <p:nvPr/>
        </p:nvSpPr>
        <p:spPr>
          <a:xfrm>
            <a:off x="197343" y="6427860"/>
            <a:ext cx="9397711" cy="276999"/>
          </a:xfrm>
          <a:prstGeom prst="rect">
            <a:avLst/>
          </a:prstGeom>
        </p:spPr>
        <p:txBody>
          <a:bodyPr wrap="square">
            <a:spAutoFit/>
          </a:bodyPr>
          <a:lstStyle/>
          <a:p>
            <a:r>
              <a:rPr lang="en-PK" sz="1200" i="1" dirty="0">
                <a:latin typeface="Arial" panose="020B0604020202020204" pitchFamily="34" charset="0"/>
                <a:cs typeface="Arial" panose="020B0604020202020204" pitchFamily="34" charset="0"/>
              </a:rPr>
              <a:t>https://ipad.fas.usda.gov/countrysummary/Default.aspx?id=PK&amp;crop=Wheat</a:t>
            </a:r>
          </a:p>
        </p:txBody>
      </p:sp>
      <p:pic>
        <p:nvPicPr>
          <p:cNvPr id="19" name="Picture 18">
            <a:extLst>
              <a:ext uri="{FF2B5EF4-FFF2-40B4-BE49-F238E27FC236}">
                <a16:creationId xmlns:a16="http://schemas.microsoft.com/office/drawing/2014/main" id="{4EEA0861-4DD1-4DD9-BB20-B1D7B3A5FF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55699" y="2503084"/>
            <a:ext cx="5914512" cy="2933638"/>
          </a:xfrm>
          <a:prstGeom prst="rect">
            <a:avLst/>
          </a:prstGeom>
        </p:spPr>
      </p:pic>
    </p:spTree>
    <p:extLst>
      <p:ext uri="{BB962C8B-B14F-4D97-AF65-F5344CB8AC3E}">
        <p14:creationId xmlns:p14="http://schemas.microsoft.com/office/powerpoint/2010/main" val="20436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INTRODUCTION</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7</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3906173" y="1247744"/>
            <a:ext cx="4379652"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Productivity Headwinds (2010-2023)</a:t>
            </a:r>
          </a:p>
        </p:txBody>
      </p:sp>
      <p:sp>
        <p:nvSpPr>
          <p:cNvPr id="7" name="Rectangle 6">
            <a:extLst>
              <a:ext uri="{FF2B5EF4-FFF2-40B4-BE49-F238E27FC236}">
                <a16:creationId xmlns:a16="http://schemas.microsoft.com/office/drawing/2014/main" id="{C736910C-AEA3-4E8B-8EBA-9118F3A4818B}"/>
              </a:ext>
            </a:extLst>
          </p:cNvPr>
          <p:cNvSpPr/>
          <p:nvPr/>
        </p:nvSpPr>
        <p:spPr>
          <a:xfrm>
            <a:off x="796610" y="1555521"/>
            <a:ext cx="4104797" cy="4093428"/>
          </a:xfrm>
          <a:prstGeom prst="rect">
            <a:avLst/>
          </a:prstGeom>
        </p:spPr>
        <p:txBody>
          <a:bodyPr wrap="square">
            <a:spAutoFit/>
          </a:bodyPr>
          <a:lstStyle/>
          <a:p>
            <a:endParaRPr lang="en-US" sz="2000" dirty="0"/>
          </a:p>
          <a:p>
            <a:r>
              <a:rPr lang="en-US" sz="2000" b="1" dirty="0"/>
              <a:t>Key facts:</a:t>
            </a:r>
          </a:p>
          <a:p>
            <a:pPr marL="285750" indent="-285750">
              <a:buFont typeface="Arial" panose="020B0604020202020204" pitchFamily="34" charset="0"/>
              <a:buChar char="•"/>
            </a:pPr>
            <a:r>
              <a:rPr lang="en-US" sz="2000" dirty="0"/>
              <a:t>Wheat yield ↓ </a:t>
            </a:r>
            <a:r>
              <a:rPr lang="en-US" sz="2000" b="1" dirty="0"/>
              <a:t>3 %</a:t>
            </a:r>
            <a:r>
              <a:rPr lang="en-US" sz="2000" dirty="0"/>
              <a:t> (2.9 → 2.8 t ha⁻¹)</a:t>
            </a:r>
          </a:p>
          <a:p>
            <a:pPr marL="285750" indent="-285750">
              <a:buFont typeface="Arial" panose="020B0604020202020204" pitchFamily="34" charset="0"/>
              <a:buChar char="•"/>
            </a:pPr>
            <a:r>
              <a:rPr lang="en-US" sz="2000" dirty="0"/>
              <a:t>Rice yield </a:t>
            </a:r>
            <a:r>
              <a:rPr lang="en-US" sz="2000" b="1" dirty="0"/>
              <a:t>flat</a:t>
            </a:r>
            <a:r>
              <a:rPr lang="en-US" sz="2000" dirty="0"/>
              <a:t> (≈ 3.6 t ha⁻¹)</a:t>
            </a:r>
          </a:p>
          <a:p>
            <a:pPr marL="285750" indent="-285750">
              <a:buFont typeface="Arial" panose="020B0604020202020204" pitchFamily="34" charset="0"/>
              <a:buChar char="•"/>
            </a:pPr>
            <a:r>
              <a:rPr lang="en-US" sz="2000" dirty="0"/>
              <a:t>Per-capita water ↓ </a:t>
            </a:r>
            <a:r>
              <a:rPr lang="en-US" sz="2000" b="1" dirty="0"/>
              <a:t>15 %</a:t>
            </a:r>
          </a:p>
          <a:p>
            <a:pPr marL="285750" indent="-285750">
              <a:buFont typeface="Arial" panose="020B0604020202020204" pitchFamily="34" charset="0"/>
              <a:buChar char="•"/>
            </a:pPr>
            <a:r>
              <a:rPr lang="en-US" sz="2000" dirty="0"/>
              <a:t>Climate-variability index ↑ </a:t>
            </a:r>
            <a:r>
              <a:rPr lang="en-US" sz="2000" b="1" dirty="0"/>
              <a:t>23 %</a:t>
            </a:r>
          </a:p>
          <a:p>
            <a:endParaRPr lang="en-US" sz="2000" b="1" dirty="0"/>
          </a:p>
          <a:p>
            <a:r>
              <a:rPr lang="en-US" sz="2000" b="1" dirty="0"/>
              <a:t>Reasons:</a:t>
            </a:r>
          </a:p>
          <a:p>
            <a:pPr marL="285750" indent="-285750">
              <a:buFont typeface="Arial" panose="020B0604020202020204" pitchFamily="34" charset="0"/>
              <a:buChar char="•"/>
            </a:pPr>
            <a:r>
              <a:rPr lang="en-US" sz="2000" dirty="0"/>
              <a:t>Inefficient fertilizer timing</a:t>
            </a:r>
          </a:p>
          <a:p>
            <a:pPr marL="285750" indent="-285750">
              <a:buFont typeface="Arial" panose="020B0604020202020204" pitchFamily="34" charset="0"/>
              <a:buChar char="•"/>
            </a:pPr>
            <a:r>
              <a:rPr lang="en-US" sz="2000" dirty="0"/>
              <a:t>Flood-irrigation losses &gt; 40 %</a:t>
            </a:r>
          </a:p>
          <a:p>
            <a:pPr marL="285750" indent="-285750">
              <a:buFont typeface="Arial" panose="020B0604020202020204" pitchFamily="34" charset="0"/>
              <a:buChar char="•"/>
            </a:pPr>
            <a:r>
              <a:rPr lang="en-US" sz="2000" dirty="0"/>
              <a:t>Low adoption of precision tech</a:t>
            </a:r>
          </a:p>
          <a:p>
            <a:pPr marL="285750" indent="-285750">
              <a:buFont typeface="Arial" panose="020B0604020202020204" pitchFamily="34" charset="0"/>
              <a:buChar char="•"/>
            </a:pPr>
            <a:r>
              <a:rPr lang="en-US" sz="2000" dirty="0"/>
              <a:t>More heatwaves, floods, droughts</a:t>
            </a:r>
            <a:endParaRPr lang="en-US" sz="2000" dirty="0">
              <a:latin typeface="fkGroteskNeue"/>
            </a:endParaRPr>
          </a:p>
        </p:txBody>
      </p:sp>
      <p:sp>
        <p:nvSpPr>
          <p:cNvPr id="9" name="Rectangle 8">
            <a:extLst>
              <a:ext uri="{FF2B5EF4-FFF2-40B4-BE49-F238E27FC236}">
                <a16:creationId xmlns:a16="http://schemas.microsoft.com/office/drawing/2014/main" id="{5FBC017A-145F-400D-8331-5CB68D4AB7BB}"/>
              </a:ext>
            </a:extLst>
          </p:cNvPr>
          <p:cNvSpPr/>
          <p:nvPr/>
        </p:nvSpPr>
        <p:spPr>
          <a:xfrm>
            <a:off x="197343" y="6420373"/>
            <a:ext cx="9372785" cy="276999"/>
          </a:xfrm>
          <a:prstGeom prst="rect">
            <a:avLst/>
          </a:prstGeom>
        </p:spPr>
        <p:txBody>
          <a:bodyPr wrap="square">
            <a:spAutoFit/>
          </a:bodyPr>
          <a:lstStyle/>
          <a:p>
            <a:r>
              <a:rPr lang="en-US" sz="1200" i="1" dirty="0">
                <a:latin typeface="Arial" panose="020B0604020202020204" pitchFamily="34" charset="0"/>
                <a:cs typeface="Arial" panose="020B0604020202020204" pitchFamily="34" charset="0"/>
              </a:rPr>
              <a:t>USDA Production Database 2024; FAO AQUASTAT 2023; Pakistan Met Dept. extreme-weather index 2024.</a:t>
            </a:r>
            <a:endParaRPr lang="en-PK" sz="1200" i="1"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B0A63F00-A108-4622-A519-32E4C8E3DD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5456" y="2085156"/>
            <a:ext cx="5979934" cy="3716643"/>
          </a:xfrm>
          <a:prstGeom prst="rect">
            <a:avLst/>
          </a:prstGeom>
        </p:spPr>
      </p:pic>
    </p:spTree>
    <p:extLst>
      <p:ext uri="{BB962C8B-B14F-4D97-AF65-F5344CB8AC3E}">
        <p14:creationId xmlns:p14="http://schemas.microsoft.com/office/powerpoint/2010/main" val="6648669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3921165" y="2921168"/>
            <a:ext cx="4349670" cy="1015663"/>
          </a:xfrm>
          <a:prstGeom prst="rect">
            <a:avLst/>
          </a:prstGeom>
          <a:noFill/>
        </p:spPr>
        <p:txBody>
          <a:bodyPr wrap="square" rtlCol="0">
            <a:spAutoFit/>
          </a:bodyPr>
          <a:lstStyle/>
          <a:p>
            <a:pPr algn="ctr"/>
            <a:r>
              <a:rPr lang="en-US" sz="6000" b="1" dirty="0"/>
              <a:t>MOTIVATION</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8</a:t>
            </a:fld>
            <a:endParaRPr lang="en-US"/>
          </a:p>
        </p:txBody>
      </p:sp>
    </p:spTree>
    <p:extLst>
      <p:ext uri="{BB962C8B-B14F-4D97-AF65-F5344CB8AC3E}">
        <p14:creationId xmlns:p14="http://schemas.microsoft.com/office/powerpoint/2010/main" val="19729914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MOTIVATION</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9</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5" y="1229493"/>
            <a:ext cx="9314533" cy="615553"/>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Comparison of Manual Farming Practice with Automated or Smart Farming Practice</a:t>
            </a:r>
          </a:p>
        </p:txBody>
      </p:sp>
      <p:pic>
        <p:nvPicPr>
          <p:cNvPr id="7" name="Picture 4">
            <a:extLst>
              <a:ext uri="{FF2B5EF4-FFF2-40B4-BE49-F238E27FC236}">
                <a16:creationId xmlns:a16="http://schemas.microsoft.com/office/drawing/2014/main" id="{CD414A30-2924-447F-B61D-CBABDEBB58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925" t="15192" r="21413" b="6502"/>
          <a:stretch/>
        </p:blipFill>
        <p:spPr bwMode="auto">
          <a:xfrm>
            <a:off x="851689" y="1832130"/>
            <a:ext cx="6400412" cy="480262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3D00092-4C6E-4352-BBBC-CAFE09BEF0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2466" y="1845046"/>
            <a:ext cx="3234517" cy="47195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701639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743625" y="2921168"/>
            <a:ext cx="6704750" cy="1015663"/>
          </a:xfrm>
          <a:prstGeom prst="rect">
            <a:avLst/>
          </a:prstGeom>
          <a:noFill/>
        </p:spPr>
        <p:txBody>
          <a:bodyPr wrap="square" rtlCol="0">
            <a:spAutoFit/>
          </a:bodyPr>
          <a:lstStyle/>
          <a:p>
            <a:pPr algn="ctr"/>
            <a:r>
              <a:rPr lang="en-US" sz="6000" b="1" dirty="0"/>
              <a:t>LITERATURE REVIEW</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10</a:t>
            </a:fld>
            <a:endParaRPr lang="en-US"/>
          </a:p>
        </p:txBody>
      </p:sp>
    </p:spTree>
    <p:extLst>
      <p:ext uri="{BB962C8B-B14F-4D97-AF65-F5344CB8AC3E}">
        <p14:creationId xmlns:p14="http://schemas.microsoft.com/office/powerpoint/2010/main" val="1553155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11</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6" y="1229493"/>
            <a:ext cx="9314533" cy="307777"/>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Machine Learning Approaches in agriculture and their limitations</a:t>
            </a:r>
          </a:p>
        </p:txBody>
      </p:sp>
      <p:graphicFrame>
        <p:nvGraphicFramePr>
          <p:cNvPr id="8" name="Table 7">
            <a:extLst>
              <a:ext uri="{FF2B5EF4-FFF2-40B4-BE49-F238E27FC236}">
                <a16:creationId xmlns:a16="http://schemas.microsoft.com/office/drawing/2014/main" id="{63867485-44EA-41AC-AB93-091FDC5C2C38}"/>
              </a:ext>
            </a:extLst>
          </p:cNvPr>
          <p:cNvGraphicFramePr>
            <a:graphicFrameLocks noGrp="1"/>
          </p:cNvGraphicFramePr>
          <p:nvPr>
            <p:extLst>
              <p:ext uri="{D42A27DB-BD31-4B8C-83A1-F6EECF244321}">
                <p14:modId xmlns:p14="http://schemas.microsoft.com/office/powerpoint/2010/main" val="2525477825"/>
              </p:ext>
            </p:extLst>
          </p:nvPr>
        </p:nvGraphicFramePr>
        <p:xfrm>
          <a:off x="197343" y="1640825"/>
          <a:ext cx="11766027" cy="4439920"/>
        </p:xfrm>
        <a:graphic>
          <a:graphicData uri="http://schemas.openxmlformats.org/drawingml/2006/table">
            <a:tbl>
              <a:tblPr firstRow="1" bandRow="1">
                <a:tableStyleId>{5C22544A-7EE6-4342-B048-85BDC9FD1C3A}</a:tableStyleId>
              </a:tblPr>
              <a:tblGrid>
                <a:gridCol w="2119729">
                  <a:extLst>
                    <a:ext uri="{9D8B030D-6E8A-4147-A177-3AD203B41FA5}">
                      <a16:colId xmlns:a16="http://schemas.microsoft.com/office/drawing/2014/main" val="2652410462"/>
                    </a:ext>
                  </a:extLst>
                </a:gridCol>
                <a:gridCol w="1340528">
                  <a:extLst>
                    <a:ext uri="{9D8B030D-6E8A-4147-A177-3AD203B41FA5}">
                      <a16:colId xmlns:a16="http://schemas.microsoft.com/office/drawing/2014/main" val="2884100448"/>
                    </a:ext>
                  </a:extLst>
                </a:gridCol>
                <a:gridCol w="2485748">
                  <a:extLst>
                    <a:ext uri="{9D8B030D-6E8A-4147-A177-3AD203B41FA5}">
                      <a16:colId xmlns:a16="http://schemas.microsoft.com/office/drawing/2014/main" val="1525831412"/>
                    </a:ext>
                  </a:extLst>
                </a:gridCol>
                <a:gridCol w="2263805">
                  <a:extLst>
                    <a:ext uri="{9D8B030D-6E8A-4147-A177-3AD203B41FA5}">
                      <a16:colId xmlns:a16="http://schemas.microsoft.com/office/drawing/2014/main" val="443646888"/>
                    </a:ext>
                  </a:extLst>
                </a:gridCol>
                <a:gridCol w="1997476">
                  <a:extLst>
                    <a:ext uri="{9D8B030D-6E8A-4147-A177-3AD203B41FA5}">
                      <a16:colId xmlns:a16="http://schemas.microsoft.com/office/drawing/2014/main" val="3253827944"/>
                    </a:ext>
                  </a:extLst>
                </a:gridCol>
                <a:gridCol w="1558741">
                  <a:extLst>
                    <a:ext uri="{9D8B030D-6E8A-4147-A177-3AD203B41FA5}">
                      <a16:colId xmlns:a16="http://schemas.microsoft.com/office/drawing/2014/main" val="621755667"/>
                    </a:ext>
                  </a:extLst>
                </a:gridCol>
              </a:tblGrid>
              <a:tr h="370840">
                <a:tc>
                  <a:txBody>
                    <a:bodyPr/>
                    <a:lstStyle/>
                    <a:p>
                      <a:r>
                        <a:rPr lang="en-US" sz="1700" b="1" dirty="0">
                          <a:latin typeface="Arial" panose="020B0604020202020204" pitchFamily="34" charset="0"/>
                          <a:cs typeface="Arial" panose="020B0604020202020204" pitchFamily="34" charset="0"/>
                        </a:rPr>
                        <a:t>Paper Title</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Authors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Strengths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Weaknesses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a:latin typeface="Arial" panose="020B0604020202020204" pitchFamily="34" charset="0"/>
                          <a:cs typeface="Arial" panose="020B0604020202020204" pitchFamily="34" charset="0"/>
                        </a:rPr>
                        <a:t>Dataset Used</a:t>
                      </a:r>
                      <a:endParaRPr lang="en-US" sz="170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Venue &amp; Year</a:t>
                      </a:r>
                      <a:endParaRPr lang="en-US" sz="17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81859015"/>
                  </a:ext>
                </a:extLst>
              </a:tr>
              <a:tr h="370840">
                <a:tc>
                  <a:txBody>
                    <a:bodyPr/>
                    <a:lstStyle/>
                    <a:p>
                      <a:r>
                        <a:rPr lang="en-US" sz="1700" dirty="0">
                          <a:latin typeface="Arial" panose="020B0604020202020204" pitchFamily="34" charset="0"/>
                          <a:cs typeface="Arial" panose="020B0604020202020204" pitchFamily="34" charset="0"/>
                        </a:rPr>
                        <a:t>Integrating Random Forest &amp; Crop </a:t>
                      </a:r>
                    </a:p>
                    <a:p>
                      <a:r>
                        <a:rPr lang="en-US" sz="1700" dirty="0">
                          <a:latin typeface="Arial" panose="020B0604020202020204" pitchFamily="34" charset="0"/>
                          <a:cs typeface="Arial" panose="020B0604020202020204" pitchFamily="34" charset="0"/>
                        </a:rPr>
                        <a:t>Modeling Improves Yield of Winter Wheat &amp; Oilseed Rape </a:t>
                      </a:r>
                      <a:r>
                        <a:rPr lang="en-US" sz="2000" b="1" i="0" dirty="0">
                          <a:latin typeface="Arial" panose="020B0604020202020204" pitchFamily="34" charset="0"/>
                          <a:cs typeface="Arial" panose="020B0604020202020204" pitchFamily="34" charset="0"/>
                        </a:rPr>
                        <a:t>[1]</a:t>
                      </a:r>
                      <a:endParaRPr lang="en-US" sz="1700" b="1" i="0" dirty="0">
                        <a:latin typeface="Arial" panose="020B0604020202020204" pitchFamily="34" charset="0"/>
                        <a:cs typeface="Arial" panose="020B0604020202020204" pitchFamily="34" charset="0"/>
                      </a:endParaRPr>
                    </a:p>
                  </a:txBody>
                  <a:tcPr anchor="ctr"/>
                </a:tc>
                <a:tc>
                  <a:txBody>
                    <a:bodyPr/>
                    <a:lstStyle/>
                    <a:p>
                      <a:r>
                        <a:rPr lang="en-US" sz="1700" dirty="0">
                          <a:latin typeface="Arial" panose="020B0604020202020204" pitchFamily="34" charset="0"/>
                          <a:cs typeface="Arial" panose="020B0604020202020204" pitchFamily="34" charset="0"/>
                        </a:rPr>
                        <a:t>Dhillon et al.</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Hybrid RF + LUE model lifts R² &amp; cuts RMSE vs. RF w/o crop‑model inputs.</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Uses NDVI + climate ↔ crop growth priors.</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Tested in one European region; transferability unknown.</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Needs crop‑model calibration.</a:t>
                      </a:r>
                    </a:p>
                  </a:txBody>
                  <a:tcPr anchor="ctr"/>
                </a:tc>
                <a:tc>
                  <a:txBody>
                    <a:bodyPr/>
                    <a:lstStyle/>
                    <a:p>
                      <a:r>
                        <a:rPr lang="en-US" sz="1700" dirty="0">
                          <a:latin typeface="Arial" panose="020B0604020202020204" pitchFamily="34" charset="0"/>
                          <a:cs typeface="Arial" panose="020B0604020202020204" pitchFamily="34" charset="0"/>
                        </a:rPr>
                        <a:t>Sentinel‑2 NDVI, ERA5 climate; field yields (Germany)</a:t>
                      </a:r>
                    </a:p>
                  </a:txBody>
                  <a:tcPr anchor="ctr"/>
                </a:tc>
                <a:tc>
                  <a:txBody>
                    <a:bodyPr/>
                    <a:lstStyle/>
                    <a:p>
                      <a:r>
                        <a:rPr lang="en-US" sz="1700" i="1">
                          <a:latin typeface="Arial" panose="020B0604020202020204" pitchFamily="34" charset="0"/>
                          <a:cs typeface="Arial" panose="020B0604020202020204" pitchFamily="34" charset="0"/>
                        </a:rPr>
                        <a:t>Frontiers in Remote Sensing</a:t>
                      </a:r>
                      <a:r>
                        <a:rPr lang="en-US" sz="1700">
                          <a:latin typeface="Arial" panose="020B0604020202020204" pitchFamily="34" charset="0"/>
                          <a:cs typeface="Arial" panose="020B0604020202020204" pitchFamily="34" charset="0"/>
                        </a:rPr>
                        <a:t>, 2022</a:t>
                      </a:r>
                    </a:p>
                  </a:txBody>
                  <a:tcPr anchor="ctr"/>
                </a:tc>
                <a:extLst>
                  <a:ext uri="{0D108BD9-81ED-4DB2-BD59-A6C34878D82A}">
                    <a16:rowId xmlns:a16="http://schemas.microsoft.com/office/drawing/2014/main" val="3853055720"/>
                  </a:ext>
                </a:extLst>
              </a:tr>
              <a:tr h="370840">
                <a:tc>
                  <a:txBody>
                    <a:bodyPr/>
                    <a:lstStyle/>
                    <a:p>
                      <a:r>
                        <a:rPr lang="en-US" sz="1700" dirty="0">
                          <a:latin typeface="Arial" panose="020B0604020202020204" pitchFamily="34" charset="0"/>
                          <a:cs typeface="Arial" panose="020B0604020202020204" pitchFamily="34" charset="0"/>
                        </a:rPr>
                        <a:t>CLIMATES: Mitigating Low Productivity on African Smallholder Farms </a:t>
                      </a:r>
                      <a:r>
                        <a:rPr lang="en-US" sz="1800" b="1" i="0" dirty="0">
                          <a:latin typeface="Arial" panose="020B0604020202020204" pitchFamily="34" charset="0"/>
                          <a:cs typeface="Arial" panose="020B0604020202020204" pitchFamily="34" charset="0"/>
                        </a:rPr>
                        <a:t>[2]</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dirty="0" err="1">
                          <a:latin typeface="Arial" panose="020B0604020202020204" pitchFamily="34" charset="0"/>
                          <a:cs typeface="Arial" panose="020B0604020202020204" pitchFamily="34" charset="0"/>
                        </a:rPr>
                        <a:t>Tabar</a:t>
                      </a:r>
                      <a:r>
                        <a:rPr lang="en-US" sz="1700" dirty="0">
                          <a:latin typeface="Arial" panose="020B0604020202020204" pitchFamily="34" charset="0"/>
                          <a:cs typeface="Arial" panose="020B0604020202020204" pitchFamily="34" charset="0"/>
                        </a:rPr>
                        <a:t> et al.</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Clustering + per‑cluster ensemble lowers error vs. LSTM/VRNN.</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Handles 2.2 k farm time‑series with diverse climates.</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Relies on quality cluster labels.</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Designed for environmental stress forecasting, not prescriptions.</a:t>
                      </a:r>
                    </a:p>
                  </a:txBody>
                  <a:tcPr anchor="ctr"/>
                </a:tc>
                <a:tc>
                  <a:txBody>
                    <a:bodyPr/>
                    <a:lstStyle/>
                    <a:p>
                      <a:r>
                        <a:rPr lang="en-US" sz="1700" dirty="0">
                          <a:latin typeface="Arial" panose="020B0604020202020204" pitchFamily="34" charset="0"/>
                          <a:cs typeface="Arial" panose="020B0604020202020204" pitchFamily="34" charset="0"/>
                        </a:rPr>
                        <a:t>Environmental time‑series (AET, RET, NPP) from 2 200 African farms</a:t>
                      </a:r>
                    </a:p>
                  </a:txBody>
                  <a:tcPr anchor="ctr"/>
                </a:tc>
                <a:tc>
                  <a:txBody>
                    <a:bodyPr/>
                    <a:lstStyle/>
                    <a:p>
                      <a:r>
                        <a:rPr lang="en-US" sz="1700" dirty="0">
                          <a:latin typeface="Arial" panose="020B0604020202020204" pitchFamily="34" charset="0"/>
                          <a:cs typeface="Arial" panose="020B0604020202020204" pitchFamily="34" charset="0"/>
                        </a:rPr>
                        <a:t>AAAI 2022</a:t>
                      </a:r>
                    </a:p>
                  </a:txBody>
                  <a:tcPr anchor="ctr"/>
                </a:tc>
                <a:extLst>
                  <a:ext uri="{0D108BD9-81ED-4DB2-BD59-A6C34878D82A}">
                    <a16:rowId xmlns:a16="http://schemas.microsoft.com/office/drawing/2014/main" val="3204645978"/>
                  </a:ext>
                </a:extLst>
              </a:tr>
            </a:tbl>
          </a:graphicData>
        </a:graphic>
      </p:graphicFrame>
    </p:spTree>
    <p:extLst>
      <p:ext uri="{BB962C8B-B14F-4D97-AF65-F5344CB8AC3E}">
        <p14:creationId xmlns:p14="http://schemas.microsoft.com/office/powerpoint/2010/main" val="22635282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12</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6" y="1229493"/>
            <a:ext cx="9314533" cy="307777"/>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Machine Learning Approaches in agriculture and their limitations</a:t>
            </a:r>
          </a:p>
        </p:txBody>
      </p:sp>
      <p:graphicFrame>
        <p:nvGraphicFramePr>
          <p:cNvPr id="8" name="Table 7">
            <a:extLst>
              <a:ext uri="{FF2B5EF4-FFF2-40B4-BE49-F238E27FC236}">
                <a16:creationId xmlns:a16="http://schemas.microsoft.com/office/drawing/2014/main" id="{63867485-44EA-41AC-AB93-091FDC5C2C38}"/>
              </a:ext>
            </a:extLst>
          </p:cNvPr>
          <p:cNvGraphicFramePr>
            <a:graphicFrameLocks noGrp="1"/>
          </p:cNvGraphicFramePr>
          <p:nvPr>
            <p:extLst>
              <p:ext uri="{D42A27DB-BD31-4B8C-83A1-F6EECF244321}">
                <p14:modId xmlns:p14="http://schemas.microsoft.com/office/powerpoint/2010/main" val="3031436378"/>
              </p:ext>
            </p:extLst>
          </p:nvPr>
        </p:nvGraphicFramePr>
        <p:xfrm>
          <a:off x="197343" y="1640825"/>
          <a:ext cx="11766027" cy="4699000"/>
        </p:xfrm>
        <a:graphic>
          <a:graphicData uri="http://schemas.openxmlformats.org/drawingml/2006/table">
            <a:tbl>
              <a:tblPr firstRow="1" bandRow="1">
                <a:tableStyleId>{5C22544A-7EE6-4342-B048-85BDC9FD1C3A}</a:tableStyleId>
              </a:tblPr>
              <a:tblGrid>
                <a:gridCol w="2119729">
                  <a:extLst>
                    <a:ext uri="{9D8B030D-6E8A-4147-A177-3AD203B41FA5}">
                      <a16:colId xmlns:a16="http://schemas.microsoft.com/office/drawing/2014/main" val="2652410462"/>
                    </a:ext>
                  </a:extLst>
                </a:gridCol>
                <a:gridCol w="1340528">
                  <a:extLst>
                    <a:ext uri="{9D8B030D-6E8A-4147-A177-3AD203B41FA5}">
                      <a16:colId xmlns:a16="http://schemas.microsoft.com/office/drawing/2014/main" val="2884100448"/>
                    </a:ext>
                  </a:extLst>
                </a:gridCol>
                <a:gridCol w="2485748">
                  <a:extLst>
                    <a:ext uri="{9D8B030D-6E8A-4147-A177-3AD203B41FA5}">
                      <a16:colId xmlns:a16="http://schemas.microsoft.com/office/drawing/2014/main" val="1525831412"/>
                    </a:ext>
                  </a:extLst>
                </a:gridCol>
                <a:gridCol w="2263805">
                  <a:extLst>
                    <a:ext uri="{9D8B030D-6E8A-4147-A177-3AD203B41FA5}">
                      <a16:colId xmlns:a16="http://schemas.microsoft.com/office/drawing/2014/main" val="443646888"/>
                    </a:ext>
                  </a:extLst>
                </a:gridCol>
                <a:gridCol w="1997476">
                  <a:extLst>
                    <a:ext uri="{9D8B030D-6E8A-4147-A177-3AD203B41FA5}">
                      <a16:colId xmlns:a16="http://schemas.microsoft.com/office/drawing/2014/main" val="3253827944"/>
                    </a:ext>
                  </a:extLst>
                </a:gridCol>
                <a:gridCol w="1558741">
                  <a:extLst>
                    <a:ext uri="{9D8B030D-6E8A-4147-A177-3AD203B41FA5}">
                      <a16:colId xmlns:a16="http://schemas.microsoft.com/office/drawing/2014/main" val="621755667"/>
                    </a:ext>
                  </a:extLst>
                </a:gridCol>
              </a:tblGrid>
              <a:tr h="370840">
                <a:tc>
                  <a:txBody>
                    <a:bodyPr/>
                    <a:lstStyle/>
                    <a:p>
                      <a:r>
                        <a:rPr lang="en-US" sz="1700" b="1" dirty="0">
                          <a:latin typeface="Arial" panose="020B0604020202020204" pitchFamily="34" charset="0"/>
                          <a:cs typeface="Arial" panose="020B0604020202020204" pitchFamily="34" charset="0"/>
                        </a:rPr>
                        <a:t>Paper Title</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Authors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Strengths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Weaknesses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a:latin typeface="Arial" panose="020B0604020202020204" pitchFamily="34" charset="0"/>
                          <a:cs typeface="Arial" panose="020B0604020202020204" pitchFamily="34" charset="0"/>
                        </a:rPr>
                        <a:t>Dataset Used</a:t>
                      </a:r>
                      <a:endParaRPr lang="en-US" sz="170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Venue &amp; Year</a:t>
                      </a:r>
                      <a:endParaRPr lang="en-US" sz="17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81859015"/>
                  </a:ext>
                </a:extLst>
              </a:tr>
              <a:tr h="370840">
                <a:tc>
                  <a:txBody>
                    <a:bodyPr/>
                    <a:lstStyle/>
                    <a:p>
                      <a:r>
                        <a:rPr lang="en-US" sz="1700" dirty="0">
                          <a:latin typeface="Arial" panose="020B0604020202020204" pitchFamily="34" charset="0"/>
                          <a:cs typeface="Arial" panose="020B0604020202020204" pitchFamily="34" charset="0"/>
                        </a:rPr>
                        <a:t>Optimal Greenhouse Sensor Placement via GBM Grid‑Search </a:t>
                      </a:r>
                      <a:r>
                        <a:rPr lang="en-US" sz="1800" b="1" i="0" dirty="0">
                          <a:latin typeface="Arial" panose="020B0604020202020204" pitchFamily="34" charset="0"/>
                          <a:cs typeface="Arial" panose="020B0604020202020204" pitchFamily="34" charset="0"/>
                        </a:rPr>
                        <a:t>[3]</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dirty="0" err="1">
                          <a:latin typeface="Arial" panose="020B0604020202020204" pitchFamily="34" charset="0"/>
                          <a:cs typeface="Arial" panose="020B0604020202020204" pitchFamily="34" charset="0"/>
                        </a:rPr>
                        <a:t>Uyeh</a:t>
                      </a:r>
                      <a:r>
                        <a:rPr lang="en-US" sz="1700" dirty="0">
                          <a:latin typeface="Arial" panose="020B0604020202020204" pitchFamily="34" charset="0"/>
                          <a:cs typeface="Arial" panose="020B0604020202020204" pitchFamily="34" charset="0"/>
                        </a:rPr>
                        <a:t> et al.</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Gradient Boosting selects minimal sensors with lowest RMSE.</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Psychrometric feature engineering improves predictions.</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Focus on temperature/ humidity only.</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Validation limited to two greenhouses.</a:t>
                      </a:r>
                    </a:p>
                  </a:txBody>
                  <a:tcPr anchor="ctr"/>
                </a:tc>
                <a:tc>
                  <a:txBody>
                    <a:bodyPr/>
                    <a:lstStyle/>
                    <a:p>
                      <a:r>
                        <a:rPr lang="en-US" sz="1700">
                          <a:latin typeface="Arial" panose="020B0604020202020204" pitchFamily="34" charset="0"/>
                          <a:cs typeface="Arial" panose="020B0604020202020204" pitchFamily="34" charset="0"/>
                        </a:rPr>
                        <a:t>IoT sensor readings (T, RH) in protected cultivation</a:t>
                      </a:r>
                    </a:p>
                  </a:txBody>
                  <a:tcPr anchor="ctr"/>
                </a:tc>
                <a:tc>
                  <a:txBody>
                    <a:bodyPr/>
                    <a:lstStyle/>
                    <a:p>
                      <a:r>
                        <a:rPr lang="en-US" sz="1700" i="1" dirty="0">
                          <a:latin typeface="Arial" panose="020B0604020202020204" pitchFamily="34" charset="0"/>
                          <a:cs typeface="Arial" panose="020B0604020202020204" pitchFamily="34" charset="0"/>
                        </a:rPr>
                        <a:t>Frontiers in Plant Science</a:t>
                      </a:r>
                      <a:r>
                        <a:rPr lang="en-US" sz="1700" dirty="0">
                          <a:latin typeface="Arial" panose="020B0604020202020204" pitchFamily="34" charset="0"/>
                          <a:cs typeface="Arial" panose="020B0604020202020204" pitchFamily="34" charset="0"/>
                        </a:rPr>
                        <a:t>, 2022</a:t>
                      </a:r>
                    </a:p>
                  </a:txBody>
                  <a:tcPr anchor="ctr"/>
                </a:tc>
                <a:extLst>
                  <a:ext uri="{0D108BD9-81ED-4DB2-BD59-A6C34878D82A}">
                    <a16:rowId xmlns:a16="http://schemas.microsoft.com/office/drawing/2014/main" val="3853055720"/>
                  </a:ext>
                </a:extLst>
              </a:tr>
              <a:tr h="370840">
                <a:tc>
                  <a:txBody>
                    <a:bodyPr/>
                    <a:lstStyle/>
                    <a:p>
                      <a:r>
                        <a:rPr lang="en-US" sz="1700" dirty="0">
                          <a:latin typeface="Arial" panose="020B0604020202020204" pitchFamily="34" charset="0"/>
                          <a:cs typeface="Arial" panose="020B0604020202020204" pitchFamily="34" charset="0"/>
                        </a:rPr>
                        <a:t>Explainable Crop Recommendation with Ensemble ML </a:t>
                      </a:r>
                      <a:r>
                        <a:rPr lang="en-US" sz="1800" b="1" i="0" dirty="0">
                          <a:latin typeface="Arial" panose="020B0604020202020204" pitchFamily="34" charset="0"/>
                          <a:cs typeface="Arial" panose="020B0604020202020204" pitchFamily="34" charset="0"/>
                        </a:rPr>
                        <a:t>[4]</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dirty="0">
                          <a:latin typeface="Arial" panose="020B0604020202020204" pitchFamily="34" charset="0"/>
                          <a:cs typeface="Arial" panose="020B0604020202020204" pitchFamily="34" charset="0"/>
                        </a:rPr>
                        <a:t>Shastri </a:t>
                      </a:r>
                    </a:p>
                    <a:p>
                      <a:r>
                        <a:rPr lang="en-US" sz="1700" dirty="0">
                          <a:latin typeface="Arial" panose="020B0604020202020204" pitchFamily="34" charset="0"/>
                          <a:cs typeface="Arial" panose="020B0604020202020204" pitchFamily="34" charset="0"/>
                        </a:rPr>
                        <a:t>et al.</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Compares 10 algorithms; Gradient Boosting highest accuracy.</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LIME explains nutrient/weather influence on crop choice.</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Static recommendation (no temporal dynamics).</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Tested on Indian soils only.</a:t>
                      </a:r>
                    </a:p>
                  </a:txBody>
                  <a:tcPr anchor="ctr"/>
                </a:tc>
                <a:tc>
                  <a:txBody>
                    <a:bodyPr/>
                    <a:lstStyle/>
                    <a:p>
                      <a:r>
                        <a:rPr lang="en-US" sz="1700" dirty="0">
                          <a:latin typeface="Arial" panose="020B0604020202020204" pitchFamily="34" charset="0"/>
                          <a:cs typeface="Arial" panose="020B0604020202020204" pitchFamily="34" charset="0"/>
                        </a:rPr>
                        <a:t>Soil N‑P‑K &amp; weather data (India)</a:t>
                      </a:r>
                    </a:p>
                  </a:txBody>
                  <a:tcPr anchor="ctr"/>
                </a:tc>
                <a:tc>
                  <a:txBody>
                    <a:bodyPr/>
                    <a:lstStyle/>
                    <a:p>
                      <a:r>
                        <a:rPr lang="en-US" sz="1700" i="1" dirty="0">
                          <a:latin typeface="Arial" panose="020B0604020202020204" pitchFamily="34" charset="0"/>
                          <a:cs typeface="Arial" panose="020B0604020202020204" pitchFamily="34" charset="0"/>
                        </a:rPr>
                        <a:t>Scientific Reports</a:t>
                      </a:r>
                      <a:r>
                        <a:rPr lang="en-US" sz="1700" dirty="0">
                          <a:latin typeface="Arial" panose="020B0604020202020204" pitchFamily="34" charset="0"/>
                          <a:cs typeface="Arial" panose="020B0604020202020204" pitchFamily="34" charset="0"/>
                        </a:rPr>
                        <a:t>, 2025</a:t>
                      </a:r>
                    </a:p>
                  </a:txBody>
                  <a:tcPr anchor="ctr"/>
                </a:tc>
                <a:extLst>
                  <a:ext uri="{0D108BD9-81ED-4DB2-BD59-A6C34878D82A}">
                    <a16:rowId xmlns:a16="http://schemas.microsoft.com/office/drawing/2014/main" val="3204645978"/>
                  </a:ext>
                </a:extLst>
              </a:tr>
            </a:tbl>
          </a:graphicData>
        </a:graphic>
      </p:graphicFrame>
    </p:spTree>
    <p:extLst>
      <p:ext uri="{BB962C8B-B14F-4D97-AF65-F5344CB8AC3E}">
        <p14:creationId xmlns:p14="http://schemas.microsoft.com/office/powerpoint/2010/main" val="51209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13</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6" y="1229493"/>
            <a:ext cx="9314533" cy="307777"/>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Deep Learning Approaches in agriculture and their limitations</a:t>
            </a:r>
          </a:p>
        </p:txBody>
      </p:sp>
      <p:graphicFrame>
        <p:nvGraphicFramePr>
          <p:cNvPr id="8" name="Table 7">
            <a:extLst>
              <a:ext uri="{FF2B5EF4-FFF2-40B4-BE49-F238E27FC236}">
                <a16:creationId xmlns:a16="http://schemas.microsoft.com/office/drawing/2014/main" id="{63867485-44EA-41AC-AB93-091FDC5C2C38}"/>
              </a:ext>
            </a:extLst>
          </p:cNvPr>
          <p:cNvGraphicFramePr>
            <a:graphicFrameLocks noGrp="1"/>
          </p:cNvGraphicFramePr>
          <p:nvPr>
            <p:extLst>
              <p:ext uri="{D42A27DB-BD31-4B8C-83A1-F6EECF244321}">
                <p14:modId xmlns:p14="http://schemas.microsoft.com/office/powerpoint/2010/main" val="3799738997"/>
              </p:ext>
            </p:extLst>
          </p:nvPr>
        </p:nvGraphicFramePr>
        <p:xfrm>
          <a:off x="197343" y="1640825"/>
          <a:ext cx="11766027" cy="4699000"/>
        </p:xfrm>
        <a:graphic>
          <a:graphicData uri="http://schemas.openxmlformats.org/drawingml/2006/table">
            <a:tbl>
              <a:tblPr firstRow="1" bandRow="1">
                <a:tableStyleId>{5C22544A-7EE6-4342-B048-85BDC9FD1C3A}</a:tableStyleId>
              </a:tblPr>
              <a:tblGrid>
                <a:gridCol w="2119729">
                  <a:extLst>
                    <a:ext uri="{9D8B030D-6E8A-4147-A177-3AD203B41FA5}">
                      <a16:colId xmlns:a16="http://schemas.microsoft.com/office/drawing/2014/main" val="2652410462"/>
                    </a:ext>
                  </a:extLst>
                </a:gridCol>
                <a:gridCol w="1340528">
                  <a:extLst>
                    <a:ext uri="{9D8B030D-6E8A-4147-A177-3AD203B41FA5}">
                      <a16:colId xmlns:a16="http://schemas.microsoft.com/office/drawing/2014/main" val="2884100448"/>
                    </a:ext>
                  </a:extLst>
                </a:gridCol>
                <a:gridCol w="2485748">
                  <a:extLst>
                    <a:ext uri="{9D8B030D-6E8A-4147-A177-3AD203B41FA5}">
                      <a16:colId xmlns:a16="http://schemas.microsoft.com/office/drawing/2014/main" val="1525831412"/>
                    </a:ext>
                  </a:extLst>
                </a:gridCol>
                <a:gridCol w="2263805">
                  <a:extLst>
                    <a:ext uri="{9D8B030D-6E8A-4147-A177-3AD203B41FA5}">
                      <a16:colId xmlns:a16="http://schemas.microsoft.com/office/drawing/2014/main" val="443646888"/>
                    </a:ext>
                  </a:extLst>
                </a:gridCol>
                <a:gridCol w="1997476">
                  <a:extLst>
                    <a:ext uri="{9D8B030D-6E8A-4147-A177-3AD203B41FA5}">
                      <a16:colId xmlns:a16="http://schemas.microsoft.com/office/drawing/2014/main" val="3253827944"/>
                    </a:ext>
                  </a:extLst>
                </a:gridCol>
                <a:gridCol w="1558741">
                  <a:extLst>
                    <a:ext uri="{9D8B030D-6E8A-4147-A177-3AD203B41FA5}">
                      <a16:colId xmlns:a16="http://schemas.microsoft.com/office/drawing/2014/main" val="621755667"/>
                    </a:ext>
                  </a:extLst>
                </a:gridCol>
              </a:tblGrid>
              <a:tr h="370840">
                <a:tc>
                  <a:txBody>
                    <a:bodyPr/>
                    <a:lstStyle/>
                    <a:p>
                      <a:r>
                        <a:rPr lang="en-US" sz="1700" b="1" dirty="0">
                          <a:latin typeface="Arial" panose="020B0604020202020204" pitchFamily="34" charset="0"/>
                          <a:cs typeface="Arial" panose="020B0604020202020204" pitchFamily="34" charset="0"/>
                        </a:rPr>
                        <a:t>Paper Title</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Authors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Strengths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Weaknesses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a:latin typeface="Arial" panose="020B0604020202020204" pitchFamily="34" charset="0"/>
                          <a:cs typeface="Arial" panose="020B0604020202020204" pitchFamily="34" charset="0"/>
                        </a:rPr>
                        <a:t>Dataset Used</a:t>
                      </a:r>
                      <a:endParaRPr lang="en-US" sz="1700">
                        <a:latin typeface="Arial" panose="020B0604020202020204" pitchFamily="34" charset="0"/>
                        <a:cs typeface="Arial" panose="020B0604020202020204" pitchFamily="34" charset="0"/>
                      </a:endParaRPr>
                    </a:p>
                  </a:txBody>
                  <a:tcPr anchor="ctr"/>
                </a:tc>
                <a:tc>
                  <a:txBody>
                    <a:bodyPr/>
                    <a:lstStyle/>
                    <a:p>
                      <a:r>
                        <a:rPr lang="en-US" sz="1700" b="1">
                          <a:latin typeface="Arial" panose="020B0604020202020204" pitchFamily="34" charset="0"/>
                          <a:cs typeface="Arial" panose="020B0604020202020204" pitchFamily="34" charset="0"/>
                        </a:rPr>
                        <a:t>Venue &amp; Year</a:t>
                      </a:r>
                      <a:endParaRPr lang="en-US" sz="17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81859015"/>
                  </a:ext>
                </a:extLst>
              </a:tr>
              <a:tr h="370840">
                <a:tc>
                  <a:txBody>
                    <a:bodyPr/>
                    <a:lstStyle/>
                    <a:p>
                      <a:r>
                        <a:rPr lang="en-US" sz="1700" dirty="0" err="1">
                          <a:latin typeface="Arial" panose="020B0604020202020204" pitchFamily="34" charset="0"/>
                          <a:cs typeface="Arial" panose="020B0604020202020204" pitchFamily="34" charset="0"/>
                        </a:rPr>
                        <a:t>CropAndWeed</a:t>
                      </a:r>
                      <a:r>
                        <a:rPr lang="en-US" sz="1700" dirty="0">
                          <a:latin typeface="Arial" panose="020B0604020202020204" pitchFamily="34" charset="0"/>
                          <a:cs typeface="Arial" panose="020B0604020202020204" pitchFamily="34" charset="0"/>
                        </a:rPr>
                        <a:t> Dataset: Multi‑Modal Learning for Precision Weeding</a:t>
                      </a:r>
                    </a:p>
                    <a:p>
                      <a:r>
                        <a:rPr lang="en-US" sz="1800" b="1" i="0" dirty="0">
                          <a:latin typeface="Arial" panose="020B0604020202020204" pitchFamily="34" charset="0"/>
                          <a:cs typeface="Arial" panose="020B0604020202020204" pitchFamily="34" charset="0"/>
                        </a:rPr>
                        <a:t>[5]</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dirty="0" err="1">
                          <a:latin typeface="Arial" panose="020B0604020202020204" pitchFamily="34" charset="0"/>
                          <a:cs typeface="Arial" panose="020B0604020202020204" pitchFamily="34" charset="0"/>
                        </a:rPr>
                        <a:t>Steininger</a:t>
                      </a:r>
                      <a:r>
                        <a:rPr lang="en-US" sz="1700" dirty="0">
                          <a:latin typeface="Arial" panose="020B0604020202020204" pitchFamily="34" charset="0"/>
                          <a:cs typeface="Arial" panose="020B0604020202020204" pitchFamily="34" charset="0"/>
                        </a:rPr>
                        <a:t> </a:t>
                      </a:r>
                    </a:p>
                    <a:p>
                      <a:r>
                        <a:rPr lang="en-US" sz="1700" dirty="0">
                          <a:latin typeface="Arial" panose="020B0604020202020204" pitchFamily="34" charset="0"/>
                          <a:cs typeface="Arial" panose="020B0604020202020204" pitchFamily="34" charset="0"/>
                        </a:rPr>
                        <a:t>et al.</a:t>
                      </a:r>
                    </a:p>
                  </a:txBody>
                  <a:tcPr anchor="ctr"/>
                </a:tc>
                <a:tc>
                  <a:txBody>
                    <a:bodyPr/>
                    <a:lstStyle/>
                    <a:p>
                      <a:pPr marL="285750" indent="-285750" algn="l">
                        <a:buFont typeface="Arial" panose="020B0604020202020204" pitchFamily="34" charset="0"/>
                        <a:buChar char="•"/>
                      </a:pPr>
                      <a:r>
                        <a:rPr lang="en-US" sz="1700" dirty="0">
                          <a:latin typeface="Arial" panose="020B0604020202020204" pitchFamily="34" charset="0"/>
                          <a:cs typeface="Arial" panose="020B0604020202020204" pitchFamily="34" charset="0"/>
                        </a:rPr>
                        <a:t>8 k aerial RGB images → 112 k instances.</a:t>
                      </a:r>
                    </a:p>
                    <a:p>
                      <a:pPr marL="285750" indent="-285750" algn="l">
                        <a:buFont typeface="Arial" panose="020B0604020202020204" pitchFamily="34" charset="0"/>
                        <a:buChar char="•"/>
                      </a:pPr>
                      <a:r>
                        <a:rPr lang="en-US" sz="1700" dirty="0">
                          <a:latin typeface="Arial" panose="020B0604020202020204" pitchFamily="34" charset="0"/>
                          <a:cs typeface="Arial" panose="020B0604020202020204" pitchFamily="34" charset="0"/>
                        </a:rPr>
                        <a:t>CNN detector benefits from species diversity; supports detection + segmentation.</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Drone imagery only; ground‑level viewpoint not tested.</a:t>
                      </a:r>
                    </a:p>
                  </a:txBody>
                  <a:tcPr anchor="ctr"/>
                </a:tc>
                <a:tc>
                  <a:txBody>
                    <a:bodyPr/>
                    <a:lstStyle/>
                    <a:p>
                      <a:r>
                        <a:rPr lang="en-US" sz="1700" dirty="0" err="1">
                          <a:latin typeface="Arial" panose="020B0604020202020204" pitchFamily="34" charset="0"/>
                          <a:cs typeface="Arial" panose="020B0604020202020204" pitchFamily="34" charset="0"/>
                        </a:rPr>
                        <a:t>CropAndWeed</a:t>
                      </a:r>
                      <a:r>
                        <a:rPr lang="en-US" sz="1700" dirty="0">
                          <a:latin typeface="Arial" panose="020B0604020202020204" pitchFamily="34" charset="0"/>
                          <a:cs typeface="Arial" panose="020B0604020202020204" pitchFamily="34" charset="0"/>
                        </a:rPr>
                        <a:t> (74 species, images + meta)</a:t>
                      </a:r>
                    </a:p>
                  </a:txBody>
                  <a:tcPr anchor="ctr"/>
                </a:tc>
                <a:tc>
                  <a:txBody>
                    <a:bodyPr/>
                    <a:lstStyle/>
                    <a:p>
                      <a:r>
                        <a:rPr lang="en-US" sz="1700">
                          <a:latin typeface="Arial" panose="020B0604020202020204" pitchFamily="34" charset="0"/>
                          <a:cs typeface="Arial" panose="020B0604020202020204" pitchFamily="34" charset="0"/>
                        </a:rPr>
                        <a:t>WACV 2023</a:t>
                      </a:r>
                    </a:p>
                  </a:txBody>
                  <a:tcPr anchor="ctr"/>
                </a:tc>
                <a:extLst>
                  <a:ext uri="{0D108BD9-81ED-4DB2-BD59-A6C34878D82A}">
                    <a16:rowId xmlns:a16="http://schemas.microsoft.com/office/drawing/2014/main" val="3853055720"/>
                  </a:ext>
                </a:extLst>
              </a:tr>
              <a:tr h="370840">
                <a:tc>
                  <a:txBody>
                    <a:bodyPr/>
                    <a:lstStyle/>
                    <a:p>
                      <a:r>
                        <a:rPr lang="en-US" sz="1700" dirty="0" err="1">
                          <a:latin typeface="Arial" panose="020B0604020202020204" pitchFamily="34" charset="0"/>
                          <a:cs typeface="Arial" panose="020B0604020202020204" pitchFamily="34" charset="0"/>
                        </a:rPr>
                        <a:t>iGrow</a:t>
                      </a:r>
                      <a:r>
                        <a:rPr lang="en-US" sz="1700" dirty="0">
                          <a:latin typeface="Arial" panose="020B0604020202020204" pitchFamily="34" charset="0"/>
                          <a:cs typeface="Arial" panose="020B0604020202020204" pitchFamily="34" charset="0"/>
                        </a:rPr>
                        <a:t>: Autonomous Greenhouse Control with Deep RL </a:t>
                      </a:r>
                      <a:r>
                        <a:rPr lang="en-US" sz="1800" b="1" i="0" dirty="0">
                          <a:latin typeface="Arial" panose="020B0604020202020204" pitchFamily="34" charset="0"/>
                          <a:cs typeface="Arial" panose="020B0604020202020204" pitchFamily="34" charset="0"/>
                        </a:rPr>
                        <a:t>[6]</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a:latin typeface="Arial" panose="020B0604020202020204" pitchFamily="34" charset="0"/>
                          <a:cs typeface="Arial" panose="020B0604020202020204" pitchFamily="34" charset="0"/>
                        </a:rPr>
                        <a:t>Cao et al.</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Neural “digital twin” + deep RL → +10.2 % tomato yield, +92.7 % profit vs. experts.</a:t>
                      </a:r>
                    </a:p>
                  </a:txBody>
                  <a:tcPr anchor="ctr"/>
                </a:tc>
                <a:tc>
                  <a:txBody>
                    <a:bodyPr/>
                    <a:lstStyle/>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Domain‑specific simulator requires calibration per greenhouse.</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RL </a:t>
                      </a:r>
                      <a:r>
                        <a:rPr lang="en-US" sz="1700" dirty="0" err="1">
                          <a:latin typeface="Arial" panose="020B0604020202020204" pitchFamily="34" charset="0"/>
                          <a:cs typeface="Arial" panose="020B0604020202020204" pitchFamily="34" charset="0"/>
                        </a:rPr>
                        <a:t>generalisation</a:t>
                      </a:r>
                      <a:r>
                        <a:rPr lang="en-US" sz="1700" dirty="0">
                          <a:latin typeface="Arial" panose="020B0604020202020204" pitchFamily="34" charset="0"/>
                          <a:cs typeface="Arial" panose="020B0604020202020204" pitchFamily="34" charset="0"/>
                        </a:rPr>
                        <a:t> across climates untested.</a:t>
                      </a:r>
                    </a:p>
                  </a:txBody>
                  <a:tcPr anchor="ctr"/>
                </a:tc>
                <a:tc>
                  <a:txBody>
                    <a:bodyPr/>
                    <a:lstStyle/>
                    <a:p>
                      <a:r>
                        <a:rPr lang="en-US" sz="1700" dirty="0">
                          <a:latin typeface="Arial" panose="020B0604020202020204" pitchFamily="34" charset="0"/>
                          <a:cs typeface="Arial" panose="020B0604020202020204" pitchFamily="34" charset="0"/>
                        </a:rPr>
                        <a:t>Real tomato greenhouse sensor/control logs</a:t>
                      </a:r>
                    </a:p>
                  </a:txBody>
                  <a:tcPr anchor="ctr"/>
                </a:tc>
                <a:tc>
                  <a:txBody>
                    <a:bodyPr/>
                    <a:lstStyle/>
                    <a:p>
                      <a:r>
                        <a:rPr lang="en-US" sz="1700" dirty="0">
                          <a:latin typeface="Arial" panose="020B0604020202020204" pitchFamily="34" charset="0"/>
                          <a:cs typeface="Arial" panose="020B0604020202020204" pitchFamily="34" charset="0"/>
                        </a:rPr>
                        <a:t>AAAI 2022</a:t>
                      </a:r>
                    </a:p>
                  </a:txBody>
                  <a:tcPr anchor="ctr"/>
                </a:tc>
                <a:extLst>
                  <a:ext uri="{0D108BD9-81ED-4DB2-BD59-A6C34878D82A}">
                    <a16:rowId xmlns:a16="http://schemas.microsoft.com/office/drawing/2014/main" val="3204645978"/>
                  </a:ext>
                </a:extLst>
              </a:tr>
            </a:tbl>
          </a:graphicData>
        </a:graphic>
      </p:graphicFrame>
    </p:spTree>
    <p:extLst>
      <p:ext uri="{BB962C8B-B14F-4D97-AF65-F5344CB8AC3E}">
        <p14:creationId xmlns:p14="http://schemas.microsoft.com/office/powerpoint/2010/main" val="16239123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14</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6" y="1229493"/>
            <a:ext cx="9314533" cy="307777"/>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Deep Learning Approaches in agriculture and their limitations</a:t>
            </a:r>
          </a:p>
        </p:txBody>
      </p:sp>
      <p:graphicFrame>
        <p:nvGraphicFramePr>
          <p:cNvPr id="8" name="Table 7">
            <a:extLst>
              <a:ext uri="{FF2B5EF4-FFF2-40B4-BE49-F238E27FC236}">
                <a16:creationId xmlns:a16="http://schemas.microsoft.com/office/drawing/2014/main" id="{63867485-44EA-41AC-AB93-091FDC5C2C38}"/>
              </a:ext>
            </a:extLst>
          </p:cNvPr>
          <p:cNvGraphicFramePr>
            <a:graphicFrameLocks noGrp="1"/>
          </p:cNvGraphicFramePr>
          <p:nvPr>
            <p:extLst>
              <p:ext uri="{D42A27DB-BD31-4B8C-83A1-F6EECF244321}">
                <p14:modId xmlns:p14="http://schemas.microsoft.com/office/powerpoint/2010/main" val="1736124031"/>
              </p:ext>
            </p:extLst>
          </p:nvPr>
        </p:nvGraphicFramePr>
        <p:xfrm>
          <a:off x="197343" y="1640825"/>
          <a:ext cx="11766027" cy="4988560"/>
        </p:xfrm>
        <a:graphic>
          <a:graphicData uri="http://schemas.openxmlformats.org/drawingml/2006/table">
            <a:tbl>
              <a:tblPr firstRow="1" bandRow="1">
                <a:tableStyleId>{5C22544A-7EE6-4342-B048-85BDC9FD1C3A}</a:tableStyleId>
              </a:tblPr>
              <a:tblGrid>
                <a:gridCol w="2119729">
                  <a:extLst>
                    <a:ext uri="{9D8B030D-6E8A-4147-A177-3AD203B41FA5}">
                      <a16:colId xmlns:a16="http://schemas.microsoft.com/office/drawing/2014/main" val="2652410462"/>
                    </a:ext>
                  </a:extLst>
                </a:gridCol>
                <a:gridCol w="1340528">
                  <a:extLst>
                    <a:ext uri="{9D8B030D-6E8A-4147-A177-3AD203B41FA5}">
                      <a16:colId xmlns:a16="http://schemas.microsoft.com/office/drawing/2014/main" val="2884100448"/>
                    </a:ext>
                  </a:extLst>
                </a:gridCol>
                <a:gridCol w="2485748">
                  <a:extLst>
                    <a:ext uri="{9D8B030D-6E8A-4147-A177-3AD203B41FA5}">
                      <a16:colId xmlns:a16="http://schemas.microsoft.com/office/drawing/2014/main" val="1525831412"/>
                    </a:ext>
                  </a:extLst>
                </a:gridCol>
                <a:gridCol w="2263805">
                  <a:extLst>
                    <a:ext uri="{9D8B030D-6E8A-4147-A177-3AD203B41FA5}">
                      <a16:colId xmlns:a16="http://schemas.microsoft.com/office/drawing/2014/main" val="443646888"/>
                    </a:ext>
                  </a:extLst>
                </a:gridCol>
                <a:gridCol w="1997476">
                  <a:extLst>
                    <a:ext uri="{9D8B030D-6E8A-4147-A177-3AD203B41FA5}">
                      <a16:colId xmlns:a16="http://schemas.microsoft.com/office/drawing/2014/main" val="3253827944"/>
                    </a:ext>
                  </a:extLst>
                </a:gridCol>
                <a:gridCol w="1558741">
                  <a:extLst>
                    <a:ext uri="{9D8B030D-6E8A-4147-A177-3AD203B41FA5}">
                      <a16:colId xmlns:a16="http://schemas.microsoft.com/office/drawing/2014/main" val="621755667"/>
                    </a:ext>
                  </a:extLst>
                </a:gridCol>
              </a:tblGrid>
              <a:tr h="370840">
                <a:tc>
                  <a:txBody>
                    <a:bodyPr/>
                    <a:lstStyle/>
                    <a:p>
                      <a:r>
                        <a:rPr lang="en-US" sz="1700" b="1" dirty="0">
                          <a:latin typeface="Arial" panose="020B0604020202020204" pitchFamily="34" charset="0"/>
                          <a:cs typeface="Arial" panose="020B0604020202020204" pitchFamily="34" charset="0"/>
                        </a:rPr>
                        <a:t>Paper Title</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Authors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Strengths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Weaknesses</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Dataset Used</a:t>
                      </a:r>
                      <a:endParaRPr lang="en-US" sz="1700" dirty="0">
                        <a:latin typeface="Arial" panose="020B0604020202020204" pitchFamily="34" charset="0"/>
                        <a:cs typeface="Arial" panose="020B0604020202020204" pitchFamily="34" charset="0"/>
                      </a:endParaRPr>
                    </a:p>
                  </a:txBody>
                  <a:tcPr anchor="ctr"/>
                </a:tc>
                <a:tc>
                  <a:txBody>
                    <a:bodyPr/>
                    <a:lstStyle/>
                    <a:p>
                      <a:r>
                        <a:rPr lang="en-US" sz="1700" b="1" dirty="0">
                          <a:latin typeface="Arial" panose="020B0604020202020204" pitchFamily="34" charset="0"/>
                          <a:cs typeface="Arial" panose="020B0604020202020204" pitchFamily="34" charset="0"/>
                        </a:rPr>
                        <a:t>Venue &amp; Year</a:t>
                      </a:r>
                      <a:endParaRPr lang="en-US" sz="17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81859015"/>
                  </a:ext>
                </a:extLst>
              </a:tr>
              <a:tr h="370840">
                <a:tc>
                  <a:txBody>
                    <a:bodyPr/>
                    <a:lstStyle/>
                    <a:p>
                      <a:r>
                        <a:rPr lang="en-US" sz="1500" dirty="0">
                          <a:latin typeface="Arial" panose="020B0604020202020204" pitchFamily="34" charset="0"/>
                          <a:cs typeface="Arial" panose="020B0604020202020204" pitchFamily="34" charset="0"/>
                        </a:rPr>
                        <a:t>Deep Diagnosis: Real‑time Apple Leaf Disease Detection </a:t>
                      </a:r>
                      <a:r>
                        <a:rPr lang="en-US" sz="1600" b="1" i="0" dirty="0">
                          <a:latin typeface="Arial" panose="020B0604020202020204" pitchFamily="34" charset="0"/>
                          <a:cs typeface="Arial" panose="020B0604020202020204" pitchFamily="34" charset="0"/>
                        </a:rPr>
                        <a:t>[8]</a:t>
                      </a:r>
                      <a:endParaRPr lang="en-US" sz="1500" dirty="0">
                        <a:latin typeface="Arial" panose="020B0604020202020204" pitchFamily="34" charset="0"/>
                        <a:cs typeface="Arial" panose="020B0604020202020204" pitchFamily="34" charset="0"/>
                      </a:endParaRPr>
                    </a:p>
                  </a:txBody>
                  <a:tcPr anchor="ctr"/>
                </a:tc>
                <a:tc>
                  <a:txBody>
                    <a:bodyPr/>
                    <a:lstStyle/>
                    <a:p>
                      <a:r>
                        <a:rPr lang="en-US" sz="1500" dirty="0">
                          <a:latin typeface="Arial" panose="020B0604020202020204" pitchFamily="34" charset="0"/>
                          <a:cs typeface="Arial" panose="020B0604020202020204" pitchFamily="34" charset="0"/>
                        </a:rPr>
                        <a:t>Khan et al.</a:t>
                      </a:r>
                    </a:p>
                  </a:txBody>
                  <a:tcPr anchor="ctr"/>
                </a:tc>
                <a:tc>
                  <a:txBody>
                    <a:bodyPr/>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Lightweight CNN runs in real‑time on edge devices; high accuracy on multiple apple diseases.</a:t>
                      </a:r>
                    </a:p>
                  </a:txBody>
                  <a:tcPr anchor="ctr"/>
                </a:tc>
                <a:tc>
                  <a:txBody>
                    <a:bodyPr/>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Apple‑specific; cross‑crop transferability untested.</a:t>
                      </a:r>
                    </a:p>
                  </a:txBody>
                  <a:tcPr anchor="ctr"/>
                </a:tc>
                <a:tc>
                  <a:txBody>
                    <a:bodyPr/>
                    <a:lstStyle/>
                    <a:p>
                      <a:r>
                        <a:rPr lang="en-US" sz="1500">
                          <a:latin typeface="Arial" panose="020B0604020202020204" pitchFamily="34" charset="0"/>
                          <a:cs typeface="Arial" panose="020B0604020202020204" pitchFamily="34" charset="0"/>
                        </a:rPr>
                        <a:t>Custom apple leaf image set (lab + orchard)</a:t>
                      </a:r>
                    </a:p>
                  </a:txBody>
                  <a:tcPr anchor="ctr"/>
                </a:tc>
                <a:tc>
                  <a:txBody>
                    <a:bodyPr/>
                    <a:lstStyle/>
                    <a:p>
                      <a:r>
                        <a:rPr lang="en-US" sz="1500" i="1" dirty="0">
                          <a:latin typeface="Arial" panose="020B0604020202020204" pitchFamily="34" charset="0"/>
                          <a:cs typeface="Arial" panose="020B0604020202020204" pitchFamily="34" charset="0"/>
                        </a:rPr>
                        <a:t>Computers &amp; Electronics in Agriculture</a:t>
                      </a:r>
                      <a:r>
                        <a:rPr lang="en-US" sz="1500" dirty="0">
                          <a:latin typeface="Arial" panose="020B0604020202020204" pitchFamily="34" charset="0"/>
                          <a:cs typeface="Arial" panose="020B0604020202020204" pitchFamily="34" charset="0"/>
                        </a:rPr>
                        <a:t>, 2022</a:t>
                      </a:r>
                    </a:p>
                  </a:txBody>
                  <a:tcPr anchor="ctr"/>
                </a:tc>
                <a:extLst>
                  <a:ext uri="{0D108BD9-81ED-4DB2-BD59-A6C34878D82A}">
                    <a16:rowId xmlns:a16="http://schemas.microsoft.com/office/drawing/2014/main" val="3853055720"/>
                  </a:ext>
                </a:extLst>
              </a:tr>
              <a:tr h="370840">
                <a:tc>
                  <a:txBody>
                    <a:bodyPr/>
                    <a:lstStyle/>
                    <a:p>
                      <a:r>
                        <a:rPr lang="en-US" sz="1500" dirty="0">
                          <a:latin typeface="Arial" panose="020B0604020202020204" pitchFamily="34" charset="0"/>
                          <a:cs typeface="Arial" panose="020B0604020202020204" pitchFamily="34" charset="0"/>
                        </a:rPr>
                        <a:t>Augmentation Invariance &amp; Adaptive Sampling for Aerial Segmentation </a:t>
                      </a:r>
                      <a:r>
                        <a:rPr lang="en-US" sz="1600" b="1" i="0" dirty="0">
                          <a:latin typeface="Arial" panose="020B0604020202020204" pitchFamily="34" charset="0"/>
                          <a:cs typeface="Arial" panose="020B0604020202020204" pitchFamily="34" charset="0"/>
                        </a:rPr>
                        <a:t>[9]</a:t>
                      </a:r>
                      <a:endParaRPr lang="en-US" sz="1500" dirty="0">
                        <a:latin typeface="Arial" panose="020B0604020202020204" pitchFamily="34" charset="0"/>
                        <a:cs typeface="Arial" panose="020B0604020202020204" pitchFamily="34" charset="0"/>
                      </a:endParaRPr>
                    </a:p>
                  </a:txBody>
                  <a:tcPr anchor="ctr"/>
                </a:tc>
                <a:tc>
                  <a:txBody>
                    <a:bodyPr/>
                    <a:lstStyle/>
                    <a:p>
                      <a:r>
                        <a:rPr lang="en-US" sz="1500" dirty="0">
                          <a:latin typeface="Arial" panose="020B0604020202020204" pitchFamily="34" charset="0"/>
                          <a:cs typeface="Arial" panose="020B0604020202020204" pitchFamily="34" charset="0"/>
                        </a:rPr>
                        <a:t>Tavera et al.</a:t>
                      </a:r>
                    </a:p>
                  </a:txBody>
                  <a:tcPr anchor="ctr"/>
                </a:tc>
                <a:tc>
                  <a:txBody>
                    <a:bodyPr/>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Consistency loss + adaptive sampling ↑ </a:t>
                      </a:r>
                      <a:r>
                        <a:rPr lang="en-US" sz="1500" dirty="0" err="1">
                          <a:latin typeface="Arial" panose="020B0604020202020204" pitchFamily="34" charset="0"/>
                          <a:cs typeface="Arial" panose="020B0604020202020204" pitchFamily="34" charset="0"/>
                        </a:rPr>
                        <a:t>mIoU</a:t>
                      </a:r>
                      <a:r>
                        <a:rPr lang="en-US" sz="1500" dirty="0">
                          <a:latin typeface="Arial" panose="020B0604020202020204" pitchFamily="34" charset="0"/>
                          <a:cs typeface="Arial" panose="020B0604020202020204" pitchFamily="34" charset="0"/>
                        </a:rPr>
                        <a:t> on Agriculture‑Vision.</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Robust to rotations/lighting changes.</a:t>
                      </a:r>
                    </a:p>
                  </a:txBody>
                  <a:tcPr anchor="ctr"/>
                </a:tc>
                <a:tc>
                  <a:txBody>
                    <a:bodyPr/>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Benefits diminish on ground imagery.</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Adds training complexity.</a:t>
                      </a:r>
                    </a:p>
                  </a:txBody>
                  <a:tcPr anchor="ctr"/>
                </a:tc>
                <a:tc>
                  <a:txBody>
                    <a:bodyPr/>
                    <a:lstStyle/>
                    <a:p>
                      <a:r>
                        <a:rPr lang="fr-FR" sz="1500" dirty="0">
                          <a:latin typeface="Arial" panose="020B0604020202020204" pitchFamily="34" charset="0"/>
                          <a:cs typeface="Arial" panose="020B0604020202020204" pitchFamily="34" charset="0"/>
                        </a:rPr>
                        <a:t>Agriculture‑Vision (</a:t>
                      </a:r>
                      <a:r>
                        <a:rPr lang="fr-FR" sz="1500" dirty="0" err="1">
                          <a:latin typeface="Arial" panose="020B0604020202020204" pitchFamily="34" charset="0"/>
                          <a:cs typeface="Arial" panose="020B0604020202020204" pitchFamily="34" charset="0"/>
                        </a:rPr>
                        <a:t>aerial</a:t>
                      </a:r>
                      <a:r>
                        <a:rPr lang="fr-FR" sz="1500" dirty="0">
                          <a:latin typeface="Arial" panose="020B0604020202020204" pitchFamily="34" charset="0"/>
                          <a:cs typeface="Arial" panose="020B0604020202020204" pitchFamily="34" charset="0"/>
                        </a:rPr>
                        <a:t> RGB‑NIR)</a:t>
                      </a:r>
                    </a:p>
                  </a:txBody>
                  <a:tcPr anchor="ctr"/>
                </a:tc>
                <a:tc>
                  <a:txBody>
                    <a:bodyPr/>
                    <a:lstStyle/>
                    <a:p>
                      <a:r>
                        <a:rPr lang="en-US" sz="1500" dirty="0">
                          <a:latin typeface="Arial" panose="020B0604020202020204" pitchFamily="34" charset="0"/>
                          <a:cs typeface="Arial" panose="020B0604020202020204" pitchFamily="34" charset="0"/>
                        </a:rPr>
                        <a:t>CVPR </a:t>
                      </a:r>
                    </a:p>
                    <a:p>
                      <a:r>
                        <a:rPr lang="en-US" sz="1500" dirty="0">
                          <a:latin typeface="Arial" panose="020B0604020202020204" pitchFamily="34" charset="0"/>
                          <a:cs typeface="Arial" panose="020B0604020202020204" pitchFamily="34" charset="0"/>
                        </a:rPr>
                        <a:t>Workshops </a:t>
                      </a:r>
                    </a:p>
                    <a:p>
                      <a:r>
                        <a:rPr lang="en-US" sz="1500" dirty="0">
                          <a:latin typeface="Arial" panose="020B0604020202020204" pitchFamily="34" charset="0"/>
                          <a:cs typeface="Arial" panose="020B0604020202020204" pitchFamily="34" charset="0"/>
                        </a:rPr>
                        <a:t>2022</a:t>
                      </a:r>
                    </a:p>
                  </a:txBody>
                  <a:tcPr anchor="ctr"/>
                </a:tc>
                <a:extLst>
                  <a:ext uri="{0D108BD9-81ED-4DB2-BD59-A6C34878D82A}">
                    <a16:rowId xmlns:a16="http://schemas.microsoft.com/office/drawing/2014/main" val="3204645978"/>
                  </a:ext>
                </a:extLst>
              </a:tr>
              <a:tr h="370840">
                <a:tc>
                  <a:txBody>
                    <a:bodyPr/>
                    <a:lstStyle/>
                    <a:p>
                      <a:r>
                        <a:rPr lang="en-US" sz="1500" dirty="0">
                          <a:latin typeface="Arial" panose="020B0604020202020204" pitchFamily="34" charset="0"/>
                          <a:cs typeface="Arial" panose="020B0604020202020204" pitchFamily="34" charset="0"/>
                        </a:rPr>
                        <a:t>Utilizing </a:t>
                      </a:r>
                    </a:p>
                    <a:p>
                      <a:r>
                        <a:rPr lang="en-US" sz="1500" dirty="0">
                          <a:latin typeface="Arial" panose="020B0604020202020204" pitchFamily="34" charset="0"/>
                          <a:cs typeface="Arial" panose="020B0604020202020204" pitchFamily="34" charset="0"/>
                        </a:rPr>
                        <a:t>Vision‑Language Models for Detection of Leaf‑Based Diseases in Tomatoes </a:t>
                      </a:r>
                      <a:r>
                        <a:rPr lang="en-US" sz="1600" b="1" i="0" dirty="0">
                          <a:latin typeface="Arial" panose="020B0604020202020204" pitchFamily="34" charset="0"/>
                          <a:cs typeface="Arial" panose="020B0604020202020204" pitchFamily="34" charset="0"/>
                        </a:rPr>
                        <a:t>[10]</a:t>
                      </a:r>
                      <a:endParaRPr lang="en-US" sz="1500" dirty="0">
                        <a:latin typeface="Arial" panose="020B0604020202020204" pitchFamily="34" charset="0"/>
                        <a:cs typeface="Arial" panose="020B0604020202020204" pitchFamily="34" charset="0"/>
                      </a:endParaRPr>
                    </a:p>
                  </a:txBody>
                  <a:tcPr anchor="ctr"/>
                </a:tc>
                <a:tc>
                  <a:txBody>
                    <a:bodyPr/>
                    <a:lstStyle/>
                    <a:p>
                      <a:r>
                        <a:rPr lang="en-US" sz="1500" dirty="0">
                          <a:latin typeface="Arial" panose="020B0604020202020204" pitchFamily="34" charset="0"/>
                          <a:cs typeface="Arial" panose="020B0604020202020204" pitchFamily="34" charset="0"/>
                        </a:rPr>
                        <a:t>James B. </a:t>
                      </a:r>
                    </a:p>
                    <a:p>
                      <a:r>
                        <a:rPr lang="en-US" sz="1500" dirty="0" err="1">
                          <a:latin typeface="Arial" panose="020B0604020202020204" pitchFamily="34" charset="0"/>
                          <a:cs typeface="Arial" panose="020B0604020202020204" pitchFamily="34" charset="0"/>
                        </a:rPr>
                        <a:t>Eleojo</a:t>
                      </a:r>
                      <a:endParaRPr lang="en-US" sz="1500" dirty="0">
                        <a:latin typeface="Arial" panose="020B0604020202020204" pitchFamily="34" charset="0"/>
                        <a:cs typeface="Arial" panose="020B0604020202020204" pitchFamily="34" charset="0"/>
                      </a:endParaRPr>
                    </a:p>
                  </a:txBody>
                  <a:tcPr anchor="ctr"/>
                </a:tc>
                <a:tc>
                  <a:txBody>
                    <a:bodyPr/>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Leverages a pre‑trained vision‑language model → strong few‑shot </a:t>
                      </a:r>
                      <a:r>
                        <a:rPr lang="en-US" sz="1500" dirty="0" err="1">
                          <a:latin typeface="Arial" panose="020B0604020202020204" pitchFamily="34" charset="0"/>
                          <a:cs typeface="Arial" panose="020B0604020202020204" pitchFamily="34" charset="0"/>
                        </a:rPr>
                        <a:t>generalisation</a:t>
                      </a:r>
                      <a:endParaRPr lang="en-US" sz="15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Achieved </a:t>
                      </a:r>
                      <a:r>
                        <a:rPr lang="en-US" sz="1500" b="1" dirty="0">
                          <a:latin typeface="Arial" panose="020B0604020202020204" pitchFamily="34" charset="0"/>
                          <a:cs typeface="Arial" panose="020B0604020202020204" pitchFamily="34" charset="0"/>
                        </a:rPr>
                        <a:t>F1 ≈ 0.94</a:t>
                      </a:r>
                      <a:r>
                        <a:rPr lang="en-US" sz="1500" dirty="0">
                          <a:latin typeface="Arial" panose="020B0604020202020204" pitchFamily="34" charset="0"/>
                          <a:cs typeface="Arial" panose="020B0604020202020204" pitchFamily="34" charset="0"/>
                        </a:rPr>
                        <a:t> on field‑captured leaves</a:t>
                      </a:r>
                    </a:p>
                  </a:txBody>
                  <a:tcPr anchor="ctr"/>
                </a:tc>
                <a:tc>
                  <a:txBody>
                    <a:bodyPr/>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Compute‑heavy (VLM fine‑tuning)</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Trained on tomato only → limited crop transferability</a:t>
                      </a:r>
                    </a:p>
                  </a:txBody>
                  <a:tcPr anchor="ctr"/>
                </a:tc>
                <a:tc>
                  <a:txBody>
                    <a:bodyPr/>
                    <a:lstStyle/>
                    <a:p>
                      <a:r>
                        <a:rPr lang="en-US" sz="1500" dirty="0">
                          <a:latin typeface="Arial" panose="020B0604020202020204" pitchFamily="34" charset="0"/>
                          <a:cs typeface="Arial" panose="020B0604020202020204" pitchFamily="34" charset="0"/>
                        </a:rPr>
                        <a:t>12 k labelled tomato‑leaf images (greenhouse + </a:t>
                      </a:r>
                    </a:p>
                    <a:p>
                      <a:r>
                        <a:rPr lang="en-US" sz="1500" dirty="0">
                          <a:latin typeface="Arial" panose="020B0604020202020204" pitchFamily="34" charset="0"/>
                          <a:cs typeface="Arial" panose="020B0604020202020204" pitchFamily="34" charset="0"/>
                        </a:rPr>
                        <a:t>field)</a:t>
                      </a:r>
                    </a:p>
                  </a:txBody>
                  <a:tcPr anchor="ctr"/>
                </a:tc>
                <a:tc>
                  <a:txBody>
                    <a:bodyPr/>
                    <a:lstStyle/>
                    <a:p>
                      <a:r>
                        <a:rPr lang="en-US" sz="1500" dirty="0">
                          <a:latin typeface="Arial" panose="020B0604020202020204" pitchFamily="34" charset="0"/>
                          <a:cs typeface="Arial" panose="020B0604020202020204" pitchFamily="34" charset="0"/>
                        </a:rPr>
                        <a:t>AAAI 2025 (AI for Social </a:t>
                      </a:r>
                    </a:p>
                    <a:p>
                      <a:r>
                        <a:rPr lang="en-US" sz="1500" dirty="0">
                          <a:latin typeface="Arial" panose="020B0604020202020204" pitchFamily="34" charset="0"/>
                          <a:cs typeface="Arial" panose="020B0604020202020204" pitchFamily="34" charset="0"/>
                        </a:rPr>
                        <a:t>Impact)</a:t>
                      </a:r>
                    </a:p>
                  </a:txBody>
                  <a:tcPr anchor="ctr"/>
                </a:tc>
                <a:extLst>
                  <a:ext uri="{0D108BD9-81ED-4DB2-BD59-A6C34878D82A}">
                    <a16:rowId xmlns:a16="http://schemas.microsoft.com/office/drawing/2014/main" val="1744746354"/>
                  </a:ext>
                </a:extLst>
              </a:tr>
            </a:tbl>
          </a:graphicData>
        </a:graphic>
      </p:graphicFrame>
    </p:spTree>
    <p:extLst>
      <p:ext uri="{BB962C8B-B14F-4D97-AF65-F5344CB8AC3E}">
        <p14:creationId xmlns:p14="http://schemas.microsoft.com/office/powerpoint/2010/main" val="11387028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15</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6" y="1229493"/>
            <a:ext cx="9314533" cy="307777"/>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Why Reinforcement Learning for Agriculture ?</a:t>
            </a:r>
          </a:p>
        </p:txBody>
      </p:sp>
      <p:pic>
        <p:nvPicPr>
          <p:cNvPr id="9" name="Picture 8">
            <a:extLst>
              <a:ext uri="{FF2B5EF4-FFF2-40B4-BE49-F238E27FC236}">
                <a16:creationId xmlns:a16="http://schemas.microsoft.com/office/drawing/2014/main" id="{88D0E438-8E3A-4B68-828D-18EA105968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7181" y="1641997"/>
            <a:ext cx="5688209" cy="5030510"/>
          </a:xfrm>
          <a:prstGeom prst="rect">
            <a:avLst/>
          </a:prstGeom>
        </p:spPr>
      </p:pic>
      <p:sp>
        <p:nvSpPr>
          <p:cNvPr id="3" name="Rectangle 2">
            <a:extLst>
              <a:ext uri="{FF2B5EF4-FFF2-40B4-BE49-F238E27FC236}">
                <a16:creationId xmlns:a16="http://schemas.microsoft.com/office/drawing/2014/main" id="{1B6027B8-EEC3-461F-8E9F-4EAFFB8FFC77}"/>
              </a:ext>
            </a:extLst>
          </p:cNvPr>
          <p:cNvSpPr/>
          <p:nvPr/>
        </p:nvSpPr>
        <p:spPr>
          <a:xfrm>
            <a:off x="796610" y="1707834"/>
            <a:ext cx="4361316" cy="4247317"/>
          </a:xfrm>
          <a:prstGeom prst="rect">
            <a:avLst/>
          </a:prstGeom>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Interactive learning</a:t>
            </a:r>
            <a:r>
              <a:rPr lang="en-US" dirty="0">
                <a:latin typeface="Arial" panose="020B0604020202020204" pitchFamily="34" charset="0"/>
                <a:cs typeface="Arial" panose="020B0604020202020204" pitchFamily="34" charset="0"/>
              </a:rPr>
              <a:t> – agent explores crop/soil climate environment through trial-and-error and continuously improves its policy</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Sequential decision-making (MDP)</a:t>
            </a:r>
            <a:r>
              <a:rPr lang="en-US" dirty="0">
                <a:latin typeface="Arial" panose="020B0604020202020204" pitchFamily="34" charset="0"/>
                <a:cs typeface="Arial" panose="020B0604020202020204" pitchFamily="34" charset="0"/>
              </a:rPr>
              <a:t> – models season-long input choices as a Markov Decision Process to maximize long-term reward (yield − cost)</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Real-time adaptation</a:t>
            </a:r>
            <a:r>
              <a:rPr lang="en-US" dirty="0">
                <a:latin typeface="Arial" panose="020B0604020202020204" pitchFamily="34" charset="0"/>
                <a:cs typeface="Arial" panose="020B0604020202020204" pitchFamily="34" charset="0"/>
              </a:rPr>
              <a:t> – dynamically adjusts fertilizer, irrigation, and sowing under weather and pest uncertainty using feedback</a:t>
            </a:r>
          </a:p>
        </p:txBody>
      </p:sp>
    </p:spTree>
    <p:extLst>
      <p:ext uri="{BB962C8B-B14F-4D97-AF65-F5344CB8AC3E}">
        <p14:creationId xmlns:p14="http://schemas.microsoft.com/office/powerpoint/2010/main" val="161368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16</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506036" y="1229493"/>
            <a:ext cx="9314533" cy="307777"/>
          </a:xfrm>
          <a:prstGeom prst="rect">
            <a:avLst/>
          </a:prstGeom>
        </p:spPr>
        <p:txBody>
          <a:bodyPr wrap="square" lIns="0" tIns="0" rIns="0" bIns="0" rtlCol="0" anchor="t">
            <a:spAutoFit/>
          </a:bodyPr>
          <a:lstStyle/>
          <a:p>
            <a:pPr algn="ctr"/>
            <a:r>
              <a:rPr lang="en-US" sz="2000" b="1" dirty="0">
                <a:solidFill>
                  <a:srgbClr val="04487A"/>
                </a:solidFill>
                <a:latin typeface="Arial" panose="020B0604020202020204" pitchFamily="34" charset="0"/>
                <a:cs typeface="Arial" panose="020B0604020202020204" pitchFamily="34" charset="0"/>
              </a:rPr>
              <a:t>Why Reinforcement Learning for Agriculture ?</a:t>
            </a:r>
          </a:p>
        </p:txBody>
      </p:sp>
      <p:sp>
        <p:nvSpPr>
          <p:cNvPr id="10" name="Rectangle 9">
            <a:extLst>
              <a:ext uri="{FF2B5EF4-FFF2-40B4-BE49-F238E27FC236}">
                <a16:creationId xmlns:a16="http://schemas.microsoft.com/office/drawing/2014/main" id="{6249CA6E-4CFE-4A01-89D2-7B39906CB0AA}"/>
              </a:ext>
            </a:extLst>
          </p:cNvPr>
          <p:cNvSpPr/>
          <p:nvPr/>
        </p:nvSpPr>
        <p:spPr>
          <a:xfrm>
            <a:off x="851689" y="1723000"/>
            <a:ext cx="6673974" cy="4611519"/>
          </a:xfrm>
          <a:prstGeom prst="rect">
            <a:avLst/>
          </a:prstGeom>
        </p:spPr>
        <p:txBody>
          <a:bodyPr wrap="square">
            <a:spAutoFit/>
          </a:bodyPr>
          <a:lstStyle/>
          <a:p>
            <a:pPr>
              <a:lnSpc>
                <a:spcPct val="150000"/>
              </a:lnSpc>
            </a:pPr>
            <a:r>
              <a:rPr lang="en-US" dirty="0">
                <a:latin typeface="Arial" panose="020B0604020202020204" pitchFamily="34" charset="0"/>
                <a:cs typeface="Arial" panose="020B0604020202020204" pitchFamily="34" charset="0"/>
              </a:rPr>
              <a:t>Reinforcement learning loop: </a:t>
            </a:r>
          </a:p>
          <a:p>
            <a:pPr>
              <a:lnSpc>
                <a:spcPct val="150000"/>
              </a:lnSpc>
            </a:pPr>
            <a:r>
              <a:rPr lang="en-US" dirty="0">
                <a:latin typeface="Arial" panose="020B0604020202020204" pitchFamily="34" charset="0"/>
                <a:cs typeface="Arial" panose="020B0604020202020204" pitchFamily="34" charset="0"/>
              </a:rPr>
              <a:t>The agent interacts with the environment, receiving observations and rewards. </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AN AGENT </a:t>
            </a:r>
            <a:r>
              <a:rPr lang="en-US" dirty="0">
                <a:latin typeface="Arial" panose="020B0604020202020204" pitchFamily="34" charset="0"/>
                <a:cs typeface="Arial" panose="020B0604020202020204" pitchFamily="34" charset="0"/>
              </a:rPr>
              <a:t>(think of it as an AI farmer) observes the environment (the farm simulation) and decides on an action (e.g. how much to irrigate or fertilize).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ENVIRONMENT</a:t>
            </a:r>
            <a:r>
              <a:rPr lang="en-US" dirty="0">
                <a:latin typeface="Arial" panose="020B0604020202020204" pitchFamily="34" charset="0"/>
                <a:cs typeface="Arial" panose="020B0604020202020204" pitchFamily="34" charset="0"/>
              </a:rPr>
              <a:t> then updates the crop growth and returns a reward (a score) and a new state back to the agent.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This </a:t>
            </a:r>
            <a:r>
              <a:rPr lang="en-US" b="1" dirty="0">
                <a:latin typeface="Arial" panose="020B0604020202020204" pitchFamily="34" charset="0"/>
                <a:cs typeface="Arial" panose="020B0604020202020204" pitchFamily="34" charset="0"/>
              </a:rPr>
              <a:t>LOOP REPEATS OVER TIME</a:t>
            </a:r>
            <a:r>
              <a:rPr lang="en-US" dirty="0">
                <a:latin typeface="Arial" panose="020B0604020202020204" pitchFamily="34" charset="0"/>
                <a:cs typeface="Arial" panose="020B0604020202020204" pitchFamily="34" charset="0"/>
              </a:rPr>
              <a:t>, and the agent’s goal is to learn a policy that maximizes the cumulative reward (for example, high crop yield minus input costs)</a:t>
            </a:r>
            <a:endParaRPr lang="en-PK" dirty="0">
              <a:latin typeface="Arial" panose="020B0604020202020204" pitchFamily="34" charset="0"/>
              <a:cs typeface="Arial" panose="020B0604020202020204" pitchFamily="34" charset="0"/>
            </a:endParaRPr>
          </a:p>
        </p:txBody>
      </p:sp>
      <p:pic>
        <p:nvPicPr>
          <p:cNvPr id="11" name="Picture 2" descr="Reinforcement Learning ...">
            <a:extLst>
              <a:ext uri="{FF2B5EF4-FFF2-40B4-BE49-F238E27FC236}">
                <a16:creationId xmlns:a16="http://schemas.microsoft.com/office/drawing/2014/main" id="{012CF348-9E92-4ABA-9DC5-EB426BD5AA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4338" y="2961188"/>
            <a:ext cx="3944644" cy="1827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942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17</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691091" y="1229493"/>
            <a:ext cx="8809816" cy="615553"/>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RL PAPER 1 : </a:t>
            </a:r>
            <a:r>
              <a:rPr lang="en-US" sz="2000" b="1" dirty="0" err="1">
                <a:solidFill>
                  <a:srgbClr val="04487A"/>
                </a:solidFill>
                <a:latin typeface="Arial" panose="020B0604020202020204" pitchFamily="34" charset="0"/>
                <a:cs typeface="Arial" panose="020B0604020202020204" pitchFamily="34" charset="0"/>
              </a:rPr>
              <a:t>CropGym</a:t>
            </a:r>
            <a:r>
              <a:rPr lang="en-US" sz="2000" b="1" dirty="0">
                <a:solidFill>
                  <a:srgbClr val="04487A"/>
                </a:solidFill>
                <a:latin typeface="Arial" panose="020B0604020202020204" pitchFamily="34" charset="0"/>
                <a:cs typeface="Arial" panose="020B0604020202020204" pitchFamily="34" charset="0"/>
              </a:rPr>
              <a:t>: a Reinforcement Learning Environment for Crop Management </a:t>
            </a:r>
            <a:r>
              <a:rPr lang="en-US" sz="1600" b="1" dirty="0">
                <a:solidFill>
                  <a:srgbClr val="04487A"/>
                </a:solidFill>
                <a:latin typeface="Arial" panose="020B0604020202020204" pitchFamily="34" charset="0"/>
                <a:cs typeface="Arial" panose="020B0604020202020204" pitchFamily="34" charset="0"/>
              </a:rPr>
              <a:t>(Environmental Data Science by Cambridge University Press)</a:t>
            </a:r>
            <a:endParaRPr lang="en-US" sz="2000" b="1" dirty="0">
              <a:solidFill>
                <a:srgbClr val="04487A"/>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30A25CE-BC70-4B4D-8D6F-1D16810EC592}"/>
                  </a:ext>
                </a:extLst>
              </p:cNvPr>
              <p:cNvSpPr/>
              <p:nvPr/>
            </p:nvSpPr>
            <p:spPr>
              <a:xfrm>
                <a:off x="561789" y="1950887"/>
                <a:ext cx="11068420" cy="4832670"/>
              </a:xfrm>
              <a:prstGeom prst="rect">
                <a:avLst/>
              </a:prstGeom>
            </p:spPr>
            <p:txBody>
              <a:bodyPr wrap="square" numCol="2">
                <a:spAutoFit/>
              </a:bodyPr>
              <a:lstStyle/>
              <a:p>
                <a:pPr marL="285750" indent="-285750">
                  <a:lnSpc>
                    <a:spcPct val="150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Model Foundation:</a:t>
                </a:r>
                <a:r>
                  <a:rPr lang="en-US" sz="1700" dirty="0">
                    <a:latin typeface="Arial" panose="020B0604020202020204" pitchFamily="34" charset="0"/>
                    <a:cs typeface="Arial" panose="020B0604020202020204" pitchFamily="34" charset="0"/>
                  </a:rPr>
                  <a:t> LINTUL-3 winter wheat module (light-use efficiency based)</a:t>
                </a:r>
              </a:p>
              <a:p>
                <a:pPr marL="285750"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State Representation (18-dimensional)</a:t>
                </a:r>
              </a:p>
              <a:p>
                <a:pPr marL="1200150" lvl="2"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Development stage, Leaf area index, Total biomass (kg/ha), Available soil nitrogen</a:t>
                </a:r>
              </a:p>
              <a:p>
                <a:pPr marL="1200150" lvl="2"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Environmental Context : Temperature, Rainfall, Solar radiation, 5-day aggregated summaries</a:t>
                </a:r>
              </a:p>
              <a:p>
                <a:pPr marL="1200150" lvl="2"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Management Tracking : Recent Fertilization/ Irrigation Flags</a:t>
                </a:r>
              </a:p>
              <a:p>
                <a:pPr marL="1200150" lvl="2"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Action Space : </a:t>
                </a:r>
                <a:r>
                  <a:rPr lang="en-US" sz="1700" dirty="0">
                    <a:latin typeface="Arial" panose="020B0604020202020204" pitchFamily="34" charset="0"/>
                    <a:cs typeface="Arial" panose="020B0604020202020204" pitchFamily="34" charset="0"/>
                  </a:rPr>
                  <a:t>Agent applies nitrogen fertilizer at 5-day intervals based on observed state</a:t>
                </a:r>
              </a:p>
              <a:p>
                <a:pPr marL="742950" lvl="1"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Optimization Framework</a:t>
                </a:r>
              </a:p>
              <a:p>
                <a:pPr marL="1200150" lvl="2" indent="-285750">
                  <a:lnSpc>
                    <a:spcPct val="150000"/>
                  </a:lnSpc>
                  <a:spcAft>
                    <a:spcPts val="1000"/>
                  </a:spcAft>
                  <a:buFont typeface="Arial" panose="020B0604020202020204" pitchFamily="34" charset="0"/>
                  <a:buChar char="•"/>
                </a:pPr>
                <a14:m>
                  <m:oMath xmlns:m="http://schemas.openxmlformats.org/officeDocument/2006/math">
                    <m:sSub>
                      <m:sSub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𝑠𝑜</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𝑠𝑜</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num>
                      <m:den>
                        <m:sSubSup>
                          <m:sSubSup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𝑠𝑜</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up>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bSup>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Sup>
                          <m:sSubSup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𝑠𝑜</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bSup>
                      </m:den>
                    </m:f>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sSub>
                      <m:sSubPr>
                        <m:ctrlPr>
                          <a:rPr lang="en-PK"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𝑓𝑒𝑟𝑡</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oMath>
                </a14:m>
                <a:endParaRPr lang="en-US" sz="1700" dirty="0">
                  <a:latin typeface="Arial" panose="020B0604020202020204" pitchFamily="34" charset="0"/>
                  <a:ea typeface="MS Mincho" panose="02020609040205080304" pitchFamily="49" charset="-128"/>
                  <a:cs typeface="Arial" panose="020B0604020202020204" pitchFamily="34" charset="0"/>
                </a:endParaRPr>
              </a:p>
              <a:p>
                <a:pPr marL="1200150" lvl="2" indent="-285750">
                  <a:lnSpc>
                    <a:spcPct val="150000"/>
                  </a:lnSpc>
                  <a:spcAft>
                    <a:spcPts val="1000"/>
                  </a:spcAft>
                  <a:buFont typeface="Arial" panose="020B0604020202020204" pitchFamily="34" charset="0"/>
                  <a:buChar char="•"/>
                </a:pPr>
                <a:r>
                  <a:rPr lang="en-US" sz="1700" dirty="0">
                    <a:latin typeface="Arial" panose="020B0604020202020204" pitchFamily="34" charset="0"/>
                    <a:ea typeface="MS Mincho" panose="02020609040205080304" pitchFamily="49" charset="-128"/>
                    <a:cs typeface="Arial" panose="020B0604020202020204" pitchFamily="34" charset="0"/>
                  </a:rPr>
                  <a:t>The reward balances crop yield improvement against fertilizer cost, where β controls the economic-environmental trade-off (β=1 for profit, β&gt;1 for sustainability).</a:t>
                </a:r>
                <a:endParaRPr lang="en-PK" sz="1700" dirty="0">
                  <a:latin typeface="Arial" panose="020B0604020202020204" pitchFamily="34" charset="0"/>
                  <a:ea typeface="MS Mincho" panose="02020609040205080304" pitchFamily="49" charset="-128"/>
                  <a:cs typeface="Arial" panose="020B0604020202020204" pitchFamily="34" charset="0"/>
                </a:endParaRPr>
              </a:p>
            </p:txBody>
          </p:sp>
        </mc:Choice>
        <mc:Fallback xmlns="">
          <p:sp>
            <p:nvSpPr>
              <p:cNvPr id="9" name="Rectangle 8">
                <a:extLst>
                  <a:ext uri="{FF2B5EF4-FFF2-40B4-BE49-F238E27FC236}">
                    <a16:creationId xmlns:a16="http://schemas.microsoft.com/office/drawing/2014/main" id="{B30A25CE-BC70-4B4D-8D6F-1D16810EC592}"/>
                  </a:ext>
                </a:extLst>
              </p:cNvPr>
              <p:cNvSpPr>
                <a:spLocks noRot="1" noChangeAspect="1" noMove="1" noResize="1" noEditPoints="1" noAdjustHandles="1" noChangeArrowheads="1" noChangeShapeType="1" noTextEdit="1"/>
              </p:cNvSpPr>
              <p:nvPr/>
            </p:nvSpPr>
            <p:spPr>
              <a:xfrm>
                <a:off x="561789" y="1950887"/>
                <a:ext cx="11068420" cy="4832670"/>
              </a:xfrm>
              <a:prstGeom prst="rect">
                <a:avLst/>
              </a:prstGeom>
              <a:blipFill>
                <a:blip r:embed="rId4"/>
                <a:stretch>
                  <a:fillRect l="-275" r="-330"/>
                </a:stretch>
              </a:blipFill>
            </p:spPr>
            <p:txBody>
              <a:bodyPr/>
              <a:lstStyle/>
              <a:p>
                <a:r>
                  <a:rPr lang="en-PK">
                    <a:noFill/>
                  </a:rPr>
                  <a:t> </a:t>
                </a:r>
              </a:p>
            </p:txBody>
          </p:sp>
        </mc:Fallback>
      </mc:AlternateContent>
    </p:spTree>
    <p:extLst>
      <p:ext uri="{BB962C8B-B14F-4D97-AF65-F5344CB8AC3E}">
        <p14:creationId xmlns:p14="http://schemas.microsoft.com/office/powerpoint/2010/main" val="32300144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18</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691091" y="1229493"/>
            <a:ext cx="9129478" cy="615553"/>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RL PAPER 2 : Gym-DSSAT: a crop model turned into a Reinforcement Learning environment </a:t>
            </a:r>
            <a:r>
              <a:rPr lang="en-US" sz="1600" b="1" dirty="0">
                <a:solidFill>
                  <a:srgbClr val="04487A"/>
                </a:solidFill>
                <a:latin typeface="Arial" panose="020B0604020202020204" pitchFamily="34" charset="0"/>
                <a:cs typeface="Arial" panose="020B0604020202020204" pitchFamily="34" charset="0"/>
              </a:rPr>
              <a:t>(Research Report N° 9460 by </a:t>
            </a:r>
            <a:r>
              <a:rPr lang="en-US" sz="1600" b="1" dirty="0" err="1">
                <a:solidFill>
                  <a:srgbClr val="04487A"/>
                </a:solidFill>
                <a:latin typeface="Arial" panose="020B0604020202020204" pitchFamily="34" charset="0"/>
                <a:cs typeface="Arial" panose="020B0604020202020204" pitchFamily="34" charset="0"/>
              </a:rPr>
              <a:t>Inria</a:t>
            </a:r>
            <a:r>
              <a:rPr lang="en-US" sz="1600" b="1" dirty="0">
                <a:solidFill>
                  <a:srgbClr val="04487A"/>
                </a:solidFill>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8FCEF3D1-3417-4FAE-9B10-FC7CD8EF1AE3}"/>
              </a:ext>
            </a:extLst>
          </p:cNvPr>
          <p:cNvPicPr>
            <a:picLocks noChangeAspect="1"/>
          </p:cNvPicPr>
          <p:nvPr/>
        </p:nvPicPr>
        <p:blipFill>
          <a:blip r:embed="rId4"/>
          <a:stretch>
            <a:fillRect/>
          </a:stretch>
        </p:blipFill>
        <p:spPr>
          <a:xfrm>
            <a:off x="6392888" y="1856775"/>
            <a:ext cx="5577323" cy="2878861"/>
          </a:xfrm>
          <a:prstGeom prst="rect">
            <a:avLst/>
          </a:prstGeom>
        </p:spPr>
      </p:pic>
      <p:sp>
        <p:nvSpPr>
          <p:cNvPr id="3" name="Rectangle 2">
            <a:extLst>
              <a:ext uri="{FF2B5EF4-FFF2-40B4-BE49-F238E27FC236}">
                <a16:creationId xmlns:a16="http://schemas.microsoft.com/office/drawing/2014/main" id="{E537DA1C-D892-43D5-AFFB-6DEFA90A4FF8}"/>
              </a:ext>
            </a:extLst>
          </p:cNvPr>
          <p:cNvSpPr/>
          <p:nvPr/>
        </p:nvSpPr>
        <p:spPr>
          <a:xfrm>
            <a:off x="554800" y="2015610"/>
            <a:ext cx="5541199" cy="3908762"/>
          </a:xfrm>
          <a:prstGeom prst="rect">
            <a:avLst/>
          </a:prstGeom>
        </p:spPr>
        <p:txBody>
          <a:bodyPr wrap="square">
            <a:spAutoFit/>
          </a:bodyPr>
          <a:lstStyle/>
          <a:p>
            <a:pPr marL="285750" indent="-285750">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Crop Model:</a:t>
            </a:r>
            <a:r>
              <a:rPr lang="en-US" dirty="0">
                <a:latin typeface="Arial" panose="020B0604020202020204" pitchFamily="34" charset="0"/>
                <a:cs typeface="Arial" panose="020B0604020202020204" pitchFamily="34" charset="0"/>
              </a:rPr>
              <a:t> DSSAT (Decision Support System for Agrotechnology Transfer)</a:t>
            </a:r>
          </a:p>
          <a:p>
            <a:pPr marL="285750" indent="-285750">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Implementation:</a:t>
            </a:r>
            <a:r>
              <a:rPr lang="en-US" dirty="0">
                <a:latin typeface="Arial" panose="020B0604020202020204" pitchFamily="34" charset="0"/>
                <a:cs typeface="Arial" panose="020B0604020202020204" pitchFamily="34" charset="0"/>
              </a:rPr>
              <a:t> Fortran-Python coupling via PDI</a:t>
            </a:r>
          </a:p>
          <a:p>
            <a:pPr marL="285750" indent="-285750">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Crops:</a:t>
            </a:r>
            <a:r>
              <a:rPr lang="en-US" dirty="0">
                <a:latin typeface="Arial" panose="020B0604020202020204" pitchFamily="34" charset="0"/>
                <a:cs typeface="Arial" panose="020B0604020202020204" pitchFamily="34" charset="0"/>
              </a:rPr>
              <a:t> Maize (extensible to 41+ crops)</a:t>
            </a:r>
            <a:endParaRPr lang="en-US" b="1" dirty="0">
              <a:latin typeface="Arial" panose="020B0604020202020204" pitchFamily="34" charset="0"/>
              <a:cs typeface="Arial" panose="020B0604020202020204" pitchFamily="34" charset="0"/>
            </a:endParaRPr>
          </a:p>
          <a:p>
            <a:pPr marL="285750" indent="-285750">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Episode:</a:t>
            </a:r>
            <a:r>
              <a:rPr lang="en-US" dirty="0">
                <a:latin typeface="Arial" panose="020B0604020202020204" pitchFamily="34" charset="0"/>
                <a:cs typeface="Arial" panose="020B0604020202020204" pitchFamily="34" charset="0"/>
              </a:rPr>
              <a:t> Full growing season (~160 days)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Decisions:</a:t>
            </a:r>
            <a:r>
              <a:rPr lang="en-US" dirty="0">
                <a:latin typeface="Arial" panose="020B0604020202020204" pitchFamily="34" charset="0"/>
                <a:cs typeface="Arial" panose="020B0604020202020204" pitchFamily="34" charset="0"/>
              </a:rPr>
              <a:t> Daily time steps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Weather:</a:t>
            </a:r>
            <a:r>
              <a:rPr lang="en-US" dirty="0">
                <a:latin typeface="Arial" panose="020B0604020202020204" pitchFamily="34" charset="0"/>
                <a:cs typeface="Arial" panose="020B0604020202020204" pitchFamily="34" charset="0"/>
              </a:rPr>
              <a:t> WGEN stochastic generator</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Termination:</a:t>
            </a:r>
            <a:r>
              <a:rPr lang="en-US" dirty="0">
                <a:latin typeface="Arial" panose="020B0604020202020204" pitchFamily="34" charset="0"/>
                <a:cs typeface="Arial" panose="020B0604020202020204" pitchFamily="34" charset="0"/>
              </a:rPr>
              <a:t> Crop maturity or early failure</a:t>
            </a:r>
          </a:p>
          <a:p>
            <a:pPr marL="285750" indent="-285750">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State Space (13 variables)</a:t>
            </a:r>
          </a:p>
          <a:p>
            <a:pPr marL="285750" indent="-285750">
              <a:spcBef>
                <a:spcPts val="1200"/>
              </a:spcBef>
              <a:buFont typeface="Arial" panose="020B0604020202020204" pitchFamily="34" charset="0"/>
              <a:buChar char="•"/>
            </a:pPr>
            <a:r>
              <a:rPr lang="en-US" dirty="0">
                <a:latin typeface="Arial" panose="020B0604020202020204" pitchFamily="34" charset="0"/>
                <a:cs typeface="Arial" panose="020B0604020202020204" pitchFamily="34" charset="0"/>
              </a:rPr>
              <a:t>Growth stages, biomass, nitrogen stress, leaf area, weather, cumulative inputs</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8F052EF-1A03-4504-A001-E7B843F1D3FE}"/>
                  </a:ext>
                </a:extLst>
              </p:cNvPr>
              <p:cNvSpPr/>
              <p:nvPr/>
            </p:nvSpPr>
            <p:spPr>
              <a:xfrm>
                <a:off x="6084317" y="4735636"/>
                <a:ext cx="5885894" cy="1759456"/>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Reward Functions</a:t>
                </a:r>
              </a:p>
              <a:p>
                <a:pPr>
                  <a:spcAft>
                    <a:spcPts val="1050"/>
                  </a:spcAft>
                </a:pPr>
                <a:r>
                  <a:rPr lang="en-US" b="1" dirty="0">
                    <a:latin typeface="Arial" panose="020B0604020202020204" pitchFamily="34" charset="0"/>
                    <a:cs typeface="Arial" panose="020B0604020202020204" pitchFamily="34" charset="0"/>
                  </a:rPr>
                  <a:t>Fertilization:</a:t>
                </a:r>
                <a:r>
                  <a:rPr lang="en-US" dirty="0">
                    <a:latin typeface="Arial" panose="020B0604020202020204" pitchFamily="34" charset="0"/>
                    <a:cs typeface="Arial" panose="020B0604020202020204" pitchFamily="34" charset="0"/>
                  </a:rPr>
                  <a:t> </a:t>
                </a: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trnu</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0.5×</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anfer</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PK" dirty="0">
                  <a:latin typeface="Georgia" panose="02040502050405020303" pitchFamily="18" charset="0"/>
                  <a:ea typeface="Calibri" panose="020F0502020204030204" pitchFamily="34" charset="0"/>
                  <a:cs typeface="Times New Roman" panose="02020603050405020304" pitchFamily="18" charset="0"/>
                </a:endParaRPr>
              </a:p>
              <a:p>
                <a:r>
                  <a:rPr lang="en-US" b="1" dirty="0">
                    <a:latin typeface="Arial" panose="020B0604020202020204" pitchFamily="34" charset="0"/>
                    <a:cs typeface="Arial" panose="020B0604020202020204" pitchFamily="34" charset="0"/>
                  </a:rPr>
                  <a:t>Irrigation:</a:t>
                </a:r>
                <a:r>
                  <a:rPr lang="en-US" dirty="0">
                    <a:latin typeface="Arial" panose="020B0604020202020204" pitchFamily="34" charset="0"/>
                    <a:cs typeface="Arial" panose="020B0604020202020204" pitchFamily="34" charset="0"/>
                  </a:rPr>
                  <a:t> </a:t>
                </a: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biomass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penalty</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irrigation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PK"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7" name="Rectangle 6">
                <a:extLst>
                  <a:ext uri="{FF2B5EF4-FFF2-40B4-BE49-F238E27FC236}">
                    <a16:creationId xmlns:a16="http://schemas.microsoft.com/office/drawing/2014/main" id="{E8F052EF-1A03-4504-A001-E7B843F1D3FE}"/>
                  </a:ext>
                </a:extLst>
              </p:cNvPr>
              <p:cNvSpPr>
                <a:spLocks noRot="1" noChangeAspect="1" noMove="1" noResize="1" noEditPoints="1" noAdjustHandles="1" noChangeArrowheads="1" noChangeShapeType="1" noTextEdit="1"/>
              </p:cNvSpPr>
              <p:nvPr/>
            </p:nvSpPr>
            <p:spPr>
              <a:xfrm>
                <a:off x="6084317" y="4735636"/>
                <a:ext cx="5885894" cy="1759456"/>
              </a:xfrm>
              <a:prstGeom prst="rect">
                <a:avLst/>
              </a:prstGeom>
              <a:blipFill>
                <a:blip r:embed="rId5"/>
                <a:stretch>
                  <a:fillRect l="-828" t="-2083" b="-2778"/>
                </a:stretch>
              </a:blipFill>
            </p:spPr>
            <p:txBody>
              <a:bodyPr/>
              <a:lstStyle/>
              <a:p>
                <a:r>
                  <a:rPr lang="en-PK">
                    <a:noFill/>
                  </a:rPr>
                  <a:t> </a:t>
                </a:r>
              </a:p>
            </p:txBody>
          </p:sp>
        </mc:Fallback>
      </mc:AlternateContent>
    </p:spTree>
    <p:extLst>
      <p:ext uri="{BB962C8B-B14F-4D97-AF65-F5344CB8AC3E}">
        <p14:creationId xmlns:p14="http://schemas.microsoft.com/office/powerpoint/2010/main" val="41005753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4">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5"/>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19</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691091" y="1229493"/>
            <a:ext cx="9129478"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Why Long-Term Planning in Agriculture Needs AI</a:t>
            </a:r>
          </a:p>
        </p:txBody>
      </p:sp>
      <p:sp>
        <p:nvSpPr>
          <p:cNvPr id="8" name="Rectangle 7">
            <a:extLst>
              <a:ext uri="{FF2B5EF4-FFF2-40B4-BE49-F238E27FC236}">
                <a16:creationId xmlns:a16="http://schemas.microsoft.com/office/drawing/2014/main" id="{327E0074-B50F-41D0-8E7A-EF0009882503}"/>
              </a:ext>
            </a:extLst>
          </p:cNvPr>
          <p:cNvSpPr/>
          <p:nvPr/>
        </p:nvSpPr>
        <p:spPr>
          <a:xfrm>
            <a:off x="503647" y="1707834"/>
            <a:ext cx="5901914" cy="5035353"/>
          </a:xfrm>
          <a:prstGeom prst="rect">
            <a:avLst/>
          </a:prstGeom>
        </p:spPr>
        <p:txBody>
          <a:bodyPr wrap="square">
            <a:spAutoFit/>
          </a:bodyPr>
          <a:lstStyle/>
          <a:p>
            <a:pPr>
              <a:lnSpc>
                <a:spcPct val="150000"/>
              </a:lnSpc>
            </a:pPr>
            <a:r>
              <a:rPr lang="en-US" dirty="0"/>
              <a:t>Modern agriculture faces a multi-objective challenge:</a:t>
            </a:r>
          </a:p>
          <a:p>
            <a:pPr marL="742950" lvl="1" indent="-285750">
              <a:lnSpc>
                <a:spcPct val="150000"/>
              </a:lnSpc>
              <a:buFont typeface="Arial" panose="020B0604020202020204" pitchFamily="34" charset="0"/>
              <a:buChar char="•"/>
            </a:pPr>
            <a:r>
              <a:rPr lang="en-US" dirty="0"/>
              <a:t>Maximize profit while minimizing environmental harm and adapting to weather variability and soil degradation.</a:t>
            </a:r>
          </a:p>
          <a:p>
            <a:pPr lvl="1">
              <a:lnSpc>
                <a:spcPct val="150000"/>
              </a:lnSpc>
            </a:pPr>
            <a:r>
              <a:rPr lang="en-US" dirty="0"/>
              <a:t>Farmers often make single-season decisions, but in reality, agriculture is interdependent across years:</a:t>
            </a:r>
          </a:p>
          <a:p>
            <a:pPr marL="742950" lvl="1" indent="-285750">
              <a:lnSpc>
                <a:spcPct val="150000"/>
              </a:lnSpc>
              <a:buFont typeface="Arial" panose="020B0604020202020204" pitchFamily="34" charset="0"/>
              <a:buChar char="•"/>
            </a:pPr>
            <a:r>
              <a:rPr lang="en-US" dirty="0"/>
              <a:t>Fertilizer applied this year affects soil nitrogen next year</a:t>
            </a:r>
          </a:p>
          <a:p>
            <a:pPr marL="742950" lvl="1" indent="-285750">
              <a:lnSpc>
                <a:spcPct val="150000"/>
              </a:lnSpc>
              <a:buFont typeface="Arial" panose="020B0604020202020204" pitchFamily="34" charset="0"/>
              <a:buChar char="•"/>
            </a:pPr>
            <a:r>
              <a:rPr lang="en-US" dirty="0"/>
              <a:t>Crop choices affect pests, diseases, and water balance</a:t>
            </a:r>
          </a:p>
          <a:p>
            <a:pPr marL="742950" lvl="1" indent="-285750">
              <a:lnSpc>
                <a:spcPct val="150000"/>
              </a:lnSpc>
              <a:buFont typeface="Arial" panose="020B0604020202020204" pitchFamily="34" charset="0"/>
              <a:buChar char="•"/>
            </a:pPr>
            <a:r>
              <a:rPr lang="en-US" dirty="0"/>
              <a:t>Unplanned fertilizer use causes waste and pollution</a:t>
            </a:r>
          </a:p>
          <a:p>
            <a:pPr marL="742950" lvl="1" indent="-285750">
              <a:lnSpc>
                <a:spcPct val="150000"/>
              </a:lnSpc>
              <a:buFont typeface="Arial" panose="020B0604020202020204" pitchFamily="34" charset="0"/>
              <a:buChar char="•"/>
            </a:pPr>
            <a:endParaRPr lang="en-US" dirty="0"/>
          </a:p>
        </p:txBody>
      </p:sp>
      <p:pic>
        <p:nvPicPr>
          <p:cNvPr id="9" name="Nitrogen Leaching">
            <a:hlinkClick r:id="" action="ppaction://media"/>
            <a:extLst>
              <a:ext uri="{FF2B5EF4-FFF2-40B4-BE49-F238E27FC236}">
                <a16:creationId xmlns:a16="http://schemas.microsoft.com/office/drawing/2014/main" id="{5C0F1555-CCE6-4378-9874-475C6F04CB3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498454" y="3360973"/>
            <a:ext cx="5189899" cy="2384864"/>
          </a:xfrm>
          <a:prstGeom prst="rect">
            <a:avLst/>
          </a:prstGeom>
        </p:spPr>
      </p:pic>
      <p:sp>
        <p:nvSpPr>
          <p:cNvPr id="10" name="Rectangle 9">
            <a:extLst>
              <a:ext uri="{FF2B5EF4-FFF2-40B4-BE49-F238E27FC236}">
                <a16:creationId xmlns:a16="http://schemas.microsoft.com/office/drawing/2014/main" id="{F3483CA4-02B8-420A-9B11-7DF9F1BC441A}"/>
              </a:ext>
            </a:extLst>
          </p:cNvPr>
          <p:cNvSpPr/>
          <p:nvPr/>
        </p:nvSpPr>
        <p:spPr>
          <a:xfrm>
            <a:off x="6498453" y="1985744"/>
            <a:ext cx="5189899" cy="1200329"/>
          </a:xfrm>
          <a:prstGeom prst="rect">
            <a:avLst/>
          </a:prstGeom>
        </p:spPr>
        <p:txBody>
          <a:bodyPr wrap="square">
            <a:spAutoFit/>
          </a:bodyPr>
          <a:lstStyle/>
          <a:p>
            <a:r>
              <a:rPr lang="en-US" b="1" dirty="0"/>
              <a:t>What is Leaching?</a:t>
            </a:r>
          </a:p>
          <a:p>
            <a:pPr marL="285750" indent="-285750">
              <a:buFont typeface="Arial" panose="020B0604020202020204" pitchFamily="34" charset="0"/>
              <a:buChar char="•"/>
            </a:pPr>
            <a:r>
              <a:rPr lang="en-US" dirty="0"/>
              <a:t>When </a:t>
            </a:r>
            <a:r>
              <a:rPr lang="en-US" b="1" dirty="0"/>
              <a:t>too much nitrogen</a:t>
            </a:r>
            <a:r>
              <a:rPr lang="en-US" dirty="0"/>
              <a:t> fertilizer is applied, the excess </a:t>
            </a:r>
            <a:r>
              <a:rPr lang="en-US" b="1" dirty="0"/>
              <a:t>leaches</a:t>
            </a:r>
            <a:r>
              <a:rPr lang="en-US" dirty="0"/>
              <a:t> — it dissolves in rainwater and </a:t>
            </a:r>
            <a:r>
              <a:rPr lang="en-US" b="1" dirty="0"/>
              <a:t>moves beyond the root zone</a:t>
            </a:r>
            <a:endParaRPr lang="en-US" dirty="0"/>
          </a:p>
        </p:txBody>
      </p:sp>
    </p:spTree>
    <p:extLst>
      <p:ext uri="{BB962C8B-B14F-4D97-AF65-F5344CB8AC3E}">
        <p14:creationId xmlns:p14="http://schemas.microsoft.com/office/powerpoint/2010/main" val="8465670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71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vol="80000">
                <p:cTn id="12" fill="hold" display="0">
                  <p:stCondLst>
                    <p:cond delay="indefinite"/>
                  </p:stCondLst>
                </p:cTn>
                <p:tgtEl>
                  <p:spTgt spid="9"/>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20</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691091" y="1229493"/>
            <a:ext cx="9129478" cy="553998"/>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RL PAPER 3 : Long-Term Crop Management Strategies with </a:t>
            </a:r>
            <a:r>
              <a:rPr lang="en-US" sz="2000" b="1" dirty="0" err="1">
                <a:solidFill>
                  <a:srgbClr val="04487A"/>
                </a:solidFill>
                <a:latin typeface="Arial" panose="020B0604020202020204" pitchFamily="34" charset="0"/>
                <a:cs typeface="Arial" panose="020B0604020202020204" pitchFamily="34" charset="0"/>
              </a:rPr>
              <a:t>CyclesGym</a:t>
            </a:r>
            <a:r>
              <a:rPr lang="en-US" sz="2000" b="1" dirty="0">
                <a:solidFill>
                  <a:srgbClr val="04487A"/>
                </a:solidFill>
                <a:latin typeface="Arial" panose="020B0604020202020204" pitchFamily="34" charset="0"/>
                <a:cs typeface="Arial" panose="020B0604020202020204" pitchFamily="34" charset="0"/>
              </a:rPr>
              <a:t> </a:t>
            </a:r>
            <a:r>
              <a:rPr lang="en-US" sz="1600" b="1" dirty="0">
                <a:solidFill>
                  <a:srgbClr val="04487A"/>
                </a:solidFill>
                <a:latin typeface="Arial" panose="020B0604020202020204" pitchFamily="34" charset="0"/>
                <a:cs typeface="Arial" panose="020B0604020202020204" pitchFamily="34" charset="0"/>
              </a:rPr>
              <a:t>(</a:t>
            </a:r>
            <a:r>
              <a:rPr lang="en-US" sz="1600" b="1" dirty="0" err="1">
                <a:solidFill>
                  <a:srgbClr val="04487A"/>
                </a:solidFill>
                <a:latin typeface="Arial" panose="020B0604020202020204" pitchFamily="34" charset="0"/>
                <a:cs typeface="Arial" panose="020B0604020202020204" pitchFamily="34" charset="0"/>
              </a:rPr>
              <a:t>NeurIPS</a:t>
            </a:r>
            <a:r>
              <a:rPr lang="en-US" sz="1600" b="1" dirty="0">
                <a:solidFill>
                  <a:srgbClr val="04487A"/>
                </a:solidFill>
                <a:latin typeface="Arial" panose="020B0604020202020204" pitchFamily="34" charset="0"/>
                <a:cs typeface="Arial" panose="020B0604020202020204" pitchFamily="34" charset="0"/>
              </a:rPr>
              <a:t> 2022)</a:t>
            </a:r>
          </a:p>
        </p:txBody>
      </p:sp>
      <p:graphicFrame>
        <p:nvGraphicFramePr>
          <p:cNvPr id="10" name="Table 9">
            <a:extLst>
              <a:ext uri="{FF2B5EF4-FFF2-40B4-BE49-F238E27FC236}">
                <a16:creationId xmlns:a16="http://schemas.microsoft.com/office/drawing/2014/main" id="{FAEC275A-2231-40BA-AC80-7E5B247D5F1A}"/>
              </a:ext>
            </a:extLst>
          </p:cNvPr>
          <p:cNvGraphicFramePr>
            <a:graphicFrameLocks noGrp="1"/>
          </p:cNvGraphicFramePr>
          <p:nvPr>
            <p:extLst>
              <p:ext uri="{D42A27DB-BD31-4B8C-83A1-F6EECF244321}">
                <p14:modId xmlns:p14="http://schemas.microsoft.com/office/powerpoint/2010/main" val="2588187785"/>
              </p:ext>
            </p:extLst>
          </p:nvPr>
        </p:nvGraphicFramePr>
        <p:xfrm>
          <a:off x="852077" y="1944291"/>
          <a:ext cx="10150492" cy="2164080"/>
        </p:xfrm>
        <a:graphic>
          <a:graphicData uri="http://schemas.openxmlformats.org/drawingml/2006/table">
            <a:tbl>
              <a:tblPr firstRow="1" bandRow="1">
                <a:tableStyleId>{5C22544A-7EE6-4342-B048-85BDC9FD1C3A}</a:tableStyleId>
              </a:tblPr>
              <a:tblGrid>
                <a:gridCol w="1547892">
                  <a:extLst>
                    <a:ext uri="{9D8B030D-6E8A-4147-A177-3AD203B41FA5}">
                      <a16:colId xmlns:a16="http://schemas.microsoft.com/office/drawing/2014/main" val="3429371382"/>
                    </a:ext>
                  </a:extLst>
                </a:gridCol>
                <a:gridCol w="989732">
                  <a:extLst>
                    <a:ext uri="{9D8B030D-6E8A-4147-A177-3AD203B41FA5}">
                      <a16:colId xmlns:a16="http://schemas.microsoft.com/office/drawing/2014/main" val="560501363"/>
                    </a:ext>
                  </a:extLst>
                </a:gridCol>
                <a:gridCol w="1551944">
                  <a:extLst>
                    <a:ext uri="{9D8B030D-6E8A-4147-A177-3AD203B41FA5}">
                      <a16:colId xmlns:a16="http://schemas.microsoft.com/office/drawing/2014/main" val="1696038062"/>
                    </a:ext>
                  </a:extLst>
                </a:gridCol>
                <a:gridCol w="985677">
                  <a:extLst>
                    <a:ext uri="{9D8B030D-6E8A-4147-A177-3AD203B41FA5}">
                      <a16:colId xmlns:a16="http://schemas.microsoft.com/office/drawing/2014/main" val="3608063019"/>
                    </a:ext>
                  </a:extLst>
                </a:gridCol>
                <a:gridCol w="1379106">
                  <a:extLst>
                    <a:ext uri="{9D8B030D-6E8A-4147-A177-3AD203B41FA5}">
                      <a16:colId xmlns:a16="http://schemas.microsoft.com/office/drawing/2014/main" val="2786189489"/>
                    </a:ext>
                  </a:extLst>
                </a:gridCol>
                <a:gridCol w="1158517">
                  <a:extLst>
                    <a:ext uri="{9D8B030D-6E8A-4147-A177-3AD203B41FA5}">
                      <a16:colId xmlns:a16="http://schemas.microsoft.com/office/drawing/2014/main" val="3255391722"/>
                    </a:ext>
                  </a:extLst>
                </a:gridCol>
                <a:gridCol w="1268812">
                  <a:extLst>
                    <a:ext uri="{9D8B030D-6E8A-4147-A177-3AD203B41FA5}">
                      <a16:colId xmlns:a16="http://schemas.microsoft.com/office/drawing/2014/main" val="4035718913"/>
                    </a:ext>
                  </a:extLst>
                </a:gridCol>
                <a:gridCol w="1268812">
                  <a:extLst>
                    <a:ext uri="{9D8B030D-6E8A-4147-A177-3AD203B41FA5}">
                      <a16:colId xmlns:a16="http://schemas.microsoft.com/office/drawing/2014/main" val="2093297287"/>
                    </a:ext>
                  </a:extLst>
                </a:gridCol>
              </a:tblGrid>
              <a:tr h="457051">
                <a:tc>
                  <a:txBody>
                    <a:bodyPr/>
                    <a:lstStyle/>
                    <a:p>
                      <a:pPr algn="ctr"/>
                      <a:endParaRPr lang="en-PK" sz="1600" dirty="0"/>
                    </a:p>
                  </a:txBody>
                  <a:tcPr>
                    <a:noFill/>
                  </a:tcPr>
                </a:tc>
                <a:tc gridSpan="2">
                  <a:txBody>
                    <a:bodyPr/>
                    <a:lstStyle/>
                    <a:p>
                      <a:pPr algn="ctr"/>
                      <a:r>
                        <a:rPr lang="en-US" sz="1600" dirty="0"/>
                        <a:t>Year 1 </a:t>
                      </a:r>
                      <a:endParaRPr lang="en-PK" sz="1600" dirty="0"/>
                    </a:p>
                  </a:txBody>
                  <a:tcPr/>
                </a:tc>
                <a:tc hMerge="1">
                  <a:txBody>
                    <a:bodyPr/>
                    <a:lstStyle/>
                    <a:p>
                      <a:endParaRPr lang="en-PK"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Year 2</a:t>
                      </a:r>
                      <a:endParaRPr lang="en-PK" sz="1600" dirty="0"/>
                    </a:p>
                  </a:txBody>
                  <a:tcPr/>
                </a:tc>
                <a:tc hMerge="1">
                  <a:txBody>
                    <a:bodyPr/>
                    <a:lstStyle/>
                    <a:p>
                      <a:endParaRPr lang="en-PK" dirty="0"/>
                    </a:p>
                  </a:txBody>
                  <a:tcPr/>
                </a:tc>
                <a:tc>
                  <a:txBody>
                    <a:bodyPr/>
                    <a:lstStyle/>
                    <a:p>
                      <a:pPr algn="ctr"/>
                      <a:r>
                        <a:rPr lang="en-US" sz="1600" dirty="0"/>
                        <a:t>Reduced Leaching</a:t>
                      </a:r>
                      <a:endParaRPr lang="en-PK" sz="1600" dirty="0"/>
                    </a:p>
                  </a:txBody>
                  <a:tcPr/>
                </a:tc>
                <a:tc>
                  <a:txBody>
                    <a:bodyPr/>
                    <a:lstStyle/>
                    <a:p>
                      <a:pPr algn="ctr"/>
                      <a:r>
                        <a:rPr lang="en-US" sz="1600" dirty="0"/>
                        <a:t>Reduced</a:t>
                      </a:r>
                    </a:p>
                    <a:p>
                      <a:pPr algn="ctr"/>
                      <a:r>
                        <a:rPr lang="en-US" sz="1600" dirty="0"/>
                        <a:t>Emissions</a:t>
                      </a:r>
                      <a:endParaRPr lang="en-PK" sz="1600" dirty="0"/>
                    </a:p>
                  </a:txBody>
                  <a:tcPr/>
                </a:tc>
                <a:tc>
                  <a:txBody>
                    <a:bodyPr/>
                    <a:lstStyle/>
                    <a:p>
                      <a:pPr algn="ctr"/>
                      <a:r>
                        <a:rPr lang="en-US" sz="1600" dirty="0"/>
                        <a:t>Profit</a:t>
                      </a:r>
                      <a:endParaRPr lang="en-PK" sz="1600" dirty="0"/>
                    </a:p>
                  </a:txBody>
                  <a:tcPr/>
                </a:tc>
                <a:extLst>
                  <a:ext uri="{0D108BD9-81ED-4DB2-BD59-A6C34878D82A}">
                    <a16:rowId xmlns:a16="http://schemas.microsoft.com/office/drawing/2014/main" val="3397629013"/>
                  </a:ext>
                </a:extLst>
              </a:tr>
              <a:tr h="292673">
                <a:tc>
                  <a:txBody>
                    <a:bodyPr/>
                    <a:lstStyle/>
                    <a:p>
                      <a:pPr algn="ctr"/>
                      <a:r>
                        <a:rPr lang="en-US" sz="1600" dirty="0"/>
                        <a:t>Environment</a:t>
                      </a:r>
                      <a:endParaRPr lang="en-PK" sz="1600" dirty="0"/>
                    </a:p>
                  </a:txBody>
                  <a:tcPr/>
                </a:tc>
                <a:tc gridSpan="2">
                  <a:txBody>
                    <a:bodyPr/>
                    <a:lstStyle/>
                    <a:p>
                      <a:pPr algn="ctr"/>
                      <a:r>
                        <a:rPr lang="en-PK" sz="1600" dirty="0"/>
                        <a:t>🌧️</a:t>
                      </a:r>
                    </a:p>
                  </a:txBody>
                  <a:tcPr/>
                </a:tc>
                <a:tc hMerge="1">
                  <a:txBody>
                    <a:bodyPr/>
                    <a:lstStyle/>
                    <a:p>
                      <a:pPr algn="ctr"/>
                      <a:endParaRPr lang="en-PK" dirty="0"/>
                    </a:p>
                  </a:txBody>
                  <a:tcPr/>
                </a:tc>
                <a:tc gridSpan="2">
                  <a:txBody>
                    <a:bodyPr/>
                    <a:lstStyle/>
                    <a:p>
                      <a:pPr algn="ctr"/>
                      <a:r>
                        <a:rPr lang="en-PK" sz="1600" dirty="0"/>
                        <a:t>☀️</a:t>
                      </a:r>
                    </a:p>
                  </a:txBody>
                  <a:tcPr/>
                </a:tc>
                <a:tc hMerge="1">
                  <a:txBody>
                    <a:bodyPr/>
                    <a:lstStyle/>
                    <a:p>
                      <a:pPr algn="ctr"/>
                      <a:endParaRPr lang="en-PK" dirty="0"/>
                    </a:p>
                  </a:txBody>
                  <a:tcPr/>
                </a:tc>
                <a:tc>
                  <a:txBody>
                    <a:bodyPr/>
                    <a:lstStyle/>
                    <a:p>
                      <a:pPr algn="ctr"/>
                      <a:endParaRPr lang="en-PK" sz="1600" dirty="0"/>
                    </a:p>
                  </a:txBody>
                  <a:tcPr/>
                </a:tc>
                <a:tc>
                  <a:txBody>
                    <a:bodyPr/>
                    <a:lstStyle/>
                    <a:p>
                      <a:pPr algn="ctr"/>
                      <a:endParaRPr lang="en-PK" sz="1600" dirty="0"/>
                    </a:p>
                  </a:txBody>
                  <a:tcPr/>
                </a:tc>
                <a:tc>
                  <a:txBody>
                    <a:bodyPr/>
                    <a:lstStyle/>
                    <a:p>
                      <a:pPr algn="ctr"/>
                      <a:endParaRPr lang="en-PK" sz="1600" dirty="0"/>
                    </a:p>
                  </a:txBody>
                  <a:tcPr/>
                </a:tc>
                <a:extLst>
                  <a:ext uri="{0D108BD9-81ED-4DB2-BD59-A6C34878D82A}">
                    <a16:rowId xmlns:a16="http://schemas.microsoft.com/office/drawing/2014/main" val="2643363453"/>
                  </a:ext>
                </a:extLst>
              </a:tr>
              <a:tr h="292673">
                <a:tc rowSpan="3">
                  <a:txBody>
                    <a:bodyPr/>
                    <a:lstStyle/>
                    <a:p>
                      <a:pPr algn="ctr"/>
                      <a:r>
                        <a:rPr lang="en-US" sz="1600" dirty="0"/>
                        <a:t>Management Strategies</a:t>
                      </a:r>
                      <a:endParaRPr lang="en-PK" sz="1600" dirty="0"/>
                    </a:p>
                  </a:txBody>
                  <a:tcPr/>
                </a:tc>
                <a:tc>
                  <a:txBody>
                    <a:bodyPr/>
                    <a:lstStyle/>
                    <a:p>
                      <a:pPr algn="ctr"/>
                      <a:r>
                        <a:rPr lang="en-US" sz="1600" dirty="0"/>
                        <a:t>Maize </a:t>
                      </a:r>
                      <a:endParaRPr lang="en-PK" sz="1600" dirty="0"/>
                    </a:p>
                  </a:txBody>
                  <a:tcPr/>
                </a:tc>
                <a:tc>
                  <a:txBody>
                    <a:bodyPr/>
                    <a:lstStyle/>
                    <a:p>
                      <a:pPr algn="ctr"/>
                      <a:r>
                        <a:rPr lang="en-US" sz="1600" dirty="0"/>
                        <a:t>Fertilization</a:t>
                      </a:r>
                      <a:endParaRPr lang="en-PK" sz="1600" dirty="0"/>
                    </a:p>
                  </a:txBody>
                  <a:tcPr/>
                </a:tc>
                <a:tc>
                  <a:txBody>
                    <a:bodyPr/>
                    <a:lstStyle/>
                    <a:p>
                      <a:pPr algn="ctr"/>
                      <a:r>
                        <a:rPr lang="en-US" sz="1600" dirty="0"/>
                        <a:t>Maize </a:t>
                      </a:r>
                      <a:endParaRPr lang="en-PK" sz="1600" dirty="0"/>
                    </a:p>
                  </a:txBody>
                  <a:tcPr/>
                </a:tc>
                <a:tc>
                  <a:txBody>
                    <a:bodyPr/>
                    <a:lstStyle/>
                    <a:p>
                      <a:pPr algn="ctr"/>
                      <a:r>
                        <a:rPr lang="en-US" sz="1600" dirty="0"/>
                        <a:t>Fertilization</a:t>
                      </a:r>
                      <a:endParaRPr lang="en-PK" sz="1600" dirty="0"/>
                    </a:p>
                  </a:txBody>
                  <a:tcPr/>
                </a:tc>
                <a:tc>
                  <a:txBody>
                    <a:bodyPr/>
                    <a:lstStyle/>
                    <a:p>
                      <a:pPr algn="ctr"/>
                      <a:r>
                        <a:rPr lang="en-PK" sz="1600" dirty="0"/>
                        <a:t>❌</a:t>
                      </a:r>
                    </a:p>
                  </a:txBody>
                  <a:tcPr/>
                </a:tc>
                <a:tc>
                  <a:txBody>
                    <a:bodyPr/>
                    <a:lstStyle/>
                    <a:p>
                      <a:pPr algn="ctr"/>
                      <a:r>
                        <a:rPr lang="en-PK" sz="1600" dirty="0"/>
                        <a:t>❌</a:t>
                      </a:r>
                    </a:p>
                  </a:txBody>
                  <a:tcPr/>
                </a:tc>
                <a:tc>
                  <a:txBody>
                    <a:bodyPr/>
                    <a:lstStyle/>
                    <a:p>
                      <a:pPr algn="ctr"/>
                      <a:r>
                        <a:rPr lang="en-PK" sz="1600" dirty="0"/>
                        <a:t>✔️</a:t>
                      </a:r>
                    </a:p>
                  </a:txBody>
                  <a:tcPr/>
                </a:tc>
                <a:extLst>
                  <a:ext uri="{0D108BD9-81ED-4DB2-BD59-A6C34878D82A}">
                    <a16:rowId xmlns:a16="http://schemas.microsoft.com/office/drawing/2014/main" val="906522950"/>
                  </a:ext>
                </a:extLst>
              </a:tr>
              <a:tr h="292673">
                <a:tc vMerge="1">
                  <a:txBody>
                    <a:bodyPr/>
                    <a:lstStyle/>
                    <a:p>
                      <a:endParaRPr lang="en-PK" dirty="0"/>
                    </a:p>
                  </a:txBody>
                  <a:tcPr/>
                </a:tc>
                <a:tc>
                  <a:txBody>
                    <a:bodyPr/>
                    <a:lstStyle/>
                    <a:p>
                      <a:pPr algn="ctr"/>
                      <a:r>
                        <a:rPr lang="en-US" sz="1600" dirty="0"/>
                        <a:t>Soy</a:t>
                      </a:r>
                      <a:endParaRPr lang="en-PK" sz="1600" dirty="0"/>
                    </a:p>
                  </a:txBody>
                  <a:tcPr/>
                </a:tc>
                <a:tc>
                  <a:txBody>
                    <a:bodyPr/>
                    <a:lstStyle/>
                    <a:p>
                      <a:pPr algn="ctr"/>
                      <a:endParaRPr lang="en-PK" sz="1600" dirty="0"/>
                    </a:p>
                  </a:txBody>
                  <a:tcPr/>
                </a:tc>
                <a:tc>
                  <a:txBody>
                    <a:bodyPr/>
                    <a:lstStyle/>
                    <a:p>
                      <a:pPr algn="ctr"/>
                      <a:r>
                        <a:rPr lang="en-US" sz="1600" dirty="0"/>
                        <a:t>Soy</a:t>
                      </a:r>
                      <a:endParaRPr lang="en-PK" sz="1600" dirty="0"/>
                    </a:p>
                  </a:txBody>
                  <a:tcPr/>
                </a:tc>
                <a:tc>
                  <a:txBody>
                    <a:bodyPr/>
                    <a:lstStyle/>
                    <a:p>
                      <a:pPr algn="ctr"/>
                      <a:endParaRPr lang="en-PK" sz="1600"/>
                    </a:p>
                  </a:txBody>
                  <a:tcPr/>
                </a:tc>
                <a:tc>
                  <a:txBody>
                    <a:bodyPr/>
                    <a:lstStyle/>
                    <a:p>
                      <a:pPr algn="ctr"/>
                      <a:r>
                        <a:rPr lang="en-PK" sz="1600" dirty="0"/>
                        <a:t>✔️</a:t>
                      </a:r>
                    </a:p>
                  </a:txBody>
                  <a:tcPr/>
                </a:tc>
                <a:tc>
                  <a:txBody>
                    <a:bodyPr/>
                    <a:lstStyle/>
                    <a:p>
                      <a:pPr algn="ctr"/>
                      <a:r>
                        <a:rPr lang="en-PK" sz="1600" dirty="0"/>
                        <a:t>✔️</a:t>
                      </a:r>
                    </a:p>
                  </a:txBody>
                  <a:tcPr/>
                </a:tc>
                <a:tc>
                  <a:txBody>
                    <a:bodyPr/>
                    <a:lstStyle/>
                    <a:p>
                      <a:pPr algn="ctr"/>
                      <a:r>
                        <a:rPr lang="en-PK" sz="1600" dirty="0"/>
                        <a:t>❌</a:t>
                      </a:r>
                    </a:p>
                  </a:txBody>
                  <a:tcPr/>
                </a:tc>
                <a:extLst>
                  <a:ext uri="{0D108BD9-81ED-4DB2-BD59-A6C34878D82A}">
                    <a16:rowId xmlns:a16="http://schemas.microsoft.com/office/drawing/2014/main" val="3533023242"/>
                  </a:ext>
                </a:extLst>
              </a:tr>
              <a:tr h="457051">
                <a:tc vMerge="1">
                  <a:txBody>
                    <a:bodyPr/>
                    <a:lstStyle/>
                    <a:p>
                      <a:endParaRPr lang="en-PK" dirty="0"/>
                    </a:p>
                  </a:txBody>
                  <a:tcPr/>
                </a:tc>
                <a:tc>
                  <a:txBody>
                    <a:bodyPr/>
                    <a:lstStyle/>
                    <a:p>
                      <a:pPr algn="ctr"/>
                      <a:r>
                        <a:rPr lang="en-US" sz="1600" dirty="0"/>
                        <a:t>Soy</a:t>
                      </a:r>
                      <a:endParaRPr lang="en-PK" sz="1600" dirty="0"/>
                    </a:p>
                  </a:txBody>
                  <a:tcPr/>
                </a:tc>
                <a:tc>
                  <a:txBody>
                    <a:bodyPr/>
                    <a:lstStyle/>
                    <a:p>
                      <a:pPr algn="ctr"/>
                      <a:endParaRPr lang="en-PK" sz="1600"/>
                    </a:p>
                  </a:txBody>
                  <a:tcPr/>
                </a:tc>
                <a:tc>
                  <a:txBody>
                    <a:bodyPr/>
                    <a:lstStyle/>
                    <a:p>
                      <a:pPr algn="ctr"/>
                      <a:r>
                        <a:rPr lang="en-US" sz="1600" dirty="0"/>
                        <a:t>Maize</a:t>
                      </a:r>
                      <a:endParaRPr lang="en-PK" sz="1600" dirty="0"/>
                    </a:p>
                  </a:txBody>
                  <a:tcPr/>
                </a:tc>
                <a:tc>
                  <a:txBody>
                    <a:bodyPr/>
                    <a:lstStyle/>
                    <a:p>
                      <a:pPr algn="ctr"/>
                      <a:r>
                        <a:rPr lang="en-US" sz="1600" dirty="0"/>
                        <a:t>Low Fertilization</a:t>
                      </a:r>
                      <a:endParaRPr lang="en-PK" sz="1600" dirty="0"/>
                    </a:p>
                  </a:txBody>
                  <a:tcPr/>
                </a:tc>
                <a:tc>
                  <a:txBody>
                    <a:bodyPr/>
                    <a:lstStyle/>
                    <a:p>
                      <a:pPr algn="ctr"/>
                      <a:r>
                        <a:rPr lang="en-PK" sz="1600" dirty="0"/>
                        <a:t>✔️</a:t>
                      </a:r>
                    </a:p>
                  </a:txBody>
                  <a:tcPr/>
                </a:tc>
                <a:tc>
                  <a:txBody>
                    <a:bodyPr/>
                    <a:lstStyle/>
                    <a:p>
                      <a:pPr algn="ctr"/>
                      <a:r>
                        <a:rPr lang="en-PK" sz="1600" dirty="0"/>
                        <a:t>✔️</a:t>
                      </a:r>
                    </a:p>
                  </a:txBody>
                  <a:tcPr/>
                </a:tc>
                <a:tc>
                  <a:txBody>
                    <a:bodyPr/>
                    <a:lstStyle/>
                    <a:p>
                      <a:pPr algn="ctr"/>
                      <a:r>
                        <a:rPr lang="en-PK" sz="1600" dirty="0"/>
                        <a:t>✔️</a:t>
                      </a:r>
                    </a:p>
                  </a:txBody>
                  <a:tcPr/>
                </a:tc>
                <a:extLst>
                  <a:ext uri="{0D108BD9-81ED-4DB2-BD59-A6C34878D82A}">
                    <a16:rowId xmlns:a16="http://schemas.microsoft.com/office/drawing/2014/main" val="2169445486"/>
                  </a:ext>
                </a:extLst>
              </a:tr>
            </a:tbl>
          </a:graphicData>
        </a:graphic>
      </p:graphicFrame>
      <p:graphicFrame>
        <p:nvGraphicFramePr>
          <p:cNvPr id="11" name="Table 10">
            <a:extLst>
              <a:ext uri="{FF2B5EF4-FFF2-40B4-BE49-F238E27FC236}">
                <a16:creationId xmlns:a16="http://schemas.microsoft.com/office/drawing/2014/main" id="{86735285-D6B9-4988-B80A-CECC69414154}"/>
              </a:ext>
            </a:extLst>
          </p:cNvPr>
          <p:cNvGraphicFramePr>
            <a:graphicFrameLocks noGrp="1"/>
          </p:cNvGraphicFramePr>
          <p:nvPr>
            <p:extLst>
              <p:ext uri="{D42A27DB-BD31-4B8C-83A1-F6EECF244321}">
                <p14:modId xmlns:p14="http://schemas.microsoft.com/office/powerpoint/2010/main" val="3243263394"/>
              </p:ext>
            </p:extLst>
          </p:nvPr>
        </p:nvGraphicFramePr>
        <p:xfrm>
          <a:off x="852077" y="4234250"/>
          <a:ext cx="10150491" cy="2286000"/>
        </p:xfrm>
        <a:graphic>
          <a:graphicData uri="http://schemas.openxmlformats.org/drawingml/2006/table">
            <a:tbl>
              <a:tblPr/>
              <a:tblGrid>
                <a:gridCol w="2537623">
                  <a:extLst>
                    <a:ext uri="{9D8B030D-6E8A-4147-A177-3AD203B41FA5}">
                      <a16:colId xmlns:a16="http://schemas.microsoft.com/office/drawing/2014/main" val="1044151580"/>
                    </a:ext>
                  </a:extLst>
                </a:gridCol>
                <a:gridCol w="1184710">
                  <a:extLst>
                    <a:ext uri="{9D8B030D-6E8A-4147-A177-3AD203B41FA5}">
                      <a16:colId xmlns:a16="http://schemas.microsoft.com/office/drawing/2014/main" val="2713940344"/>
                    </a:ext>
                  </a:extLst>
                </a:gridCol>
                <a:gridCol w="2236621">
                  <a:extLst>
                    <a:ext uri="{9D8B030D-6E8A-4147-A177-3AD203B41FA5}">
                      <a16:colId xmlns:a16="http://schemas.microsoft.com/office/drawing/2014/main" val="703691160"/>
                    </a:ext>
                  </a:extLst>
                </a:gridCol>
                <a:gridCol w="4191537">
                  <a:extLst>
                    <a:ext uri="{9D8B030D-6E8A-4147-A177-3AD203B41FA5}">
                      <a16:colId xmlns:a16="http://schemas.microsoft.com/office/drawing/2014/main" val="3218696785"/>
                    </a:ext>
                  </a:extLst>
                </a:gridCol>
              </a:tblGrid>
              <a:tr h="0">
                <a:tc>
                  <a:txBody>
                    <a:bodyPr/>
                    <a:lstStyle/>
                    <a:p>
                      <a:r>
                        <a:rPr lang="en-US" dirty="0"/>
                        <a:t>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Profit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Environmental impact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Why / mechanism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9030016"/>
                  </a:ext>
                </a:extLst>
              </a:tr>
              <a:tr h="0">
                <a:tc>
                  <a:txBody>
                    <a:bodyPr/>
                    <a:lstStyle/>
                    <a:p>
                      <a:r>
                        <a:rPr lang="en-US" dirty="0"/>
                        <a:t>Monoculture </a:t>
                      </a:r>
                      <a:r>
                        <a:rPr lang="en-US" b="1" dirty="0"/>
                        <a:t>maize</a:t>
                      </a:r>
                      <a:r>
                        <a:rPr lang="en-US" dirty="0"/>
                        <a:t> + </a:t>
                      </a:r>
                      <a:r>
                        <a:rPr lang="en-US" b="1" dirty="0"/>
                        <a:t>non-organic fertilization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High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High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Heavy fertilizer → big yields, but </a:t>
                      </a:r>
                      <a:r>
                        <a:rPr lang="en-US" b="1"/>
                        <a:t>N leaching + GHG emissions</a:t>
                      </a:r>
                      <a:r>
                        <a:rPr lang="en-US"/>
                        <a:t> rise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0548091"/>
                  </a:ext>
                </a:extLst>
              </a:tr>
              <a:tr h="0">
                <a:tc>
                  <a:txBody>
                    <a:bodyPr/>
                    <a:lstStyle/>
                    <a:p>
                      <a:r>
                        <a:rPr lang="en-US" b="1" dirty="0"/>
                        <a:t>Soybean</a:t>
                      </a:r>
                      <a:r>
                        <a:rPr lang="en-US" dirty="0"/>
                        <a:t> focus with </a:t>
                      </a:r>
                      <a:r>
                        <a:rPr lang="en-US" b="1" dirty="0"/>
                        <a:t>low fertilization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Lower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Low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Lower yields from soy; minimal external N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1388059"/>
                  </a:ext>
                </a:extLst>
              </a:tr>
              <a:tr h="0">
                <a:tc>
                  <a:txBody>
                    <a:bodyPr/>
                    <a:lstStyle/>
                    <a:p>
                      <a:r>
                        <a:rPr lang="en-US" b="1" dirty="0"/>
                        <a:t>Maize–soybean rotation</a:t>
                      </a:r>
                      <a:r>
                        <a:rPr lang="en-US" dirty="0"/>
                        <a:t>, leverages </a:t>
                      </a:r>
                      <a:r>
                        <a:rPr lang="en-US" b="1" dirty="0"/>
                        <a:t>soy N-fixation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High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Medium–Low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Soy adds N biologically → </a:t>
                      </a:r>
                      <a:r>
                        <a:rPr lang="en-US" b="1" dirty="0"/>
                        <a:t>less fertilizer</a:t>
                      </a:r>
                      <a:r>
                        <a:rPr lang="en-US" dirty="0"/>
                        <a:t> for maize, decent yields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2731396"/>
                  </a:ext>
                </a:extLst>
              </a:tr>
            </a:tbl>
          </a:graphicData>
        </a:graphic>
      </p:graphicFrame>
    </p:spTree>
    <p:extLst>
      <p:ext uri="{BB962C8B-B14F-4D97-AF65-F5344CB8AC3E}">
        <p14:creationId xmlns:p14="http://schemas.microsoft.com/office/powerpoint/2010/main" val="1217810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LITERATURE REVIEW</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21</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1691091" y="1229493"/>
            <a:ext cx="9129478" cy="553998"/>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RL PAPER 3 : Long-Term Crop Management Strategies with </a:t>
            </a:r>
            <a:r>
              <a:rPr lang="en-US" sz="2000" b="1" dirty="0" err="1">
                <a:solidFill>
                  <a:srgbClr val="04487A"/>
                </a:solidFill>
                <a:latin typeface="Arial" panose="020B0604020202020204" pitchFamily="34" charset="0"/>
                <a:cs typeface="Arial" panose="020B0604020202020204" pitchFamily="34" charset="0"/>
              </a:rPr>
              <a:t>CyclesGym</a:t>
            </a:r>
            <a:r>
              <a:rPr lang="en-US" sz="2000" b="1" dirty="0">
                <a:solidFill>
                  <a:srgbClr val="04487A"/>
                </a:solidFill>
                <a:latin typeface="Arial" panose="020B0604020202020204" pitchFamily="34" charset="0"/>
                <a:cs typeface="Arial" panose="020B0604020202020204" pitchFamily="34" charset="0"/>
              </a:rPr>
              <a:t> </a:t>
            </a:r>
            <a:r>
              <a:rPr lang="en-US" sz="1600" b="1" dirty="0">
                <a:solidFill>
                  <a:srgbClr val="04487A"/>
                </a:solidFill>
                <a:latin typeface="Arial" panose="020B0604020202020204" pitchFamily="34" charset="0"/>
                <a:cs typeface="Arial" panose="020B0604020202020204" pitchFamily="34" charset="0"/>
              </a:rPr>
              <a:t>(</a:t>
            </a:r>
            <a:r>
              <a:rPr lang="en-US" sz="1600" b="1" dirty="0" err="1">
                <a:solidFill>
                  <a:srgbClr val="04487A"/>
                </a:solidFill>
                <a:latin typeface="Arial" panose="020B0604020202020204" pitchFamily="34" charset="0"/>
                <a:cs typeface="Arial" panose="020B0604020202020204" pitchFamily="34" charset="0"/>
              </a:rPr>
              <a:t>NeurIPS</a:t>
            </a:r>
            <a:r>
              <a:rPr lang="en-US" sz="1600" b="1" dirty="0">
                <a:solidFill>
                  <a:srgbClr val="04487A"/>
                </a:solidFill>
                <a:latin typeface="Arial" panose="020B0604020202020204" pitchFamily="34" charset="0"/>
                <a:cs typeface="Arial" panose="020B0604020202020204" pitchFamily="34" charset="0"/>
              </a:rPr>
              <a:t> 2022)</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9D1D584-430E-4524-8DC8-A1A4057B0630}"/>
                  </a:ext>
                </a:extLst>
              </p:cNvPr>
              <p:cNvSpPr/>
              <p:nvPr/>
            </p:nvSpPr>
            <p:spPr>
              <a:xfrm>
                <a:off x="686540" y="1800777"/>
                <a:ext cx="5110580" cy="4779578"/>
              </a:xfrm>
              <a:prstGeom prst="rect">
                <a:avLst/>
              </a:prstGeom>
            </p:spPr>
            <p:txBody>
              <a:bodyPr wrap="square">
                <a:spAutoFit/>
              </a:bodyPr>
              <a:lstStyle/>
              <a:p>
                <a:pPr>
                  <a:lnSpc>
                    <a:spcPct val="150000"/>
                  </a:lnSpc>
                  <a:spcAft>
                    <a:spcPts val="1050"/>
                  </a:spcAft>
                </a:pPr>
                <a:r>
                  <a:rPr lang="en-US" b="1" dirty="0">
                    <a:solidFill>
                      <a:srgbClr val="000000"/>
                    </a:solidFill>
                    <a:latin typeface="inter"/>
                    <a:ea typeface="inter"/>
                    <a:cs typeface="inter"/>
                  </a:rPr>
                  <a:t>Multi-Year Planning:</a:t>
                </a:r>
                <a:endParaRPr lang="en-US" b="1" dirty="0">
                  <a:solidFill>
                    <a:srgbClr val="000000"/>
                  </a:solidFill>
                  <a:latin typeface="inter"/>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sSup>
                        <m:sSupPr>
                          <m:ctrlPr>
                            <a:rPr lang="en-PK"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𝑽</m:t>
                          </m:r>
                        </m:e>
                        <m:sup>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𝝅</m:t>
                          </m:r>
                        </m:sup>
                      </m:sSup>
                      <m:d>
                        <m:dPr>
                          <m:ctrlP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𝒔</m:t>
                          </m:r>
                        </m:e>
                      </m:d>
                      <m:r>
                        <a:rPr lang="en-US"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PK"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𝔼</m:t>
                          </m:r>
                        </m:e>
                        <m:sup>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𝝅</m:t>
                          </m:r>
                        </m:sup>
                      </m:sSup>
                      <m:d>
                        <m:dPr>
                          <m:begChr m:val="["/>
                          <m:endChr m:val="|"/>
                          <m:ctrlPr>
                            <a:rPr lang="en-US"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nary>
                            <m:naryPr>
                              <m:chr m:val="∑"/>
                              <m:ctrlPr>
                                <a:rPr lang="pt-BR"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naryPr>
                            <m:sub>
                              <m:r>
                                <m:rPr>
                                  <m:brk m:alnAt="23"/>
                                </m:rPr>
                                <a:rPr lang="en-US"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𝒕</m:t>
                              </m:r>
                              <m:r>
                                <a:rPr lang="pt-BR"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pt-BR"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𝟎</m:t>
                              </m:r>
                            </m:sub>
                            <m:sup>
                              <m:r>
                                <a:rPr lang="en-US"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𝑻</m:t>
                              </m:r>
                            </m:sup>
                            <m:e>
                              <m:sSup>
                                <m:sSupPr>
                                  <m:ctrlPr>
                                    <a:rPr lang="en-PK"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𝜸</m:t>
                                  </m:r>
                                </m:e>
                                <m:sup>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𝒕</m:t>
                                  </m:r>
                                </m:sup>
                              </m:sSup>
                              <m:sSub>
                                <m:sSubPr>
                                  <m:ctrlPr>
                                    <a:rPr lang="en-PK"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𝒓</m:t>
                                  </m:r>
                                </m:e>
                                <m:sub>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𝒕</m:t>
                                  </m:r>
                                </m:sub>
                              </m:sSub>
                            </m:e>
                          </m:nary>
                        </m:e>
                      </m:d>
                      <m:sSub>
                        <m:sSubPr>
                          <m:ctrlPr>
                            <a:rPr lang="en-US" b="1" i="1" smtClean="0">
                              <a:solidFill>
                                <a:srgbClr val="000000"/>
                              </a:solidFill>
                              <a:latin typeface="Cambria Math" panose="02040503050406030204" pitchFamily="18" charset="0"/>
                              <a:cs typeface="Times New Roman" panose="02020603050405020304" pitchFamily="18" charset="0"/>
                            </a:rPr>
                          </m:ctrlPr>
                        </m:sSubPr>
                        <m:e>
                          <m:r>
                            <a:rPr lang="en-US" b="1" i="1" smtClean="0">
                              <a:solidFill>
                                <a:srgbClr val="000000"/>
                              </a:solidFill>
                              <a:latin typeface="Cambria Math" panose="02040503050406030204" pitchFamily="18" charset="0"/>
                              <a:cs typeface="Times New Roman" panose="02020603050405020304" pitchFamily="18" charset="0"/>
                            </a:rPr>
                            <m:t>𝒔</m:t>
                          </m:r>
                        </m:e>
                        <m:sub>
                          <m:r>
                            <a:rPr lang="en-US" b="1" i="1" smtClean="0">
                              <a:solidFill>
                                <a:srgbClr val="000000"/>
                              </a:solidFill>
                              <a:latin typeface="Cambria Math" panose="02040503050406030204" pitchFamily="18" charset="0"/>
                              <a:cs typeface="Times New Roman" panose="02020603050405020304" pitchFamily="18" charset="0"/>
                            </a:rPr>
                            <m:t>𝟎</m:t>
                          </m:r>
                          <m:r>
                            <a:rPr lang="en-US" b="1" i="1" smtClean="0">
                              <a:solidFill>
                                <a:srgbClr val="000000"/>
                              </a:solidFill>
                              <a:latin typeface="Cambria Math" panose="02040503050406030204" pitchFamily="18" charset="0"/>
                              <a:cs typeface="Times New Roman" panose="02020603050405020304" pitchFamily="18" charset="0"/>
                            </a:rPr>
                            <m:t> </m:t>
                          </m:r>
                        </m:sub>
                      </m:sSub>
                      <m:r>
                        <a:rPr lang="en-US" b="1" i="1" smtClean="0">
                          <a:solidFill>
                            <a:srgbClr val="000000"/>
                          </a:solidFill>
                          <a:latin typeface="Cambria Math" panose="02040503050406030204" pitchFamily="18" charset="0"/>
                          <a:cs typeface="Times New Roman" panose="02020603050405020304" pitchFamily="18" charset="0"/>
                        </a:rPr>
                        <m:t>=</m:t>
                      </m:r>
                      <m:r>
                        <a:rPr lang="en-US" b="1" i="1" smtClean="0">
                          <a:solidFill>
                            <a:srgbClr val="000000"/>
                          </a:solidFill>
                          <a:latin typeface="Cambria Math" panose="02040503050406030204" pitchFamily="18" charset="0"/>
                          <a:cs typeface="Times New Roman" panose="02020603050405020304" pitchFamily="18" charset="0"/>
                        </a:rPr>
                        <m:t>𝒔</m:t>
                      </m:r>
                      <m:r>
                        <a:rPr lang="en-US" b="1" i="1" smtClean="0">
                          <a:solidFill>
                            <a:srgbClr val="000000"/>
                          </a:solidFill>
                          <a:latin typeface="Cambria Math" panose="02040503050406030204" pitchFamily="18" charset="0"/>
                          <a:cs typeface="Times New Roman" panose="02020603050405020304" pitchFamily="18" charset="0"/>
                        </a:rPr>
                        <m:t>] </m:t>
                      </m:r>
                    </m:oMath>
                  </m:oMathPara>
                </a14:m>
                <a:endParaRPr lang="en-US" b="1" dirty="0">
                  <a:solidFill>
                    <a:srgbClr val="000000"/>
                  </a:solidFill>
                  <a:latin typeface="inter"/>
                  <a:ea typeface="Calibri" panose="020F0502020204030204" pitchFamily="34" charset="0"/>
                  <a:cs typeface="Times New Roman" panose="02020603050405020304" pitchFamily="18" charset="0"/>
                </a:endParaRPr>
              </a:p>
              <a:p>
                <a:pPr>
                  <a:lnSpc>
                    <a:spcPct val="150000"/>
                  </a:lnSpc>
                  <a:spcAft>
                    <a:spcPts val="1050"/>
                  </a:spcAft>
                </a:pPr>
                <a:r>
                  <a:rPr lang="en-US" dirty="0">
                    <a:solidFill>
                      <a:srgbClr val="000000"/>
                    </a:solidFill>
                    <a:latin typeface="inter"/>
                    <a:ea typeface="inter"/>
                    <a:cs typeface="inter"/>
                  </a:rPr>
                  <a:t>where T spans multiple growing seasons</a:t>
                </a:r>
                <a:endParaRPr lang="en-PK"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b="1" dirty="0">
                    <a:solidFill>
                      <a:srgbClr val="000000"/>
                    </a:solidFill>
                    <a:latin typeface="inter"/>
                    <a:ea typeface="inter"/>
                    <a:cs typeface="inter"/>
                  </a:rPr>
                  <a:t>Crop Rotation Benefits:</a:t>
                </a:r>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Nitrogen fixation modeling:</a:t>
                </a:r>
              </a:p>
              <a:p>
                <a:pPr lvl="0">
                  <a:lnSpc>
                    <a:spcPct val="150000"/>
                  </a:lnSpc>
                  <a:spcBef>
                    <a:spcPts val="525"/>
                  </a:spcBef>
                  <a:spcAft>
                    <a:spcPts val="525"/>
                  </a:spcAft>
                  <a:tabLst>
                    <a:tab pos="571500" algn="l"/>
                  </a:tabLst>
                </a:pPr>
                <a:r>
                  <a:rPr lang="en-US" dirty="0">
                    <a:solidFill>
                      <a:srgbClr val="000000"/>
                    </a:solidFill>
                    <a:latin typeface="inter"/>
                    <a:ea typeface="inter"/>
                    <a:cs typeface="inter"/>
                  </a:rPr>
                  <a:t> </a:t>
                </a:r>
                <a14:m>
                  <m:oMath xmlns:m="http://schemas.openxmlformats.org/officeDocument/2006/math">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𝑎𝑣𝑎𝑖𝑙𝑎𝑏𝑙𝑒</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𝑠𝑜𝑖𝑙</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𝑓𝑖𝑥𝑒𝑑</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𝑓𝑒𝑟𝑡𝑖𝑙𝑖𝑧𝑒𝑟</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oMath>
                </a14:m>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Soil health improvements</a:t>
                </a:r>
                <a:endParaRPr lang="en-PK"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id="{29D1D584-430E-4524-8DC8-A1A4057B0630}"/>
                  </a:ext>
                </a:extLst>
              </p:cNvPr>
              <p:cNvSpPr>
                <a:spLocks noRot="1" noChangeAspect="1" noMove="1" noResize="1" noEditPoints="1" noAdjustHandles="1" noChangeArrowheads="1" noChangeShapeType="1" noTextEdit="1"/>
              </p:cNvSpPr>
              <p:nvPr/>
            </p:nvSpPr>
            <p:spPr>
              <a:xfrm>
                <a:off x="686540" y="1800777"/>
                <a:ext cx="5110580" cy="4779578"/>
              </a:xfrm>
              <a:prstGeom prst="rect">
                <a:avLst/>
              </a:prstGeom>
              <a:blipFill>
                <a:blip r:embed="rId4"/>
                <a:stretch>
                  <a:fillRect l="-1074" b="-1148"/>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BC950C8-5B47-48B0-9B2D-8CB93FB90F7B}"/>
                  </a:ext>
                </a:extLst>
              </p:cNvPr>
              <p:cNvSpPr/>
              <p:nvPr/>
            </p:nvSpPr>
            <p:spPr>
              <a:xfrm>
                <a:off x="6095999" y="1800777"/>
                <a:ext cx="5409461" cy="4670509"/>
              </a:xfrm>
              <a:prstGeom prst="rect">
                <a:avLst/>
              </a:prstGeom>
            </p:spPr>
            <p:txBody>
              <a:bodyPr wrap="square">
                <a:spAutoFit/>
              </a:bodyPr>
              <a:lstStyle/>
              <a:p>
                <a:pPr>
                  <a:lnSpc>
                    <a:spcPct val="150000"/>
                  </a:lnSpc>
                  <a:spcAft>
                    <a:spcPts val="1050"/>
                  </a:spcAft>
                </a:pPr>
                <a:r>
                  <a:rPr lang="en-US" b="1" dirty="0">
                    <a:solidFill>
                      <a:srgbClr val="000000"/>
                    </a:solidFill>
                    <a:latin typeface="inter"/>
                    <a:ea typeface="inter"/>
                    <a:cs typeface="inter"/>
                  </a:rPr>
                  <a:t>Constraint Integration:</a:t>
                </a:r>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Environmental limits: </a:t>
                </a:r>
                <a14:m>
                  <m:oMath xmlns:m="http://schemas.openxmlformats.org/officeDocument/2006/math">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Leaching</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threshold</m:t>
                    </m:r>
                  </m:oMath>
                </a14:m>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Economic constraints: </a:t>
                </a:r>
                <a14:m>
                  <m:oMath xmlns:m="http://schemas.openxmlformats.org/officeDocument/2006/math">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costs</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budget</m:t>
                    </m:r>
                  </m:oMath>
                </a14:m>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Regulatory compliance modeling</a:t>
                </a:r>
              </a:p>
              <a:p>
                <a:pPr lvl="0">
                  <a:lnSpc>
                    <a:spcPct val="150000"/>
                  </a:lnSpc>
                  <a:spcBef>
                    <a:spcPts val="525"/>
                  </a:spcBef>
                  <a:spcAft>
                    <a:spcPts val="525"/>
                  </a:spcAft>
                  <a:tabLst>
                    <a:tab pos="571500" algn="l"/>
                  </a:tabLst>
                </a:pPr>
                <a:endParaRPr lang="en-US" dirty="0">
                  <a:solidFill>
                    <a:srgbClr val="000000"/>
                  </a:solidFill>
                  <a:latin typeface="inter"/>
                  <a:ea typeface="inter"/>
                  <a:cs typeface="inter"/>
                </a:endParaRPr>
              </a:p>
              <a:p>
                <a:pPr>
                  <a:spcAft>
                    <a:spcPts val="1050"/>
                  </a:spcAft>
                </a:pPr>
                <a:r>
                  <a:rPr lang="en-US" b="1" dirty="0">
                    <a:solidFill>
                      <a:srgbClr val="000000"/>
                    </a:solidFill>
                    <a:latin typeface="inter"/>
                    <a:ea typeface="inter"/>
                    <a:cs typeface="inter"/>
                  </a:rPr>
                  <a:t>Complex Action Spaces:</a:t>
                </a:r>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Timing decisions: </a:t>
                </a:r>
                <a14:m>
                  <m:oMath xmlns:m="http://schemas.openxmlformats.org/officeDocument/2006/math">
                    <m:sSub>
                      <m:sSubPr>
                        <m:ctrlPr>
                          <a:rPr lang="en-PK"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𝑎</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𝑐𝑟𝑜𝑝</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_</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𝑡𝑦𝑝𝑒</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𝑝𝑙𝑎𝑛𝑡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_</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𝑑𝑎𝑡𝑒</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𝑓𝑒𝑟𝑡𝑖𝑙𝑖𝑧𝑒𝑟</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_</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𝑎𝑚𝑜𝑢𝑛𝑡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𝑡𝑖𝑚𝑖𝑛𝑔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Multi-dimensional optimization</a:t>
                </a:r>
                <a:endParaRPr lang="en-PK"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Seasonal planning integration</a:t>
                </a:r>
                <a:endParaRPr lang="en-PK"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1BC950C8-5B47-48B0-9B2D-8CB93FB90F7B}"/>
                  </a:ext>
                </a:extLst>
              </p:cNvPr>
              <p:cNvSpPr>
                <a:spLocks noRot="1" noChangeAspect="1" noMove="1" noResize="1" noEditPoints="1" noAdjustHandles="1" noChangeArrowheads="1" noChangeShapeType="1" noTextEdit="1"/>
              </p:cNvSpPr>
              <p:nvPr/>
            </p:nvSpPr>
            <p:spPr>
              <a:xfrm>
                <a:off x="6095999" y="1800777"/>
                <a:ext cx="5409461" cy="4670509"/>
              </a:xfrm>
              <a:prstGeom prst="rect">
                <a:avLst/>
              </a:prstGeom>
              <a:blipFill>
                <a:blip r:embed="rId5"/>
                <a:stretch>
                  <a:fillRect l="-902" r="-5299" b="-1043"/>
                </a:stretch>
              </a:blipFill>
            </p:spPr>
            <p:txBody>
              <a:bodyPr/>
              <a:lstStyle/>
              <a:p>
                <a:r>
                  <a:rPr lang="en-PK">
                    <a:noFill/>
                  </a:rPr>
                  <a:t> </a:t>
                </a:r>
              </a:p>
            </p:txBody>
          </p:sp>
        </mc:Fallback>
      </mc:AlternateContent>
    </p:spTree>
    <p:extLst>
      <p:ext uri="{BB962C8B-B14F-4D97-AF65-F5344CB8AC3E}">
        <p14:creationId xmlns:p14="http://schemas.microsoft.com/office/powerpoint/2010/main" val="12830484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743625" y="2921168"/>
            <a:ext cx="6704750" cy="1015663"/>
          </a:xfrm>
          <a:prstGeom prst="rect">
            <a:avLst/>
          </a:prstGeom>
          <a:noFill/>
        </p:spPr>
        <p:txBody>
          <a:bodyPr wrap="square" rtlCol="0">
            <a:spAutoFit/>
          </a:bodyPr>
          <a:lstStyle/>
          <a:p>
            <a:pPr algn="ctr"/>
            <a:r>
              <a:rPr lang="en-US" sz="6000" b="1" dirty="0"/>
              <a:t>RESEARCH GAP</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22</a:t>
            </a:fld>
            <a:endParaRPr lang="en-US"/>
          </a:p>
        </p:txBody>
      </p:sp>
    </p:spTree>
    <p:extLst>
      <p:ext uri="{BB962C8B-B14F-4D97-AF65-F5344CB8AC3E}">
        <p14:creationId xmlns:p14="http://schemas.microsoft.com/office/powerpoint/2010/main" val="10832562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RESEARCH GAP</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23</a:t>
            </a:fld>
            <a:endParaRPr lang="en-US"/>
          </a:p>
        </p:txBody>
      </p:sp>
      <p:sp>
        <p:nvSpPr>
          <p:cNvPr id="13" name="TextBox 6">
            <a:extLst>
              <a:ext uri="{FF2B5EF4-FFF2-40B4-BE49-F238E27FC236}">
                <a16:creationId xmlns:a16="http://schemas.microsoft.com/office/drawing/2014/main" id="{E58B96C8-816B-453C-B216-2D565A54D082}"/>
              </a:ext>
            </a:extLst>
          </p:cNvPr>
          <p:cNvSpPr txBox="1"/>
          <p:nvPr/>
        </p:nvSpPr>
        <p:spPr>
          <a:xfrm>
            <a:off x="4074057" y="1229493"/>
            <a:ext cx="4043884"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Regional Agricultural Challenges</a:t>
            </a:r>
          </a:p>
        </p:txBody>
      </p:sp>
      <p:sp>
        <p:nvSpPr>
          <p:cNvPr id="10" name="Rectangle 9">
            <a:extLst>
              <a:ext uri="{FF2B5EF4-FFF2-40B4-BE49-F238E27FC236}">
                <a16:creationId xmlns:a16="http://schemas.microsoft.com/office/drawing/2014/main" id="{19A2D12F-D7F6-4FE7-8AEC-C153D72D06AF}"/>
              </a:ext>
            </a:extLst>
          </p:cNvPr>
          <p:cNvSpPr/>
          <p:nvPr/>
        </p:nvSpPr>
        <p:spPr>
          <a:xfrm>
            <a:off x="826818" y="1707834"/>
            <a:ext cx="10538361" cy="5114103"/>
          </a:xfrm>
          <a:prstGeom prst="rect">
            <a:avLst/>
          </a:prstGeom>
        </p:spPr>
        <p:txBody>
          <a:bodyPr wrap="square" numCol="2">
            <a:spAutoFit/>
          </a:bodyPr>
          <a:lstStyle/>
          <a:p>
            <a:pPr marL="285750" indent="-285750">
              <a:lnSpc>
                <a:spcPct val="150000"/>
              </a:lnSpc>
              <a:buFont typeface="Arial" panose="020B0604020202020204" pitchFamily="34" charset="0"/>
              <a:buChar char="•"/>
            </a:pPr>
            <a:r>
              <a:rPr lang="en-US" b="1" dirty="0"/>
              <a:t>Reinforcement Learning Based Approaches in Pakistan</a:t>
            </a:r>
          </a:p>
          <a:p>
            <a:pPr marL="742950" lvl="1" indent="-285750">
              <a:lnSpc>
                <a:spcPct val="150000"/>
              </a:lnSpc>
              <a:buFont typeface="Arial" panose="020B0604020202020204" pitchFamily="34" charset="0"/>
              <a:buChar char="•"/>
            </a:pPr>
            <a:r>
              <a:rPr lang="en-US" dirty="0"/>
              <a:t>RL has been applied in greenhouse environments or precision farming in developed countries, but there is almost no work in open-field, smallholder contexts in South Asia. </a:t>
            </a:r>
          </a:p>
          <a:p>
            <a:pPr marL="285750" indent="-285750">
              <a:lnSpc>
                <a:spcPct val="150000"/>
              </a:lnSpc>
              <a:buFont typeface="Arial" panose="020B0604020202020204" pitchFamily="34" charset="0"/>
              <a:buChar char="•"/>
            </a:pPr>
            <a:r>
              <a:rPr lang="en-US" b="1" dirty="0"/>
              <a:t>Absence of Multi-Objective Optimization:</a:t>
            </a:r>
          </a:p>
          <a:p>
            <a:pPr marL="742950" lvl="1" indent="-285750">
              <a:lnSpc>
                <a:spcPct val="150000"/>
              </a:lnSpc>
              <a:buFont typeface="Arial" panose="020B0604020202020204" pitchFamily="34" charset="0"/>
              <a:buChar char="•"/>
            </a:pPr>
            <a:r>
              <a:rPr lang="en-US" dirty="0"/>
              <a:t>Existing models often optimize only yield or revenue, not long-term soil health, water sustainability, or resilience to climate variability.</a:t>
            </a:r>
          </a:p>
          <a:p>
            <a:pPr marL="742950" lvl="1" indent="-285750">
              <a:lnSpc>
                <a:spcPct val="150000"/>
              </a:lnSpc>
              <a:buFont typeface="Arial" panose="020B0604020202020204" pitchFamily="34" charset="0"/>
              <a:buChar char="•"/>
            </a:pPr>
            <a:endParaRPr lang="en-US" b="1" dirty="0"/>
          </a:p>
          <a:p>
            <a:pPr marL="285750" indent="-285750">
              <a:lnSpc>
                <a:spcPct val="150000"/>
              </a:lnSpc>
              <a:buFont typeface="Arial" panose="020B0604020202020204" pitchFamily="34" charset="0"/>
              <a:buChar char="•"/>
            </a:pPr>
            <a:r>
              <a:rPr lang="en-US" b="1" dirty="0"/>
              <a:t>Climate Adaptation:</a:t>
            </a:r>
          </a:p>
          <a:p>
            <a:pPr marL="742950" lvl="1" indent="-285750">
              <a:lnSpc>
                <a:spcPct val="150000"/>
              </a:lnSpc>
              <a:buFont typeface="Arial" panose="020B0604020202020204" pitchFamily="34" charset="0"/>
              <a:buChar char="•"/>
            </a:pPr>
            <a:r>
              <a:rPr lang="en-US" dirty="0"/>
              <a:t>No adaptation to shifting climate patterns</a:t>
            </a:r>
          </a:p>
          <a:p>
            <a:pPr marL="285750" indent="-285750">
              <a:lnSpc>
                <a:spcPct val="150000"/>
              </a:lnSpc>
              <a:buFont typeface="Arial" panose="020B0604020202020204" pitchFamily="34" charset="0"/>
              <a:buChar char="•"/>
            </a:pPr>
            <a:r>
              <a:rPr lang="en-US" b="1" dirty="0"/>
              <a:t>No Integration with Local Economic Constraints:</a:t>
            </a:r>
          </a:p>
          <a:p>
            <a:pPr marL="742950" lvl="1" indent="-285750">
              <a:lnSpc>
                <a:spcPct val="150000"/>
              </a:lnSpc>
              <a:buFont typeface="Arial" panose="020B0604020202020204" pitchFamily="34" charset="0"/>
              <a:buChar char="•"/>
            </a:pPr>
            <a:r>
              <a:rPr lang="en-US" dirty="0"/>
              <a:t>Most existing models do not account for smallholder farm sizes, limited capital, and fluctuating input prices common in Pakistan. </a:t>
            </a:r>
          </a:p>
          <a:p>
            <a:pPr marL="285750" indent="-285750">
              <a:lnSpc>
                <a:spcPct val="150000"/>
              </a:lnSpc>
              <a:buFont typeface="Arial" panose="020B0604020202020204" pitchFamily="34" charset="0"/>
              <a:buChar char="•"/>
            </a:pPr>
            <a:r>
              <a:rPr lang="en-US" b="1" dirty="0"/>
              <a:t>Data-to-Decision Gap:</a:t>
            </a:r>
          </a:p>
          <a:p>
            <a:pPr marL="742950" lvl="1" indent="-285750">
              <a:lnSpc>
                <a:spcPct val="150000"/>
              </a:lnSpc>
              <a:buFont typeface="Arial" panose="020B0604020202020204" pitchFamily="34" charset="0"/>
              <a:buChar char="•"/>
            </a:pPr>
            <a:r>
              <a:rPr lang="en-US" dirty="0"/>
              <a:t>Research largely remains in academic papers without being translated into tools for local farmers or policymakers.</a:t>
            </a:r>
          </a:p>
        </p:txBody>
      </p:sp>
    </p:spTree>
    <p:extLst>
      <p:ext uri="{BB962C8B-B14F-4D97-AF65-F5344CB8AC3E}">
        <p14:creationId xmlns:p14="http://schemas.microsoft.com/office/powerpoint/2010/main" val="23859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425296" y="2921168"/>
            <a:ext cx="7341408" cy="1015663"/>
          </a:xfrm>
          <a:prstGeom prst="rect">
            <a:avLst/>
          </a:prstGeom>
          <a:noFill/>
        </p:spPr>
        <p:txBody>
          <a:bodyPr wrap="square" rtlCol="0">
            <a:spAutoFit/>
          </a:bodyPr>
          <a:lstStyle/>
          <a:p>
            <a:pPr algn="ctr"/>
            <a:r>
              <a:rPr lang="en-US" sz="6000" b="1" dirty="0"/>
              <a:t>PROBLEM STATEMENT</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24</a:t>
            </a:fld>
            <a:endParaRPr lang="en-US"/>
          </a:p>
        </p:txBody>
      </p:sp>
    </p:spTree>
    <p:extLst>
      <p:ext uri="{BB962C8B-B14F-4D97-AF65-F5344CB8AC3E}">
        <p14:creationId xmlns:p14="http://schemas.microsoft.com/office/powerpoint/2010/main" val="34408280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PROBLEM STATEMENT</a:t>
            </a:r>
            <a:endParaRPr lang="en-PK" sz="3600"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25</a:t>
            </a:fld>
            <a:endParaRPr lang="en-US"/>
          </a:p>
        </p:txBody>
      </p:sp>
      <p:sp>
        <p:nvSpPr>
          <p:cNvPr id="8" name="Rectangle 7">
            <a:extLst>
              <a:ext uri="{FF2B5EF4-FFF2-40B4-BE49-F238E27FC236}">
                <a16:creationId xmlns:a16="http://schemas.microsoft.com/office/drawing/2014/main" id="{AC28AC28-7AC2-40D1-9FBC-38122F7044BF}"/>
              </a:ext>
            </a:extLst>
          </p:cNvPr>
          <p:cNvSpPr/>
          <p:nvPr/>
        </p:nvSpPr>
        <p:spPr>
          <a:xfrm>
            <a:off x="1144402" y="1288734"/>
            <a:ext cx="9903194" cy="4280531"/>
          </a:xfrm>
          <a:prstGeom prst="rect">
            <a:avLst/>
          </a:prstGeom>
        </p:spPr>
        <p:txBody>
          <a:bodyPr wrap="square">
            <a:spAutoFit/>
          </a:bodyPr>
          <a:lstStyle/>
          <a:p>
            <a:pPr algn="just">
              <a:lnSpc>
                <a:spcPct val="200000"/>
              </a:lnSpc>
            </a:pPr>
            <a:r>
              <a:rPr lang="en-US" sz="2800" b="1" dirty="0">
                <a:solidFill>
                  <a:srgbClr val="000000"/>
                </a:solidFill>
                <a:latin typeface="inter"/>
                <a:ea typeface="inter"/>
                <a:cs typeface="inter"/>
              </a:rPr>
              <a:t>“ Existing reinforcement learning-based agricultural management systems are developed for North American and European contexts and cannot be directly applied to Pakistani agricultural conditions due to different climate patterns, crop varieties, farming practices, and economic constraints ”</a:t>
            </a:r>
            <a:endParaRPr lang="en-PK" sz="2800" b="1" dirty="0"/>
          </a:p>
        </p:txBody>
      </p:sp>
    </p:spTree>
    <p:extLst>
      <p:ext uri="{BB962C8B-B14F-4D97-AF65-F5344CB8AC3E}">
        <p14:creationId xmlns:p14="http://schemas.microsoft.com/office/powerpoint/2010/main" val="31541271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269936" y="2921168"/>
            <a:ext cx="7652127" cy="1015663"/>
          </a:xfrm>
          <a:prstGeom prst="rect">
            <a:avLst/>
          </a:prstGeom>
          <a:noFill/>
        </p:spPr>
        <p:txBody>
          <a:bodyPr wrap="square" rtlCol="0">
            <a:spAutoFit/>
          </a:bodyPr>
          <a:lstStyle/>
          <a:p>
            <a:pPr algn="ctr"/>
            <a:r>
              <a:rPr lang="en-US" sz="6000" b="1" dirty="0"/>
              <a:t>SOLUTION STATEMENT</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26</a:t>
            </a:fld>
            <a:endParaRPr lang="en-US"/>
          </a:p>
        </p:txBody>
      </p:sp>
    </p:spTree>
    <p:extLst>
      <p:ext uri="{BB962C8B-B14F-4D97-AF65-F5344CB8AC3E}">
        <p14:creationId xmlns:p14="http://schemas.microsoft.com/office/powerpoint/2010/main" val="36857538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SOLUTION STATEMENT</a:t>
            </a: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27</a:t>
            </a:fld>
            <a:endParaRPr lang="en-US"/>
          </a:p>
        </p:txBody>
      </p:sp>
      <p:sp>
        <p:nvSpPr>
          <p:cNvPr id="8" name="Rectangle 7">
            <a:extLst>
              <a:ext uri="{FF2B5EF4-FFF2-40B4-BE49-F238E27FC236}">
                <a16:creationId xmlns:a16="http://schemas.microsoft.com/office/drawing/2014/main" id="{4930DD92-5F0D-4979-AA4E-D8B0607375AC}"/>
              </a:ext>
            </a:extLst>
          </p:cNvPr>
          <p:cNvSpPr/>
          <p:nvPr/>
        </p:nvSpPr>
        <p:spPr>
          <a:xfrm>
            <a:off x="789934" y="1362002"/>
            <a:ext cx="10612129" cy="4855175"/>
          </a:xfrm>
          <a:prstGeom prst="rect">
            <a:avLst/>
          </a:prstGeom>
        </p:spPr>
        <p:txBody>
          <a:bodyPr wrap="square">
            <a:spAutoFit/>
          </a:bodyPr>
          <a:lstStyle/>
          <a:p>
            <a:pPr>
              <a:spcAft>
                <a:spcPts val="1050"/>
              </a:spcAft>
            </a:pPr>
            <a:r>
              <a:rPr lang="en-US" sz="2000" b="1" dirty="0">
                <a:solidFill>
                  <a:srgbClr val="000000"/>
                </a:solidFill>
                <a:latin typeface="inter"/>
                <a:ea typeface="inter"/>
                <a:cs typeface="inter"/>
              </a:rPr>
              <a:t>Proposed Solution: Pakistan-Adapted Agricultural RL Framework</a:t>
            </a:r>
            <a:endParaRPr lang="en-PK" sz="20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2000" b="1" dirty="0">
                <a:solidFill>
                  <a:srgbClr val="000000"/>
                </a:solidFill>
                <a:latin typeface="inter"/>
                <a:ea typeface="inter"/>
                <a:cs typeface="inter"/>
              </a:rPr>
              <a:t>Core Solution:</a:t>
            </a:r>
            <a:br>
              <a:rPr lang="en-US" sz="2000" dirty="0">
                <a:solidFill>
                  <a:srgbClr val="000000"/>
                </a:solidFill>
                <a:latin typeface="inter"/>
                <a:ea typeface="inter"/>
                <a:cs typeface="inter"/>
              </a:rPr>
            </a:br>
            <a:r>
              <a:rPr lang="en-US" sz="2000" dirty="0">
                <a:solidFill>
                  <a:srgbClr val="000000"/>
                </a:solidFill>
                <a:latin typeface="inter"/>
                <a:ea typeface="inter"/>
                <a:cs typeface="inter"/>
              </a:rPr>
              <a:t>	</a:t>
            </a:r>
            <a:r>
              <a:rPr lang="en-US" sz="2800" dirty="0">
                <a:solidFill>
                  <a:srgbClr val="000000"/>
                </a:solidFill>
                <a:latin typeface="inter"/>
                <a:ea typeface="inter"/>
                <a:cs typeface="inter"/>
              </a:rPr>
              <a:t>Develop a comprehensive reinforcement learning framework 	based on </a:t>
            </a:r>
            <a:r>
              <a:rPr lang="en-US" sz="2800" dirty="0" err="1">
                <a:solidFill>
                  <a:srgbClr val="000000"/>
                </a:solidFill>
                <a:latin typeface="inter"/>
                <a:ea typeface="inter"/>
                <a:cs typeface="inter"/>
              </a:rPr>
              <a:t>CyclesGym</a:t>
            </a:r>
            <a:r>
              <a:rPr lang="en-US" sz="2800" dirty="0">
                <a:solidFill>
                  <a:srgbClr val="000000"/>
                </a:solidFill>
                <a:latin typeface="inter"/>
                <a:ea typeface="inter"/>
                <a:cs typeface="inter"/>
              </a:rPr>
              <a:t> architecture, adapted for Pakistani 	agricultural context with integrated climate modeling, local crop 	varieties, and economic constraints</a:t>
            </a:r>
            <a:r>
              <a:rPr lang="en-US" sz="2000" dirty="0">
                <a:solidFill>
                  <a:srgbClr val="000000"/>
                </a:solidFill>
                <a:latin typeface="inter"/>
                <a:ea typeface="inter"/>
                <a:cs typeface="inter"/>
              </a:rPr>
              <a:t>.</a:t>
            </a:r>
          </a:p>
          <a:p>
            <a:pPr>
              <a:spcAft>
                <a:spcPts val="1050"/>
              </a:spcAft>
            </a:pPr>
            <a:endParaRPr lang="en-PK" sz="20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2000" b="1" dirty="0">
                <a:solidFill>
                  <a:srgbClr val="000000"/>
                </a:solidFill>
                <a:latin typeface="inter"/>
                <a:ea typeface="inter"/>
                <a:cs typeface="inter"/>
              </a:rPr>
              <a:t>Key Components:</a:t>
            </a:r>
            <a:endParaRPr lang="en-PK" sz="2000"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spcBef>
                <a:spcPts val="525"/>
              </a:spcBef>
              <a:spcAft>
                <a:spcPts val="525"/>
              </a:spcAft>
              <a:buFont typeface="+mj-lt"/>
              <a:buAutoNum type="arabicPeriod"/>
              <a:tabLst>
                <a:tab pos="571500" algn="l"/>
              </a:tabLst>
            </a:pPr>
            <a:r>
              <a:rPr lang="en-US" sz="2000" b="1" dirty="0">
                <a:solidFill>
                  <a:srgbClr val="000000"/>
                </a:solidFill>
                <a:latin typeface="inter"/>
                <a:ea typeface="inter"/>
                <a:cs typeface="inter"/>
              </a:rPr>
              <a:t>Climate Module:</a:t>
            </a:r>
            <a:r>
              <a:rPr lang="en-US" sz="2000" dirty="0">
                <a:solidFill>
                  <a:srgbClr val="000000"/>
                </a:solidFill>
                <a:latin typeface="inter"/>
                <a:ea typeface="inter"/>
                <a:cs typeface="inter"/>
              </a:rPr>
              <a:t> Monsoon pattern integration and drought modeling</a:t>
            </a:r>
            <a:endParaRPr lang="en-PK" sz="2000" dirty="0">
              <a:latin typeface="Georgia" panose="02040502050405020303" pitchFamily="18" charset="0"/>
              <a:ea typeface="Calibri" panose="020F0502020204030204" pitchFamily="34" charset="0"/>
              <a:cs typeface="Times New Roman" panose="02020603050405020304" pitchFamily="18" charset="0"/>
            </a:endParaRPr>
          </a:p>
          <a:p>
            <a:pPr marL="342900" lvl="0" indent="-342900">
              <a:spcBef>
                <a:spcPts val="525"/>
              </a:spcBef>
              <a:spcAft>
                <a:spcPts val="525"/>
              </a:spcAft>
              <a:buFont typeface="+mj-lt"/>
              <a:buAutoNum type="arabicPeriod"/>
              <a:tabLst>
                <a:tab pos="571500" algn="l"/>
              </a:tabLst>
            </a:pPr>
            <a:r>
              <a:rPr lang="en-US" sz="2000" b="1" dirty="0">
                <a:solidFill>
                  <a:srgbClr val="000000"/>
                </a:solidFill>
                <a:latin typeface="inter"/>
                <a:ea typeface="inter"/>
                <a:cs typeface="inter"/>
              </a:rPr>
              <a:t>Crop Adaptation:</a:t>
            </a:r>
            <a:r>
              <a:rPr lang="en-US" sz="2000" dirty="0">
                <a:solidFill>
                  <a:srgbClr val="000000"/>
                </a:solidFill>
                <a:latin typeface="inter"/>
                <a:ea typeface="inter"/>
                <a:cs typeface="inter"/>
              </a:rPr>
              <a:t> Pakistani wheat, rice, cotton, and maize varieties</a:t>
            </a:r>
          </a:p>
          <a:p>
            <a:pPr marL="342900" indent="-342900">
              <a:spcBef>
                <a:spcPts val="525"/>
              </a:spcBef>
              <a:spcAft>
                <a:spcPts val="525"/>
              </a:spcAft>
              <a:buFont typeface="+mj-lt"/>
              <a:buAutoNum type="arabicPeriod"/>
              <a:tabLst>
                <a:tab pos="571500" algn="l"/>
              </a:tabLst>
            </a:pPr>
            <a:r>
              <a:rPr lang="en-US" sz="2000" b="1" dirty="0">
                <a:solidFill>
                  <a:srgbClr val="000000"/>
                </a:solidFill>
                <a:latin typeface="inter"/>
                <a:ea typeface="inter"/>
                <a:cs typeface="inter"/>
              </a:rPr>
              <a:t>Soil Data: </a:t>
            </a:r>
            <a:r>
              <a:rPr lang="en-US" sz="2000" dirty="0">
                <a:solidFill>
                  <a:srgbClr val="000000"/>
                </a:solidFill>
                <a:latin typeface="inter"/>
                <a:ea typeface="inter"/>
                <a:cs typeface="inter"/>
              </a:rPr>
              <a:t>Local soil data</a:t>
            </a:r>
          </a:p>
        </p:txBody>
      </p:sp>
    </p:spTree>
    <p:extLst>
      <p:ext uri="{BB962C8B-B14F-4D97-AF65-F5344CB8AC3E}">
        <p14:creationId xmlns:p14="http://schemas.microsoft.com/office/powerpoint/2010/main" val="1597845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269936" y="2921168"/>
            <a:ext cx="7652127" cy="1015663"/>
          </a:xfrm>
          <a:prstGeom prst="rect">
            <a:avLst/>
          </a:prstGeom>
          <a:noFill/>
        </p:spPr>
        <p:txBody>
          <a:bodyPr wrap="square" rtlCol="0">
            <a:spAutoFit/>
          </a:bodyPr>
          <a:lstStyle/>
          <a:p>
            <a:pPr algn="ctr"/>
            <a:r>
              <a:rPr lang="en-US" sz="6000" b="1" dirty="0"/>
              <a:t>RESEARCH OBJECTIVES</a:t>
            </a:r>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28</a:t>
            </a:fld>
            <a:endParaRPr lang="en-US"/>
          </a:p>
        </p:txBody>
      </p:sp>
    </p:spTree>
    <p:extLst>
      <p:ext uri="{BB962C8B-B14F-4D97-AF65-F5344CB8AC3E}">
        <p14:creationId xmlns:p14="http://schemas.microsoft.com/office/powerpoint/2010/main" val="470091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RESEARCH OBJECTIVES</a:t>
            </a: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29</a:t>
            </a:fld>
            <a:endParaRPr lang="en-US"/>
          </a:p>
        </p:txBody>
      </p:sp>
      <p:sp>
        <p:nvSpPr>
          <p:cNvPr id="7" name="Rectangle 1">
            <a:extLst>
              <a:ext uri="{FF2B5EF4-FFF2-40B4-BE49-F238E27FC236}">
                <a16:creationId xmlns:a16="http://schemas.microsoft.com/office/drawing/2014/main" id="{299C56AC-721A-4DA8-A6CB-CE0898F014EA}"/>
              </a:ext>
            </a:extLst>
          </p:cNvPr>
          <p:cNvSpPr>
            <a:spLocks noChangeArrowheads="1"/>
          </p:cNvSpPr>
          <p:nvPr/>
        </p:nvSpPr>
        <p:spPr bwMode="auto">
          <a:xfrm rot="10800000" flipV="1">
            <a:off x="826818" y="1276135"/>
            <a:ext cx="10538361" cy="4305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PK" altLang="en-PK" sz="2000" b="1" i="0" u="none" strike="noStrike" cap="none" normalizeH="0" baseline="0" dirty="0">
                <a:ln>
                  <a:noFill/>
                </a:ln>
                <a:solidFill>
                  <a:schemeClr val="tx1"/>
                </a:solidFill>
                <a:effectLst/>
                <a:latin typeface="Arial" panose="020B0604020202020204" pitchFamily="34" charset="0"/>
              </a:rPr>
              <a:t>Develop a </a:t>
            </a:r>
            <a:r>
              <a:rPr kumimoji="0" lang="en-PK" altLang="en-PK" sz="2000" b="1" i="0" u="none" strike="noStrike" cap="none" normalizeH="0" baseline="0" dirty="0" err="1">
                <a:ln>
                  <a:noFill/>
                </a:ln>
                <a:solidFill>
                  <a:schemeClr val="tx1"/>
                </a:solidFill>
                <a:effectLst/>
                <a:latin typeface="Arial" panose="020B0604020202020204" pitchFamily="34" charset="0"/>
              </a:rPr>
              <a:t>CyclesGym</a:t>
            </a:r>
            <a:r>
              <a:rPr kumimoji="0" lang="en-PK" altLang="en-PK" sz="2000" b="1" i="0" u="none" strike="noStrike" cap="none" normalizeH="0" baseline="0" dirty="0">
                <a:ln>
                  <a:noFill/>
                </a:ln>
                <a:solidFill>
                  <a:schemeClr val="tx1"/>
                </a:solidFill>
                <a:effectLst/>
                <a:latin typeface="Arial" panose="020B0604020202020204" pitchFamily="34" charset="0"/>
              </a:rPr>
              <a:t>-PK simulation environment</a:t>
            </a:r>
            <a:endParaRPr lang="en-US" altLang="en-PK" sz="2000" dirty="0">
              <a:latin typeface="Arial" panose="020B0604020202020204" pitchFamily="34" charset="0"/>
            </a:endParaRPr>
          </a:p>
          <a:p>
            <a:pPr marL="1200150" lvl="2" indent="-285750" eaLnBrk="0" fontAlgn="base" hangingPunct="0">
              <a:lnSpc>
                <a:spcPct val="200000"/>
              </a:lnSpc>
              <a:spcBef>
                <a:spcPct val="0"/>
              </a:spcBef>
              <a:spcAft>
                <a:spcPct val="0"/>
              </a:spcAft>
              <a:buFont typeface="Arial" panose="020B0604020202020204" pitchFamily="34" charset="0"/>
              <a:buChar char="•"/>
            </a:pPr>
            <a:r>
              <a:rPr kumimoji="0" lang="en-PK" altLang="en-PK" sz="2000" b="0" i="0" u="none" strike="noStrike" cap="none" normalizeH="0" baseline="0" dirty="0">
                <a:ln>
                  <a:noFill/>
                </a:ln>
                <a:solidFill>
                  <a:schemeClr val="tx1"/>
                </a:solidFill>
                <a:effectLst/>
                <a:latin typeface="Arial" panose="020B0604020202020204" pitchFamily="34" charset="0"/>
              </a:rPr>
              <a:t>Inject monsoon weather series, Indus-plain soil profiles and local wheat/rice cultivars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PK" altLang="en-PK" sz="2000" b="1" i="0" u="none" strike="noStrike" cap="none" normalizeH="0" baseline="0" dirty="0">
                <a:ln>
                  <a:noFill/>
                </a:ln>
                <a:solidFill>
                  <a:schemeClr val="tx1"/>
                </a:solidFill>
                <a:effectLst/>
                <a:latin typeface="Arial" panose="020B0604020202020204" pitchFamily="34" charset="0"/>
              </a:rPr>
              <a:t>Design a cost-aware reward function</a:t>
            </a:r>
            <a:endParaRPr lang="en-US" altLang="en-PK" sz="2000" dirty="0">
              <a:latin typeface="Arial" panose="020B0604020202020204" pitchFamily="34" charset="0"/>
            </a:endParaRPr>
          </a:p>
          <a:p>
            <a:pPr marL="1200150" lvl="2" indent="-285750" eaLnBrk="0" fontAlgn="base" hangingPunct="0">
              <a:lnSpc>
                <a:spcPct val="200000"/>
              </a:lnSpc>
              <a:spcBef>
                <a:spcPct val="0"/>
              </a:spcBef>
              <a:spcAft>
                <a:spcPct val="0"/>
              </a:spcAft>
              <a:buFont typeface="Arial" panose="020B0604020202020204" pitchFamily="34" charset="0"/>
              <a:buChar char="•"/>
            </a:pPr>
            <a:r>
              <a:rPr kumimoji="0" lang="en-PK" altLang="en-PK" sz="2000" b="0" i="0" u="none" strike="noStrike" cap="none" normalizeH="0" baseline="0" dirty="0">
                <a:ln>
                  <a:noFill/>
                </a:ln>
                <a:solidFill>
                  <a:schemeClr val="tx1"/>
                </a:solidFill>
                <a:effectLst/>
                <a:latin typeface="Arial" panose="020B0604020202020204" pitchFamily="34" charset="0"/>
              </a:rPr>
              <a:t>Maximise net profit while penalising water use and N-leaching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PK" altLang="en-PK" sz="2000" b="1" i="0" u="none" strike="noStrike" cap="none" normalizeH="0" baseline="0" dirty="0">
                <a:ln>
                  <a:noFill/>
                </a:ln>
                <a:solidFill>
                  <a:schemeClr val="tx1"/>
                </a:solidFill>
                <a:effectLst/>
                <a:latin typeface="Arial" panose="020B0604020202020204" pitchFamily="34" charset="0"/>
              </a:rPr>
              <a:t>Train a PPO agent for weekly irrigation scheduling</a:t>
            </a:r>
            <a:endParaRPr lang="en-US" altLang="en-PK" sz="2000" dirty="0">
              <a:latin typeface="Arial" panose="020B0604020202020204" pitchFamily="34" charset="0"/>
            </a:endParaRPr>
          </a:p>
          <a:p>
            <a:pPr marL="1200150" lvl="2" indent="-285750" eaLnBrk="0" fontAlgn="base" hangingPunct="0">
              <a:lnSpc>
                <a:spcPct val="200000"/>
              </a:lnSpc>
              <a:spcBef>
                <a:spcPct val="0"/>
              </a:spcBef>
              <a:spcAft>
                <a:spcPct val="0"/>
              </a:spcAft>
              <a:buFont typeface="Arial" panose="020B0604020202020204" pitchFamily="34" charset="0"/>
              <a:buChar char="•"/>
            </a:pPr>
            <a:r>
              <a:rPr kumimoji="0" lang="en-PK" altLang="en-PK" sz="2000" b="0" i="0" u="none" strike="noStrike" cap="none" normalizeH="0" baseline="0" dirty="0">
                <a:ln>
                  <a:noFill/>
                </a:ln>
                <a:solidFill>
                  <a:schemeClr val="tx1"/>
                </a:solidFill>
                <a:effectLst/>
                <a:latin typeface="Arial" panose="020B0604020202020204" pitchFamily="34" charset="0"/>
              </a:rPr>
              <a:t>Learn policies under stochastic monsoon rainfall</a:t>
            </a:r>
            <a:r>
              <a:rPr kumimoji="0" lang="en-US" altLang="en-PK" sz="2000" b="0" i="0" u="none" strike="noStrike" cap="none" normalizeH="0" baseline="0" dirty="0">
                <a:ln>
                  <a:noFill/>
                </a:ln>
                <a:solidFill>
                  <a:schemeClr val="tx1"/>
                </a:solidFill>
                <a:effectLst/>
                <a:latin typeface="Arial" panose="020B0604020202020204" pitchFamily="34" charset="0"/>
              </a:rPr>
              <a:t> data</a:t>
            </a:r>
            <a:endParaRPr kumimoji="0" lang="en-PK" altLang="en-PK"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08040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1555865" y="2921168"/>
            <a:ext cx="9080270" cy="1015663"/>
          </a:xfrm>
          <a:prstGeom prst="rect">
            <a:avLst/>
          </a:prstGeom>
          <a:noFill/>
        </p:spPr>
        <p:txBody>
          <a:bodyPr wrap="square" rtlCol="0">
            <a:spAutoFit/>
          </a:bodyPr>
          <a:lstStyle/>
          <a:p>
            <a:pPr algn="ctr"/>
            <a:r>
              <a:rPr lang="en-US" sz="6000" b="1" dirty="0">
                <a:solidFill>
                  <a:srgbClr val="000000"/>
                </a:solidFill>
                <a:latin typeface="inter"/>
              </a:rPr>
              <a:t>RESEARCH METHODOLOGY</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30</a:t>
            </a:fld>
            <a:endParaRPr lang="en-US"/>
          </a:p>
        </p:txBody>
      </p:sp>
    </p:spTree>
    <p:extLst>
      <p:ext uri="{BB962C8B-B14F-4D97-AF65-F5344CB8AC3E}">
        <p14:creationId xmlns:p14="http://schemas.microsoft.com/office/powerpoint/2010/main" val="17512942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solidFill>
                  <a:srgbClr val="000000"/>
                </a:solidFill>
                <a:latin typeface="inter"/>
              </a:rPr>
              <a:t>RESEARCH METHODOLOGY</a:t>
            </a:r>
            <a:endParaRPr lang="en-PK" sz="3600" b="1" dirty="0"/>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31</a:t>
            </a:fld>
            <a:endParaRPr lang="en-US"/>
          </a:p>
        </p:txBody>
      </p:sp>
      <p:sp>
        <p:nvSpPr>
          <p:cNvPr id="7" name="TextBox 6">
            <a:extLst>
              <a:ext uri="{FF2B5EF4-FFF2-40B4-BE49-F238E27FC236}">
                <a16:creationId xmlns:a16="http://schemas.microsoft.com/office/drawing/2014/main" id="{229EA96D-2350-483E-8ECA-9A3A768EF8F7}"/>
              </a:ext>
            </a:extLst>
          </p:cNvPr>
          <p:cNvSpPr txBox="1"/>
          <p:nvPr/>
        </p:nvSpPr>
        <p:spPr>
          <a:xfrm>
            <a:off x="4684052" y="1229493"/>
            <a:ext cx="2823893"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Methodology Overview</a:t>
            </a:r>
          </a:p>
        </p:txBody>
      </p:sp>
      <p:graphicFrame>
        <p:nvGraphicFramePr>
          <p:cNvPr id="3" name="Table 2">
            <a:extLst>
              <a:ext uri="{FF2B5EF4-FFF2-40B4-BE49-F238E27FC236}">
                <a16:creationId xmlns:a16="http://schemas.microsoft.com/office/drawing/2014/main" id="{839934C4-2030-4ADE-B25A-29FBDC5E2F54}"/>
              </a:ext>
            </a:extLst>
          </p:cNvPr>
          <p:cNvGraphicFramePr>
            <a:graphicFrameLocks noGrp="1"/>
          </p:cNvGraphicFramePr>
          <p:nvPr>
            <p:extLst>
              <p:ext uri="{D42A27DB-BD31-4B8C-83A1-F6EECF244321}">
                <p14:modId xmlns:p14="http://schemas.microsoft.com/office/powerpoint/2010/main" val="484010714"/>
              </p:ext>
            </p:extLst>
          </p:nvPr>
        </p:nvGraphicFramePr>
        <p:xfrm>
          <a:off x="852256" y="1707835"/>
          <a:ext cx="10537793" cy="2086402"/>
        </p:xfrm>
        <a:graphic>
          <a:graphicData uri="http://schemas.openxmlformats.org/drawingml/2006/table">
            <a:tbl>
              <a:tblPr firstRow="1" bandRow="1">
                <a:tableStyleId>{5C22544A-7EE6-4342-B048-85BDC9FD1C3A}</a:tableStyleId>
              </a:tblPr>
              <a:tblGrid>
                <a:gridCol w="2774598">
                  <a:extLst>
                    <a:ext uri="{9D8B030D-6E8A-4147-A177-3AD203B41FA5}">
                      <a16:colId xmlns:a16="http://schemas.microsoft.com/office/drawing/2014/main" val="4204264431"/>
                    </a:ext>
                  </a:extLst>
                </a:gridCol>
                <a:gridCol w="7763195">
                  <a:extLst>
                    <a:ext uri="{9D8B030D-6E8A-4147-A177-3AD203B41FA5}">
                      <a16:colId xmlns:a16="http://schemas.microsoft.com/office/drawing/2014/main" val="3254019302"/>
                    </a:ext>
                  </a:extLst>
                </a:gridCol>
              </a:tblGrid>
              <a:tr h="324076">
                <a:tc>
                  <a:txBody>
                    <a:bodyPr/>
                    <a:lstStyle/>
                    <a:p>
                      <a:pPr algn="l"/>
                      <a:r>
                        <a:rPr lang="en-US" sz="1800" dirty="0">
                          <a:latin typeface="Arial" panose="020B0604020202020204" pitchFamily="34" charset="0"/>
                          <a:cs typeface="Arial" panose="020B0604020202020204" pitchFamily="34" charset="0"/>
                        </a:rPr>
                        <a:t>Data stream</a:t>
                      </a:r>
                    </a:p>
                  </a:txBody>
                  <a:tcPr anchor="ctr"/>
                </a:tc>
                <a:tc>
                  <a:txBody>
                    <a:bodyPr/>
                    <a:lstStyle/>
                    <a:p>
                      <a:pPr algn="l"/>
                      <a:r>
                        <a:rPr lang="en-US" sz="1800" dirty="0">
                          <a:latin typeface="Arial" panose="020B0604020202020204" pitchFamily="34" charset="0"/>
                          <a:cs typeface="Arial" panose="020B0604020202020204" pitchFamily="34" charset="0"/>
                        </a:rPr>
                        <a:t>Source &amp; format</a:t>
                      </a:r>
                    </a:p>
                  </a:txBody>
                  <a:tcPr anchor="ctr"/>
                </a:tc>
                <a:extLst>
                  <a:ext uri="{0D108BD9-81ED-4DB2-BD59-A6C34878D82A}">
                    <a16:rowId xmlns:a16="http://schemas.microsoft.com/office/drawing/2014/main" val="987873400"/>
                  </a:ext>
                </a:extLst>
              </a:tr>
              <a:tr h="395174">
                <a:tc>
                  <a:txBody>
                    <a:bodyPr/>
                    <a:lstStyle/>
                    <a:p>
                      <a:pPr algn="l"/>
                      <a:r>
                        <a:rPr lang="en-US" sz="1800" b="1" dirty="0">
                          <a:latin typeface="Arial" panose="020B0604020202020204" pitchFamily="34" charset="0"/>
                          <a:cs typeface="Arial" panose="020B0604020202020204" pitchFamily="34" charset="0"/>
                        </a:rPr>
                        <a:t>Weather</a:t>
                      </a:r>
                      <a:endParaRPr lang="en-US" sz="1800" dirty="0">
                        <a:latin typeface="Arial" panose="020B0604020202020204" pitchFamily="34" charset="0"/>
                        <a:cs typeface="Arial" panose="020B0604020202020204" pitchFamily="34" charset="0"/>
                      </a:endParaRPr>
                    </a:p>
                  </a:txBody>
                  <a:tcPr anchor="ctr"/>
                </a:tc>
                <a:tc>
                  <a:txBody>
                    <a:bodyPr/>
                    <a:lstStyle/>
                    <a:p>
                      <a:pPr algn="l"/>
                      <a:r>
                        <a:rPr lang="en-US" sz="1800" dirty="0">
                          <a:latin typeface="Arial" panose="020B0604020202020204" pitchFamily="34" charset="0"/>
                          <a:cs typeface="Arial" panose="020B0604020202020204" pitchFamily="34" charset="0"/>
                        </a:rPr>
                        <a:t>Pakistan Meteorological Dept. →    </a:t>
                      </a:r>
                      <a:r>
                        <a:rPr lang="en-US" sz="1800" i="1" dirty="0">
                          <a:latin typeface="Arial" panose="020B0604020202020204" pitchFamily="34" charset="0"/>
                          <a:cs typeface="Arial" panose="020B0604020202020204" pitchFamily="34" charset="0"/>
                        </a:rPr>
                        <a:t>.weather</a:t>
                      </a: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871710953"/>
                  </a:ext>
                </a:extLst>
              </a:tr>
              <a:tr h="324076">
                <a:tc>
                  <a:txBody>
                    <a:bodyPr/>
                    <a:lstStyle/>
                    <a:p>
                      <a:pPr algn="l"/>
                      <a:r>
                        <a:rPr lang="en-US" sz="1800" b="1">
                          <a:latin typeface="Arial" panose="020B0604020202020204" pitchFamily="34" charset="0"/>
                          <a:cs typeface="Arial" panose="020B0604020202020204" pitchFamily="34" charset="0"/>
                        </a:rPr>
                        <a:t>Soil profile</a:t>
                      </a:r>
                      <a:endParaRPr lang="en-US" sz="1800">
                        <a:latin typeface="Arial" panose="020B0604020202020204" pitchFamily="34" charset="0"/>
                        <a:cs typeface="Arial" panose="020B0604020202020204" pitchFamily="34" charset="0"/>
                      </a:endParaRPr>
                    </a:p>
                  </a:txBody>
                  <a:tcPr anchor="ctr"/>
                </a:tc>
                <a:tc>
                  <a:txBody>
                    <a:bodyPr/>
                    <a:lstStyle/>
                    <a:p>
                      <a:pPr algn="l"/>
                      <a:r>
                        <a:rPr lang="en-US" sz="1800" dirty="0">
                          <a:latin typeface="Arial" panose="020B0604020202020204" pitchFamily="34" charset="0"/>
                          <a:cs typeface="Arial" panose="020B0604020202020204" pitchFamily="34" charset="0"/>
                        </a:rPr>
                        <a:t>FAO Indus‑loam    →    </a:t>
                      </a:r>
                      <a:r>
                        <a:rPr lang="en-US" sz="1800" i="1" dirty="0">
                          <a:latin typeface="Arial" panose="020B0604020202020204" pitchFamily="34" charset="0"/>
                          <a:cs typeface="Arial" panose="020B0604020202020204" pitchFamily="34" charset="0"/>
                        </a:rPr>
                        <a:t>.soil</a:t>
                      </a: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41131862"/>
                  </a:ext>
                </a:extLst>
              </a:tr>
              <a:tr h="395174">
                <a:tc>
                  <a:txBody>
                    <a:bodyPr/>
                    <a:lstStyle/>
                    <a:p>
                      <a:pPr algn="l"/>
                      <a:r>
                        <a:rPr lang="en-US" sz="1800" b="1">
                          <a:latin typeface="Arial" panose="020B0604020202020204" pitchFamily="34" charset="0"/>
                          <a:cs typeface="Arial" panose="020B0604020202020204" pitchFamily="34" charset="0"/>
                        </a:rPr>
                        <a:t>Crop cultivar</a:t>
                      </a:r>
                      <a:endParaRPr lang="en-US" sz="1800">
                        <a:latin typeface="Arial" panose="020B0604020202020204" pitchFamily="34" charset="0"/>
                        <a:cs typeface="Arial" panose="020B0604020202020204" pitchFamily="34" charset="0"/>
                      </a:endParaRPr>
                    </a:p>
                  </a:txBody>
                  <a:tcPr anchor="ctr"/>
                </a:tc>
                <a:tc>
                  <a:txBody>
                    <a:bodyPr/>
                    <a:lstStyle/>
                    <a:p>
                      <a:pPr algn="l"/>
                      <a:r>
                        <a:rPr lang="en-US" sz="1800" dirty="0">
                          <a:latin typeface="Arial" panose="020B0604020202020204" pitchFamily="34" charset="0"/>
                          <a:cs typeface="Arial" panose="020B0604020202020204" pitchFamily="34" charset="0"/>
                        </a:rPr>
                        <a:t>IRRI‑6 rice, Sehar‑06 wheat → </a:t>
                      </a:r>
                      <a:r>
                        <a:rPr lang="en-US" sz="1800" i="1" dirty="0" err="1">
                          <a:latin typeface="Arial" panose="020B0604020202020204" pitchFamily="34" charset="0"/>
                          <a:cs typeface="Arial" panose="020B0604020202020204" pitchFamily="34" charset="0"/>
                        </a:rPr>
                        <a:t>GenericCrops.crop</a:t>
                      </a: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60159801"/>
                  </a:ext>
                </a:extLst>
              </a:tr>
              <a:tr h="564534">
                <a:tc>
                  <a:txBody>
                    <a:bodyPr/>
                    <a:lstStyle/>
                    <a:p>
                      <a:pPr algn="l"/>
                      <a:r>
                        <a:rPr lang="en-US" sz="1800" b="1">
                          <a:latin typeface="Arial" panose="020B0604020202020204" pitchFamily="34" charset="0"/>
                          <a:cs typeface="Arial" panose="020B0604020202020204" pitchFamily="34" charset="0"/>
                        </a:rPr>
                        <a:t>Price &amp; cost constants</a:t>
                      </a:r>
                      <a:endParaRPr lang="en-US" sz="1800">
                        <a:latin typeface="Arial" panose="020B0604020202020204" pitchFamily="34" charset="0"/>
                        <a:cs typeface="Arial" panose="020B0604020202020204" pitchFamily="34" charset="0"/>
                      </a:endParaRPr>
                    </a:p>
                  </a:txBody>
                  <a:tcPr anchor="ctr"/>
                </a:tc>
                <a:tc>
                  <a:txBody>
                    <a:bodyPr/>
                    <a:lstStyle/>
                    <a:p>
                      <a:pPr algn="l"/>
                      <a:r>
                        <a:rPr lang="en-US" sz="1800" b="0" i="0" kern="1200" dirty="0">
                          <a:solidFill>
                            <a:schemeClr val="dk1"/>
                          </a:solidFill>
                          <a:effectLst/>
                          <a:latin typeface="Arial" panose="020B0604020202020204" pitchFamily="34" charset="0"/>
                          <a:ea typeface="+mn-ea"/>
                          <a:cs typeface="Arial" panose="020B0604020202020204" pitchFamily="34" charset="0"/>
                        </a:rPr>
                        <a:t>Pakistan Bureau of Statistics</a:t>
                      </a:r>
                      <a:r>
                        <a:rPr lang="en-US" sz="1800" dirty="0">
                          <a:latin typeface="Arial" panose="020B0604020202020204" pitchFamily="34" charset="0"/>
                          <a:cs typeface="Arial" panose="020B0604020202020204" pitchFamily="34" charset="0"/>
                        </a:rPr>
                        <a:t> market bulletins → </a:t>
                      </a:r>
                      <a:r>
                        <a:rPr lang="en-US" sz="1800" i="1" dirty="0" err="1">
                          <a:latin typeface="Arial" panose="020B0604020202020204" pitchFamily="34" charset="0"/>
                          <a:cs typeface="Arial" panose="020B0604020202020204" pitchFamily="34" charset="0"/>
                        </a:rPr>
                        <a:t>reward_config.json</a:t>
                      </a: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295053523"/>
                  </a:ext>
                </a:extLst>
              </a:tr>
            </a:tbl>
          </a:graphicData>
        </a:graphic>
      </p:graphicFrame>
      <p:sp>
        <p:nvSpPr>
          <p:cNvPr id="10" name="Rectangle 9">
            <a:extLst>
              <a:ext uri="{FF2B5EF4-FFF2-40B4-BE49-F238E27FC236}">
                <a16:creationId xmlns:a16="http://schemas.microsoft.com/office/drawing/2014/main" id="{B0FA4373-647F-49EC-BFF3-C1710EBC6EDE}"/>
              </a:ext>
            </a:extLst>
          </p:cNvPr>
          <p:cNvSpPr/>
          <p:nvPr/>
        </p:nvSpPr>
        <p:spPr>
          <a:xfrm>
            <a:off x="826817" y="3794237"/>
            <a:ext cx="10538361" cy="2782941"/>
          </a:xfrm>
          <a:prstGeom prst="rect">
            <a:avLst/>
          </a:prstGeom>
        </p:spPr>
        <p:txBody>
          <a:bodyPr wrap="square">
            <a:spAutoFit/>
          </a:bodyPr>
          <a:lstStyle/>
          <a:p>
            <a:pPr marL="285750" indent="-285750">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Weather generator: </a:t>
            </a:r>
            <a:r>
              <a:rPr lang="en-US" dirty="0" err="1">
                <a:latin typeface="Arial" panose="020B0604020202020204" pitchFamily="34" charset="0"/>
                <a:cs typeface="Arial" panose="020B0604020202020204" pitchFamily="34" charset="0"/>
              </a:rPr>
              <a:t>PKWeatherGenerator</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csv_dir</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delta_days</a:t>
            </a:r>
            <a:r>
              <a:rPr lang="en-US" dirty="0">
                <a:latin typeface="Arial" panose="020B0604020202020204" pitchFamily="34" charset="0"/>
                <a:cs typeface="Arial" panose="020B0604020202020204" pitchFamily="34" charset="0"/>
              </a:rPr>
              <a:t>=7)</a:t>
            </a:r>
          </a:p>
          <a:p>
            <a:pPr marL="285750" indent="-285750">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Soil generator: </a:t>
            </a:r>
            <a:r>
              <a:rPr lang="en-US" dirty="0" err="1">
                <a:latin typeface="Arial" panose="020B0604020202020204" pitchFamily="34" charset="0"/>
                <a:cs typeface="Arial" panose="020B0604020202020204" pitchFamily="34" charset="0"/>
              </a:rPr>
              <a:t>StaticSoilGenerator</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IndusLoam.soil</a:t>
            </a:r>
            <a:r>
              <a:rPr lang="en-US" dirty="0">
                <a:latin typeface="Arial" panose="020B0604020202020204" pitchFamily="34" charset="0"/>
                <a:cs typeface="Arial" panose="020B0604020202020204" pitchFamily="34" charset="0"/>
              </a:rPr>
              <a:t>")</a:t>
            </a:r>
          </a:p>
          <a:p>
            <a:pPr marL="285750" indent="-285750">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Rotation file: rice → wheat 2‑year .operation template (monsoon sow 10 Jul; </a:t>
            </a:r>
            <a:r>
              <a:rPr lang="en-US" dirty="0" err="1">
                <a:latin typeface="Arial" panose="020B0604020202020204" pitchFamily="34" charset="0"/>
                <a:cs typeface="Arial" panose="020B0604020202020204" pitchFamily="34" charset="0"/>
              </a:rPr>
              <a:t>rabi</a:t>
            </a:r>
            <a:r>
              <a:rPr lang="en-US" dirty="0">
                <a:latin typeface="Arial" panose="020B0604020202020204" pitchFamily="34" charset="0"/>
                <a:cs typeface="Arial" panose="020B0604020202020204" pitchFamily="34" charset="0"/>
              </a:rPr>
              <a:t> sow 15 Nov)</a:t>
            </a:r>
          </a:p>
          <a:p>
            <a:pPr marL="285750" indent="-285750">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Delta &amp; horizon: </a:t>
            </a:r>
            <a:r>
              <a:rPr lang="en-US" dirty="0" err="1">
                <a:latin typeface="Arial" panose="020B0604020202020204" pitchFamily="34" charset="0"/>
                <a:cs typeface="Arial" panose="020B0604020202020204" pitchFamily="34" charset="0"/>
              </a:rPr>
              <a:t>delta_days</a:t>
            </a:r>
            <a:r>
              <a:rPr lang="en-US" dirty="0">
                <a:latin typeface="Arial" panose="020B0604020202020204" pitchFamily="34" charset="0"/>
                <a:cs typeface="Arial" panose="020B0604020202020204" pitchFamily="34" charset="0"/>
              </a:rPr>
              <a:t>=7, </a:t>
            </a:r>
            <a:r>
              <a:rPr lang="en-US" dirty="0" err="1">
                <a:latin typeface="Arial" panose="020B0604020202020204" pitchFamily="34" charset="0"/>
                <a:cs typeface="Arial" panose="020B0604020202020204" pitchFamily="34" charset="0"/>
              </a:rPr>
              <a:t>duration_years</a:t>
            </a:r>
            <a:r>
              <a:rPr lang="en-US" dirty="0">
                <a:latin typeface="Arial" panose="020B0604020202020204" pitchFamily="34" charset="0"/>
                <a:cs typeface="Arial" panose="020B0604020202020204" pitchFamily="34" charset="0"/>
              </a:rPr>
              <a:t>=2</a:t>
            </a:r>
          </a:p>
          <a:p>
            <a:pPr marL="285750" indent="-285750">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Baseline check: Simulator reproduces ≈ 3.6 t ha⁻¹ rice &amp; 2.8 t ha⁻¹ wheat with farmer schedule</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08191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solidFill>
                  <a:srgbClr val="000000"/>
                </a:solidFill>
                <a:latin typeface="inter"/>
              </a:rPr>
              <a:t>RESEARCH METHODOLOGY</a:t>
            </a:r>
            <a:endParaRPr lang="en-PK" sz="3600" b="1" dirty="0"/>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32</a:t>
            </a:fld>
            <a:endParaRPr lang="en-US"/>
          </a:p>
        </p:txBody>
      </p:sp>
      <p:sp>
        <p:nvSpPr>
          <p:cNvPr id="7" name="TextBox 6">
            <a:extLst>
              <a:ext uri="{FF2B5EF4-FFF2-40B4-BE49-F238E27FC236}">
                <a16:creationId xmlns:a16="http://schemas.microsoft.com/office/drawing/2014/main" id="{229EA96D-2350-483E-8ECA-9A3A768EF8F7}"/>
              </a:ext>
            </a:extLst>
          </p:cNvPr>
          <p:cNvSpPr txBox="1"/>
          <p:nvPr/>
        </p:nvSpPr>
        <p:spPr>
          <a:xfrm>
            <a:off x="5002366" y="1229493"/>
            <a:ext cx="2187265"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PPO Agent Setup</a:t>
            </a:r>
          </a:p>
        </p:txBody>
      </p:sp>
      <p:pic>
        <p:nvPicPr>
          <p:cNvPr id="8" name="Picture 2" descr="Generated image">
            <a:extLst>
              <a:ext uri="{FF2B5EF4-FFF2-40B4-BE49-F238E27FC236}">
                <a16:creationId xmlns:a16="http://schemas.microsoft.com/office/drawing/2014/main" id="{ADB36AE9-F2A7-4134-99E4-A8A4D0344C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9496" y="1874232"/>
            <a:ext cx="3830715" cy="38307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0C363206-B49F-435C-AA4E-F9B21FD7B01E}"/>
              </a:ext>
            </a:extLst>
          </p:cNvPr>
          <p:cNvGraphicFramePr>
            <a:graphicFrameLocks noGrp="1"/>
          </p:cNvGraphicFramePr>
          <p:nvPr>
            <p:extLst>
              <p:ext uri="{D42A27DB-BD31-4B8C-83A1-F6EECF244321}">
                <p14:modId xmlns:p14="http://schemas.microsoft.com/office/powerpoint/2010/main" val="964166368"/>
              </p:ext>
            </p:extLst>
          </p:nvPr>
        </p:nvGraphicFramePr>
        <p:xfrm>
          <a:off x="851688" y="1707834"/>
          <a:ext cx="7287807" cy="4740158"/>
        </p:xfrm>
        <a:graphic>
          <a:graphicData uri="http://schemas.openxmlformats.org/drawingml/2006/table">
            <a:tbl>
              <a:tblPr firstRow="1" bandRow="1">
                <a:tableStyleId>{5C22544A-7EE6-4342-B048-85BDC9FD1C3A}</a:tableStyleId>
              </a:tblPr>
              <a:tblGrid>
                <a:gridCol w="2429269">
                  <a:extLst>
                    <a:ext uri="{9D8B030D-6E8A-4147-A177-3AD203B41FA5}">
                      <a16:colId xmlns:a16="http://schemas.microsoft.com/office/drawing/2014/main" val="2736900011"/>
                    </a:ext>
                  </a:extLst>
                </a:gridCol>
                <a:gridCol w="2429269">
                  <a:extLst>
                    <a:ext uri="{9D8B030D-6E8A-4147-A177-3AD203B41FA5}">
                      <a16:colId xmlns:a16="http://schemas.microsoft.com/office/drawing/2014/main" val="3096923128"/>
                    </a:ext>
                  </a:extLst>
                </a:gridCol>
                <a:gridCol w="2429269">
                  <a:extLst>
                    <a:ext uri="{9D8B030D-6E8A-4147-A177-3AD203B41FA5}">
                      <a16:colId xmlns:a16="http://schemas.microsoft.com/office/drawing/2014/main" val="767404022"/>
                    </a:ext>
                  </a:extLst>
                </a:gridCol>
              </a:tblGrid>
              <a:tr h="471239">
                <a:tc>
                  <a:txBody>
                    <a:bodyPr/>
                    <a:lstStyle/>
                    <a:p>
                      <a:pPr algn="ctr"/>
                      <a:r>
                        <a:rPr lang="en-US" sz="1800" dirty="0">
                          <a:latin typeface="Arial" panose="020B0604020202020204" pitchFamily="34" charset="0"/>
                          <a:cs typeface="Arial" panose="020B0604020202020204" pitchFamily="34" charset="0"/>
                        </a:rPr>
                        <a:t>Setting</a:t>
                      </a:r>
                    </a:p>
                  </a:txBody>
                  <a:tcPr anchor="ctr"/>
                </a:tc>
                <a:tc>
                  <a:txBody>
                    <a:bodyPr/>
                    <a:lstStyle/>
                    <a:p>
                      <a:pPr algn="ctr"/>
                      <a:r>
                        <a:rPr lang="en-US" sz="1800">
                          <a:latin typeface="Arial" panose="020B0604020202020204" pitchFamily="34" charset="0"/>
                          <a:cs typeface="Arial" panose="020B0604020202020204" pitchFamily="34" charset="0"/>
                        </a:rPr>
                        <a:t>Value</a:t>
                      </a:r>
                    </a:p>
                  </a:txBody>
                  <a:tcPr anchor="ctr"/>
                </a:tc>
                <a:tc>
                  <a:txBody>
                    <a:bodyPr/>
                    <a:lstStyle/>
                    <a:p>
                      <a:pPr algn="ctr"/>
                      <a:r>
                        <a:rPr lang="en-US" sz="1800" dirty="0">
                          <a:latin typeface="Arial" panose="020B0604020202020204" pitchFamily="34" charset="0"/>
                          <a:cs typeface="Arial" panose="020B0604020202020204" pitchFamily="34" charset="0"/>
                        </a:rPr>
                        <a:t>Rationale</a:t>
                      </a:r>
                    </a:p>
                  </a:txBody>
                  <a:tcPr anchor="ctr"/>
                </a:tc>
                <a:extLst>
                  <a:ext uri="{0D108BD9-81ED-4DB2-BD59-A6C34878D82A}">
                    <a16:rowId xmlns:a16="http://schemas.microsoft.com/office/drawing/2014/main" val="2188673241"/>
                  </a:ext>
                </a:extLst>
              </a:tr>
              <a:tr h="471239">
                <a:tc>
                  <a:txBody>
                    <a:bodyPr/>
                    <a:lstStyle/>
                    <a:p>
                      <a:pPr algn="ctr"/>
                      <a:r>
                        <a:rPr lang="en-US" sz="1800" dirty="0">
                          <a:latin typeface="Arial" panose="020B0604020202020204" pitchFamily="34" charset="0"/>
                          <a:cs typeface="Arial" panose="020B0604020202020204" pitchFamily="34" charset="0"/>
                        </a:rPr>
                        <a:t>NN</a:t>
                      </a:r>
                    </a:p>
                  </a:txBody>
                  <a:tcPr anchor="ctr"/>
                </a:tc>
                <a:tc>
                  <a:txBody>
                    <a:bodyPr/>
                    <a:lstStyle/>
                    <a:p>
                      <a:pPr algn="ctr"/>
                      <a:r>
                        <a:rPr lang="en-US" sz="1800" dirty="0">
                          <a:latin typeface="Arial" panose="020B0604020202020204" pitchFamily="34" charset="0"/>
                          <a:cs typeface="Arial" panose="020B0604020202020204" pitchFamily="34" charset="0"/>
                        </a:rPr>
                        <a:t>2 × 64 dense (Tanh)</a:t>
                      </a:r>
                    </a:p>
                  </a:txBody>
                  <a:tcPr anchor="ctr"/>
                </a:tc>
                <a:tc>
                  <a:txBody>
                    <a:bodyPr/>
                    <a:lstStyle/>
                    <a:p>
                      <a:pPr algn="ctr"/>
                      <a:r>
                        <a:rPr lang="en-US" sz="1800">
                          <a:latin typeface="Arial" panose="020B0604020202020204" pitchFamily="34" charset="0"/>
                          <a:cs typeface="Arial" panose="020B0604020202020204" pitchFamily="34" charset="0"/>
                        </a:rPr>
                        <a:t>Standard PPO baseline</a:t>
                      </a:r>
                    </a:p>
                  </a:txBody>
                  <a:tcPr anchor="ctr"/>
                </a:tc>
                <a:extLst>
                  <a:ext uri="{0D108BD9-81ED-4DB2-BD59-A6C34878D82A}">
                    <a16:rowId xmlns:a16="http://schemas.microsoft.com/office/drawing/2014/main" val="2409725896"/>
                  </a:ext>
                </a:extLst>
              </a:tr>
              <a:tr h="813373">
                <a:tc>
                  <a:txBody>
                    <a:bodyPr/>
                    <a:lstStyle/>
                    <a:p>
                      <a:pPr algn="ctr"/>
                      <a:r>
                        <a:rPr lang="en-US" sz="1800">
                          <a:latin typeface="Arial" panose="020B0604020202020204" pitchFamily="34" charset="0"/>
                          <a:cs typeface="Arial" panose="020B0604020202020204" pitchFamily="34" charset="0"/>
                        </a:rPr>
                        <a:t>Actions</a:t>
                      </a:r>
                    </a:p>
                  </a:txBody>
                  <a:tcPr anchor="ctr"/>
                </a:tc>
                <a:tc>
                  <a:txBody>
                    <a:bodyPr/>
                    <a:lstStyle/>
                    <a:p>
                      <a:pPr algn="ctr"/>
                      <a:r>
                        <a:rPr lang="en-US" sz="1800" dirty="0">
                          <a:latin typeface="Arial" panose="020B0604020202020204" pitchFamily="34" charset="0"/>
                          <a:cs typeface="Arial" panose="020B0604020202020204" pitchFamily="34" charset="0"/>
                        </a:rPr>
                        <a:t>irrigation ∈ {0, 25, 50 mm week⁻¹}</a:t>
                      </a:r>
                    </a:p>
                  </a:txBody>
                  <a:tcPr anchor="ctr"/>
                </a:tc>
                <a:tc>
                  <a:txBody>
                    <a:bodyPr/>
                    <a:lstStyle/>
                    <a:p>
                      <a:pPr algn="ctr"/>
                      <a:r>
                        <a:rPr lang="en-US" sz="1800">
                          <a:latin typeface="Arial" panose="020B0604020202020204" pitchFamily="34" charset="0"/>
                          <a:cs typeface="Arial" panose="020B0604020202020204" pitchFamily="34" charset="0"/>
                        </a:rPr>
                        <a:t>Keeps search space small</a:t>
                      </a:r>
                    </a:p>
                  </a:txBody>
                  <a:tcPr anchor="ctr"/>
                </a:tc>
                <a:extLst>
                  <a:ext uri="{0D108BD9-81ED-4DB2-BD59-A6C34878D82A}">
                    <a16:rowId xmlns:a16="http://schemas.microsoft.com/office/drawing/2014/main" val="4055679494"/>
                  </a:ext>
                </a:extLst>
              </a:tr>
              <a:tr h="813373">
                <a:tc>
                  <a:txBody>
                    <a:bodyPr/>
                    <a:lstStyle/>
                    <a:p>
                      <a:pPr algn="ctr"/>
                      <a:r>
                        <a:rPr lang="en-US" sz="1800">
                          <a:latin typeface="Arial" panose="020B0604020202020204" pitchFamily="34" charset="0"/>
                          <a:cs typeface="Arial" panose="020B0604020202020204" pitchFamily="34" charset="0"/>
                        </a:rPr>
                        <a:t>Batch</a:t>
                      </a:r>
                    </a:p>
                  </a:txBody>
                  <a:tcPr anchor="ctr"/>
                </a:tc>
                <a:tc>
                  <a:txBody>
                    <a:bodyPr/>
                    <a:lstStyle/>
                    <a:p>
                      <a:pPr algn="ctr"/>
                      <a:r>
                        <a:rPr lang="en-US" sz="1800" dirty="0">
                          <a:latin typeface="Arial" panose="020B0604020202020204" pitchFamily="34" charset="0"/>
                          <a:cs typeface="Arial" panose="020B0604020202020204" pitchFamily="34" charset="0"/>
                        </a:rPr>
                        <a:t>16 environments × 128 steps</a:t>
                      </a:r>
                    </a:p>
                  </a:txBody>
                  <a:tcPr anchor="ctr"/>
                </a:tc>
                <a:tc>
                  <a:txBody>
                    <a:bodyPr/>
                    <a:lstStyle/>
                    <a:p>
                      <a:pPr algn="ctr"/>
                      <a:r>
                        <a:rPr lang="en-US" sz="1800" dirty="0">
                          <a:latin typeface="Arial" panose="020B0604020202020204" pitchFamily="34" charset="0"/>
                          <a:cs typeface="Arial" panose="020B0604020202020204" pitchFamily="34" charset="0"/>
                        </a:rPr>
                        <a:t>≈ 2 500 </a:t>
                      </a:r>
                      <a:r>
                        <a:rPr lang="en-US" sz="1800" dirty="0" err="1">
                          <a:latin typeface="Arial" panose="020B0604020202020204" pitchFamily="34" charset="0"/>
                          <a:cs typeface="Arial" panose="020B0604020202020204" pitchFamily="34" charset="0"/>
                        </a:rPr>
                        <a:t>wk</a:t>
                      </a:r>
                      <a:r>
                        <a:rPr lang="en-US" sz="1800" dirty="0">
                          <a:latin typeface="Arial" panose="020B0604020202020204" pitchFamily="34" charset="0"/>
                          <a:cs typeface="Arial" panose="020B0604020202020204" pitchFamily="34" charset="0"/>
                        </a:rPr>
                        <a:t> batch ≈ 5 CPU‑min</a:t>
                      </a:r>
                    </a:p>
                  </a:txBody>
                  <a:tcPr anchor="ctr"/>
                </a:tc>
                <a:extLst>
                  <a:ext uri="{0D108BD9-81ED-4DB2-BD59-A6C34878D82A}">
                    <a16:rowId xmlns:a16="http://schemas.microsoft.com/office/drawing/2014/main" val="2379594029"/>
                  </a:ext>
                </a:extLst>
              </a:tr>
              <a:tr h="1180156">
                <a:tc>
                  <a:txBody>
                    <a:bodyPr/>
                    <a:lstStyle/>
                    <a:p>
                      <a:pPr algn="ctr"/>
                      <a:r>
                        <a:rPr lang="en-US" sz="1800">
                          <a:latin typeface="Arial" panose="020B0604020202020204" pitchFamily="34" charset="0"/>
                          <a:cs typeface="Arial" panose="020B0604020202020204" pitchFamily="34" charset="0"/>
                        </a:rPr>
                        <a:t>Hyper‑params</a:t>
                      </a:r>
                    </a:p>
                  </a:txBody>
                  <a:tcPr anchor="ctr"/>
                </a:tc>
                <a:tc>
                  <a:txBody>
                    <a:bodyPr/>
                    <a:lstStyle/>
                    <a:p>
                      <a:pPr algn="ctr"/>
                      <a:r>
                        <a:rPr lang="el-GR" sz="1800" dirty="0">
                          <a:latin typeface="Arial" panose="020B0604020202020204" pitchFamily="34" charset="0"/>
                          <a:cs typeface="Arial" panose="020B0604020202020204" pitchFamily="34" charset="0"/>
                        </a:rPr>
                        <a:t>γ</a:t>
                      </a:r>
                      <a:r>
                        <a:rPr lang="en-US" sz="1800"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 0.99</a:t>
                      </a: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Clip: 0.2</a:t>
                      </a:r>
                    </a:p>
                    <a:p>
                      <a:pPr algn="ctr"/>
                      <a:r>
                        <a:rPr lang="en-US" sz="1800" dirty="0">
                          <a:latin typeface="Arial" panose="020B0604020202020204" pitchFamily="34" charset="0"/>
                          <a:cs typeface="Arial" panose="020B0604020202020204" pitchFamily="34" charset="0"/>
                        </a:rPr>
                        <a:t>Learning Rate: 3e‑4</a:t>
                      </a:r>
                    </a:p>
                    <a:p>
                      <a:pPr algn="ctr"/>
                      <a:r>
                        <a:rPr lang="en-US" sz="1800" dirty="0">
                          <a:latin typeface="Arial" panose="020B0604020202020204" pitchFamily="34" charset="0"/>
                          <a:cs typeface="Arial" panose="020B0604020202020204" pitchFamily="34" charset="0"/>
                        </a:rPr>
                        <a:t>Entropy: 0.01</a:t>
                      </a:r>
                    </a:p>
                  </a:txBody>
                  <a:tcPr anchor="ctr"/>
                </a:tc>
                <a:tc>
                  <a:txBody>
                    <a:bodyPr/>
                    <a:lstStyle/>
                    <a:p>
                      <a:pPr algn="ctr"/>
                      <a:r>
                        <a:rPr lang="en-US" sz="1800" dirty="0">
                          <a:latin typeface="Arial" panose="020B0604020202020204" pitchFamily="34" charset="0"/>
                          <a:cs typeface="Arial" panose="020B0604020202020204" pitchFamily="34" charset="0"/>
                        </a:rPr>
                        <a:t>Default stable config</a:t>
                      </a:r>
                    </a:p>
                  </a:txBody>
                  <a:tcPr anchor="ctr"/>
                </a:tc>
                <a:extLst>
                  <a:ext uri="{0D108BD9-81ED-4DB2-BD59-A6C34878D82A}">
                    <a16:rowId xmlns:a16="http://schemas.microsoft.com/office/drawing/2014/main" val="876361686"/>
                  </a:ext>
                </a:extLst>
              </a:tr>
              <a:tr h="813373">
                <a:tc>
                  <a:txBody>
                    <a:bodyPr/>
                    <a:lstStyle/>
                    <a:p>
                      <a:pPr algn="ctr"/>
                      <a:r>
                        <a:rPr lang="en-US" sz="1800">
                          <a:latin typeface="Arial" panose="020B0604020202020204" pitchFamily="34" charset="0"/>
                          <a:cs typeface="Arial" panose="020B0604020202020204" pitchFamily="34" charset="0"/>
                        </a:rPr>
                        <a:t>Training budget</a:t>
                      </a:r>
                    </a:p>
                  </a:txBody>
                  <a:tcPr anchor="ctr"/>
                </a:tc>
                <a:tc>
                  <a:txBody>
                    <a:bodyPr/>
                    <a:lstStyle/>
                    <a:p>
                      <a:pPr algn="ctr"/>
                      <a:r>
                        <a:rPr lang="en-US" sz="1800" dirty="0">
                          <a:latin typeface="Arial" panose="020B0604020202020204" pitchFamily="34" charset="0"/>
                          <a:cs typeface="Arial" panose="020B0604020202020204" pitchFamily="34" charset="0"/>
                        </a:rPr>
                        <a:t>100 k episodes (≈ 8 CPU‑</a:t>
                      </a:r>
                      <a:r>
                        <a:rPr lang="en-US" sz="1800" dirty="0" err="1">
                          <a:latin typeface="Arial" panose="020B0604020202020204" pitchFamily="34" charset="0"/>
                          <a:cs typeface="Arial" panose="020B0604020202020204" pitchFamily="34" charset="0"/>
                        </a:rPr>
                        <a:t>hrs</a:t>
                      </a:r>
                      <a:r>
                        <a:rPr lang="en-US" sz="1800" dirty="0">
                          <a:latin typeface="Arial" panose="020B0604020202020204" pitchFamily="34" charset="0"/>
                          <a:cs typeface="Arial" panose="020B0604020202020204" pitchFamily="34" charset="0"/>
                        </a:rPr>
                        <a:t>)</a:t>
                      </a:r>
                    </a:p>
                  </a:txBody>
                  <a:tcPr anchor="ctr"/>
                </a:tc>
                <a:tc>
                  <a:txBody>
                    <a:bodyPr/>
                    <a:lstStyle/>
                    <a:p>
                      <a:pPr algn="ct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71477366"/>
                  </a:ext>
                </a:extLst>
              </a:tr>
            </a:tbl>
          </a:graphicData>
        </a:graphic>
      </p:graphicFrame>
    </p:spTree>
    <p:extLst>
      <p:ext uri="{BB962C8B-B14F-4D97-AF65-F5344CB8AC3E}">
        <p14:creationId xmlns:p14="http://schemas.microsoft.com/office/powerpoint/2010/main" val="6903944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solidFill>
                  <a:srgbClr val="000000"/>
                </a:solidFill>
                <a:latin typeface="inter"/>
              </a:rPr>
              <a:t>RESEARCH METHODOLOGY</a:t>
            </a:r>
            <a:endParaRPr lang="en-PK" sz="3600" b="1" dirty="0"/>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33</a:t>
            </a:fld>
            <a:endParaRPr lang="en-US"/>
          </a:p>
        </p:txBody>
      </p:sp>
      <p:sp>
        <p:nvSpPr>
          <p:cNvPr id="7" name="TextBox 6">
            <a:extLst>
              <a:ext uri="{FF2B5EF4-FFF2-40B4-BE49-F238E27FC236}">
                <a16:creationId xmlns:a16="http://schemas.microsoft.com/office/drawing/2014/main" id="{229EA96D-2350-483E-8ECA-9A3A768EF8F7}"/>
              </a:ext>
            </a:extLst>
          </p:cNvPr>
          <p:cNvSpPr txBox="1"/>
          <p:nvPr/>
        </p:nvSpPr>
        <p:spPr>
          <a:xfrm>
            <a:off x="4580677" y="1229493"/>
            <a:ext cx="3030643"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Reward Shaping Matters</a:t>
            </a:r>
          </a:p>
        </p:txBody>
      </p:sp>
      <p:sp>
        <p:nvSpPr>
          <p:cNvPr id="8" name="Rectangle 7">
            <a:extLst>
              <a:ext uri="{FF2B5EF4-FFF2-40B4-BE49-F238E27FC236}">
                <a16:creationId xmlns:a16="http://schemas.microsoft.com/office/drawing/2014/main" id="{BDCB4D7A-E80F-4857-BCD3-37CC93CF9232}"/>
              </a:ext>
            </a:extLst>
          </p:cNvPr>
          <p:cNvSpPr/>
          <p:nvPr/>
        </p:nvSpPr>
        <p:spPr>
          <a:xfrm>
            <a:off x="583984" y="1537270"/>
            <a:ext cx="11024032" cy="5442516"/>
          </a:xfrm>
          <a:prstGeom prst="rect">
            <a:avLst/>
          </a:prstGeom>
        </p:spPr>
        <p:txBody>
          <a:bodyPr wrap="square" numCol="2">
            <a:spAutoFit/>
          </a:bodyPr>
          <a:lstStyle/>
          <a:p>
            <a:pPr>
              <a:lnSpc>
                <a:spcPct val="150000"/>
              </a:lnSpc>
            </a:pPr>
            <a:r>
              <a:rPr lang="en-US" dirty="0">
                <a:latin typeface="Arial" panose="020B0604020202020204" pitchFamily="34" charset="0"/>
                <a:cs typeface="Arial" panose="020B0604020202020204" pitchFamily="34" charset="0"/>
              </a:rPr>
              <a:t>Reward shaping is not just tuning numbers it's defining the problem itself. </a:t>
            </a:r>
          </a:p>
          <a:p>
            <a:pPr>
              <a:lnSpc>
                <a:spcPct val="150000"/>
              </a:lnSpc>
            </a:pPr>
            <a:r>
              <a:rPr lang="en-US" dirty="0">
                <a:latin typeface="Arial" panose="020B0604020202020204" pitchFamily="34" charset="0"/>
                <a:cs typeface="Arial" panose="020B0604020202020204" pitchFamily="34" charset="0"/>
              </a:rPr>
              <a:t>Why it's essential in </a:t>
            </a:r>
            <a:r>
              <a:rPr lang="en-US" dirty="0" err="1">
                <a:latin typeface="Arial" panose="020B0604020202020204" pitchFamily="34" charset="0"/>
                <a:cs typeface="Arial" panose="020B0604020202020204" pitchFamily="34" charset="0"/>
              </a:rPr>
              <a:t>CyclesGym</a:t>
            </a:r>
            <a:r>
              <a:rPr lang="en-US"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Pakistani agriculture has unique economics (crop prices, water costs, fertilizer subsidies).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Environmental penalties (e.g. nitrate limits) are region-specific and policy-relevant.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Without proper shaping, the agent may learn:</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Costly over-irrigation,</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Excess fertilization (high leaching),</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Or exploit unrealistic dynamics.</a:t>
            </a:r>
          </a:p>
          <a:p>
            <a:pPr marL="742950" lvl="1"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lvl="1">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Why Reward Shaping is Non-Trivial:</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Even small changes (e.g., soil type, cultivar) alter how actions impact future rewards → it becomes a new MDP, not just a new dataset.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RL agents must re-learn the effect of each action in this changed world transferring old policies fails.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Penalty weights (𝛽) require careful tuning to balance economics vs. sustainability.</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It encodes local reality into the simulator and ensures the RL agent’s learned behavior is aligned with real-world goals.</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56561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solidFill>
                  <a:srgbClr val="000000"/>
                </a:solidFill>
                <a:latin typeface="inter"/>
              </a:rPr>
              <a:t>RESEARCH METHODOLOGY</a:t>
            </a:r>
            <a:endParaRPr lang="en-PK" sz="3600" b="1" dirty="0"/>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34</a:t>
            </a:fld>
            <a:endParaRPr lang="en-US"/>
          </a:p>
        </p:txBody>
      </p:sp>
      <p:sp>
        <p:nvSpPr>
          <p:cNvPr id="7" name="TextBox 6">
            <a:extLst>
              <a:ext uri="{FF2B5EF4-FFF2-40B4-BE49-F238E27FC236}">
                <a16:creationId xmlns:a16="http://schemas.microsoft.com/office/drawing/2014/main" id="{229EA96D-2350-483E-8ECA-9A3A768EF8F7}"/>
              </a:ext>
            </a:extLst>
          </p:cNvPr>
          <p:cNvSpPr txBox="1"/>
          <p:nvPr/>
        </p:nvSpPr>
        <p:spPr>
          <a:xfrm>
            <a:off x="4196077" y="1229493"/>
            <a:ext cx="3799843" cy="307777"/>
          </a:xfrm>
          <a:prstGeom prst="rect">
            <a:avLst/>
          </a:prstGeom>
        </p:spPr>
        <p:txBody>
          <a:bodyPr wrap="square" lIns="0" tIns="0" rIns="0" bIns="0" rtlCol="0" anchor="t">
            <a:spAutoFit/>
          </a:bodyPr>
          <a:lstStyle/>
          <a:p>
            <a:r>
              <a:rPr lang="en-US" sz="2000" b="1" dirty="0">
                <a:solidFill>
                  <a:srgbClr val="04487A"/>
                </a:solidFill>
                <a:latin typeface="Arial" panose="020B0604020202020204" pitchFamily="34" charset="0"/>
                <a:cs typeface="Arial" panose="020B0604020202020204" pitchFamily="34" charset="0"/>
              </a:rPr>
              <a:t>Evaluation &amp; Robustness Plan</a:t>
            </a:r>
          </a:p>
        </p:txBody>
      </p:sp>
      <p:sp>
        <p:nvSpPr>
          <p:cNvPr id="9" name="Rectangle 8">
            <a:extLst>
              <a:ext uri="{FF2B5EF4-FFF2-40B4-BE49-F238E27FC236}">
                <a16:creationId xmlns:a16="http://schemas.microsoft.com/office/drawing/2014/main" id="{B22EC7E5-7DA0-49B6-A11D-A7F4DB5F4B6B}"/>
              </a:ext>
            </a:extLst>
          </p:cNvPr>
          <p:cNvSpPr/>
          <p:nvPr/>
        </p:nvSpPr>
        <p:spPr>
          <a:xfrm>
            <a:off x="851689" y="1707834"/>
            <a:ext cx="5727650" cy="4611519"/>
          </a:xfrm>
          <a:prstGeom prst="rect">
            <a:avLst/>
          </a:prstGeom>
        </p:spPr>
        <p:txBody>
          <a:bodyPr wrap="square">
            <a:spAutoFit/>
          </a:bodyPr>
          <a:lstStyle/>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Weather sets</a:t>
            </a:r>
            <a:r>
              <a:rPr lang="en-US" dirty="0">
                <a:latin typeface="Arial" panose="020B0604020202020204" pitchFamily="34" charset="0"/>
                <a:cs typeface="Arial" panose="020B0604020202020204" pitchFamily="34" charset="0"/>
              </a:rPr>
              <a:t>: dry (2019), median (2020), wet (2022)</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Soil PAW ±10 %</a:t>
            </a:r>
            <a:r>
              <a:rPr lang="en-US" dirty="0">
                <a:latin typeface="Arial" panose="020B0604020202020204" pitchFamily="34" charset="0"/>
                <a:cs typeface="Arial" panose="020B0604020202020204" pitchFamily="34" charset="0"/>
              </a:rPr>
              <a:t>: test shallow vs. deep loam</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Price shock</a:t>
            </a:r>
            <a:r>
              <a:rPr lang="en-US" dirty="0">
                <a:latin typeface="Arial" panose="020B0604020202020204" pitchFamily="34" charset="0"/>
                <a:cs typeface="Arial" panose="020B0604020202020204" pitchFamily="34" charset="0"/>
              </a:rPr>
              <a:t>: urea + 15 %, rice price – 10 %</a:t>
            </a:r>
          </a:p>
          <a:p>
            <a:pPr>
              <a:lnSpc>
                <a:spcPct val="150000"/>
              </a:lnSpc>
            </a:pPr>
            <a:endParaRPr lang="en-US"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KPIs</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Yield (t ha⁻¹)</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Irrigation (mm)</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Net profit (PKR ha⁻¹) – </a:t>
            </a:r>
            <a:r>
              <a:rPr lang="en-US" b="1" dirty="0">
                <a:latin typeface="Arial" panose="020B0604020202020204" pitchFamily="34" charset="0"/>
                <a:cs typeface="Arial" panose="020B0604020202020204" pitchFamily="34" charset="0"/>
              </a:rPr>
              <a:t>computed by reward class</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N‑use efficiency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Constraint breaches (N‑leach &gt; 40 kg ha⁻¹ yr⁻¹)</a:t>
            </a:r>
          </a:p>
        </p:txBody>
      </p:sp>
      <p:pic>
        <p:nvPicPr>
          <p:cNvPr id="10" name="Picture 9">
            <a:extLst>
              <a:ext uri="{FF2B5EF4-FFF2-40B4-BE49-F238E27FC236}">
                <a16:creationId xmlns:a16="http://schemas.microsoft.com/office/drawing/2014/main" id="{5F01CEBF-5E41-43F6-91B1-C95ADDFD69E9}"/>
              </a:ext>
            </a:extLst>
          </p:cNvPr>
          <p:cNvPicPr>
            <a:picLocks noChangeAspect="1"/>
          </p:cNvPicPr>
          <p:nvPr/>
        </p:nvPicPr>
        <p:blipFill rotWithShape="1">
          <a:blip r:embed="rId4">
            <a:extLst>
              <a:ext uri="{28A0092B-C50C-407E-A947-70E740481C1C}">
                <a14:useLocalDpi xmlns:a14="http://schemas.microsoft.com/office/drawing/2010/main" val="0"/>
              </a:ext>
            </a:extLst>
          </a:blip>
          <a:srcRect l="29144" r="35731"/>
          <a:stretch/>
        </p:blipFill>
        <p:spPr>
          <a:xfrm>
            <a:off x="8921976" y="1624731"/>
            <a:ext cx="2473414" cy="46946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772161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1709057" y="2921168"/>
            <a:ext cx="8773885" cy="1015663"/>
          </a:xfrm>
          <a:prstGeom prst="rect">
            <a:avLst/>
          </a:prstGeom>
          <a:noFill/>
        </p:spPr>
        <p:txBody>
          <a:bodyPr wrap="square" rtlCol="0">
            <a:spAutoFit/>
          </a:bodyPr>
          <a:lstStyle/>
          <a:p>
            <a:pPr algn="ctr"/>
            <a:r>
              <a:rPr lang="en-US" sz="6000" b="1" dirty="0">
                <a:solidFill>
                  <a:srgbClr val="000000"/>
                </a:solidFill>
                <a:latin typeface="inter"/>
              </a:rPr>
              <a:t>TIMELINE</a:t>
            </a:r>
            <a:endParaRPr lang="en-PK" sz="6000" b="1" dirty="0"/>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35</a:t>
            </a:fld>
            <a:endParaRPr lang="en-US"/>
          </a:p>
        </p:txBody>
      </p:sp>
    </p:spTree>
    <p:extLst>
      <p:ext uri="{BB962C8B-B14F-4D97-AF65-F5344CB8AC3E}">
        <p14:creationId xmlns:p14="http://schemas.microsoft.com/office/powerpoint/2010/main" val="2377669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1200329"/>
          </a:xfrm>
          <a:prstGeom prst="rect">
            <a:avLst/>
          </a:prstGeom>
          <a:noFill/>
        </p:spPr>
        <p:txBody>
          <a:bodyPr wrap="square" rtlCol="0">
            <a:spAutoFit/>
          </a:bodyPr>
          <a:lstStyle/>
          <a:p>
            <a:pPr algn="ctr"/>
            <a:r>
              <a:rPr lang="en-US" sz="3600" b="1">
                <a:solidFill>
                  <a:srgbClr val="000000"/>
                </a:solidFill>
                <a:latin typeface="inter"/>
              </a:rPr>
              <a:t>Timeline</a:t>
            </a:r>
          </a:p>
          <a:p>
            <a:pPr algn="ctr"/>
            <a:r>
              <a:rPr lang="en-US" sz="3600" b="1">
                <a:solidFill>
                  <a:srgbClr val="000000"/>
                </a:solidFill>
                <a:latin typeface="inter"/>
              </a:rPr>
              <a:t>October 2025 – April 2026</a:t>
            </a:r>
            <a:endParaRPr lang="en-US" sz="3600" b="1" dirty="0">
              <a:solidFill>
                <a:srgbClr val="000000"/>
              </a:solidFill>
              <a:latin typeface="inter"/>
            </a:endParaRPr>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36</a:t>
            </a:fld>
            <a:endParaRPr lang="en-US"/>
          </a:p>
        </p:txBody>
      </p:sp>
      <p:pic>
        <p:nvPicPr>
          <p:cNvPr id="8" name="Picture 7">
            <a:extLst>
              <a:ext uri="{FF2B5EF4-FFF2-40B4-BE49-F238E27FC236}">
                <a16:creationId xmlns:a16="http://schemas.microsoft.com/office/drawing/2014/main" id="{9BBF873D-9755-4AD6-AF34-A2E02CF44116}"/>
              </a:ext>
            </a:extLst>
          </p:cNvPr>
          <p:cNvPicPr>
            <a:picLocks noChangeAspect="1"/>
          </p:cNvPicPr>
          <p:nvPr/>
        </p:nvPicPr>
        <p:blipFill rotWithShape="1">
          <a:blip r:embed="rId4"/>
          <a:srcRect t="13427"/>
          <a:stretch/>
        </p:blipFill>
        <p:spPr>
          <a:xfrm>
            <a:off x="824891" y="1983927"/>
            <a:ext cx="10542215" cy="3781888"/>
          </a:xfrm>
          <a:prstGeom prst="rect">
            <a:avLst/>
          </a:prstGeom>
        </p:spPr>
      </p:pic>
    </p:spTree>
    <p:extLst>
      <p:ext uri="{BB962C8B-B14F-4D97-AF65-F5344CB8AC3E}">
        <p14:creationId xmlns:p14="http://schemas.microsoft.com/office/powerpoint/2010/main" val="7211632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1709057" y="2921168"/>
            <a:ext cx="8773885" cy="1015663"/>
          </a:xfrm>
          <a:prstGeom prst="rect">
            <a:avLst/>
          </a:prstGeom>
          <a:noFill/>
        </p:spPr>
        <p:txBody>
          <a:bodyPr wrap="square" rtlCol="0">
            <a:spAutoFit/>
          </a:bodyPr>
          <a:lstStyle/>
          <a:p>
            <a:pPr algn="ctr"/>
            <a:r>
              <a:rPr lang="en-US" sz="6000" b="1" dirty="0"/>
              <a:t>CONCLUSION</a:t>
            </a:r>
          </a:p>
        </p:txBody>
      </p:sp>
      <p:sp>
        <p:nvSpPr>
          <p:cNvPr id="4" name="Slide Number Placeholder 3">
            <a:extLst>
              <a:ext uri="{FF2B5EF4-FFF2-40B4-BE49-F238E27FC236}">
                <a16:creationId xmlns:a16="http://schemas.microsoft.com/office/drawing/2014/main" id="{B2D74A17-36C2-9144-D14F-4AF9E430BA70}"/>
              </a:ext>
            </a:extLst>
          </p:cNvPr>
          <p:cNvSpPr>
            <a:spLocks noGrp="1"/>
          </p:cNvSpPr>
          <p:nvPr>
            <p:ph type="sldNum" sz="quarter" idx="12"/>
          </p:nvPr>
        </p:nvSpPr>
        <p:spPr/>
        <p:txBody>
          <a:bodyPr/>
          <a:lstStyle/>
          <a:p>
            <a:fld id="{27698F7A-D9AE-4498-B063-4ED69550A214}" type="slidenum">
              <a:rPr lang="en-US" smtClean="0"/>
              <a:t>37</a:t>
            </a:fld>
            <a:endParaRPr lang="en-US"/>
          </a:p>
        </p:txBody>
      </p:sp>
    </p:spTree>
    <p:extLst>
      <p:ext uri="{BB962C8B-B14F-4D97-AF65-F5344CB8AC3E}">
        <p14:creationId xmlns:p14="http://schemas.microsoft.com/office/powerpoint/2010/main" val="36570490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3">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4"/>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t>Conclusion</a:t>
            </a:r>
            <a:endParaRPr lang="en-PK" sz="3600" b="1" dirty="0"/>
          </a:p>
        </p:txBody>
      </p:sp>
      <p:sp>
        <p:nvSpPr>
          <p:cNvPr id="4" name="Slide Number Placeholder 3">
            <a:extLst>
              <a:ext uri="{FF2B5EF4-FFF2-40B4-BE49-F238E27FC236}">
                <a16:creationId xmlns:a16="http://schemas.microsoft.com/office/drawing/2014/main" id="{A01BEA8E-7B33-6201-C9C3-1084B7184A5A}"/>
              </a:ext>
            </a:extLst>
          </p:cNvPr>
          <p:cNvSpPr>
            <a:spLocks noGrp="1"/>
          </p:cNvSpPr>
          <p:nvPr>
            <p:ph type="sldNum" sz="quarter" idx="12"/>
          </p:nvPr>
        </p:nvSpPr>
        <p:spPr/>
        <p:txBody>
          <a:bodyPr/>
          <a:lstStyle/>
          <a:p>
            <a:fld id="{27698F7A-D9AE-4498-B063-4ED69550A214}" type="slidenum">
              <a:rPr lang="en-US" smtClean="0"/>
              <a:t>38</a:t>
            </a:fld>
            <a:endParaRPr lang="en-US"/>
          </a:p>
        </p:txBody>
      </p:sp>
      <p:pic>
        <p:nvPicPr>
          <p:cNvPr id="7" name="Picture 6">
            <a:extLst>
              <a:ext uri="{FF2B5EF4-FFF2-40B4-BE49-F238E27FC236}">
                <a16:creationId xmlns:a16="http://schemas.microsoft.com/office/drawing/2014/main" id="{6FAE2CDF-3D31-47E8-986F-5D713B217EE4}"/>
              </a:ext>
            </a:extLst>
          </p:cNvPr>
          <p:cNvPicPr>
            <a:picLocks noChangeAspect="1"/>
          </p:cNvPicPr>
          <p:nvPr/>
        </p:nvPicPr>
        <p:blipFill rotWithShape="1">
          <a:blip r:embed="rId5"/>
          <a:srcRect t="8010" r="23250" b="6377"/>
          <a:stretch/>
        </p:blipFill>
        <p:spPr>
          <a:xfrm>
            <a:off x="6626524" y="1444808"/>
            <a:ext cx="5176487" cy="4689562"/>
          </a:xfrm>
          <a:prstGeom prst="rect">
            <a:avLst/>
          </a:prstGeom>
        </p:spPr>
      </p:pic>
      <p:sp>
        <p:nvSpPr>
          <p:cNvPr id="9" name="Rectangle 8">
            <a:extLst>
              <a:ext uri="{FF2B5EF4-FFF2-40B4-BE49-F238E27FC236}">
                <a16:creationId xmlns:a16="http://schemas.microsoft.com/office/drawing/2014/main" id="{CDA538AE-EB7B-42D3-AD32-216DA6D034A3}"/>
              </a:ext>
            </a:extLst>
          </p:cNvPr>
          <p:cNvSpPr/>
          <p:nvPr/>
        </p:nvSpPr>
        <p:spPr>
          <a:xfrm>
            <a:off x="620003" y="1444808"/>
            <a:ext cx="6006521" cy="5078313"/>
          </a:xfrm>
          <a:prstGeom prst="rect">
            <a:avLst/>
          </a:prstGeom>
        </p:spPr>
        <p:txBody>
          <a:bodyPr wrap="square">
            <a:spAutoFit/>
          </a:bodyPr>
          <a:lstStyle/>
          <a:p>
            <a:r>
              <a:rPr lang="en-PK" b="1" dirty="0"/>
              <a:t>Key Contributions:</a:t>
            </a:r>
          </a:p>
          <a:p>
            <a:pPr marL="285750" indent="-285750">
              <a:buFont typeface="Arial" panose="020B0604020202020204" pitchFamily="34" charset="0"/>
              <a:buChar char="•"/>
            </a:pPr>
            <a:r>
              <a:rPr lang="en-PK" dirty="0"/>
              <a:t>First RL-based agricultural framework adapted for Pakistani context</a:t>
            </a:r>
          </a:p>
          <a:p>
            <a:pPr marL="285750" indent="-285750">
              <a:buFont typeface="Arial" panose="020B0604020202020204" pitchFamily="34" charset="0"/>
              <a:buChar char="•"/>
            </a:pPr>
            <a:r>
              <a:rPr lang="en-PK" dirty="0"/>
              <a:t>Integration of local climate patterns, soil data, and economic constraints</a:t>
            </a:r>
          </a:p>
          <a:p>
            <a:pPr marL="285750" indent="-285750">
              <a:buFont typeface="Arial" panose="020B0604020202020204" pitchFamily="34" charset="0"/>
              <a:buChar char="•"/>
            </a:pPr>
            <a:r>
              <a:rPr lang="en-PK" dirty="0"/>
              <a:t>Cost-aware reward function balancing profit and sustainability</a:t>
            </a:r>
          </a:p>
          <a:p>
            <a:pPr marL="285750" indent="-285750">
              <a:buFont typeface="Arial" panose="020B0604020202020204" pitchFamily="34" charset="0"/>
              <a:buChar char="•"/>
            </a:pPr>
            <a:r>
              <a:rPr lang="en-PK" dirty="0"/>
              <a:t>Practical irrigation scheduling tool for smallholder farms</a:t>
            </a:r>
          </a:p>
          <a:p>
            <a:endParaRPr lang="en-US" b="1" dirty="0"/>
          </a:p>
          <a:p>
            <a:r>
              <a:rPr lang="en-PK" b="1" dirty="0"/>
              <a:t>Expected Impact:</a:t>
            </a:r>
          </a:p>
          <a:p>
            <a:pPr marL="285750" indent="-285750">
              <a:buFont typeface="Arial" panose="020B0604020202020204" pitchFamily="34" charset="0"/>
              <a:buChar char="•"/>
            </a:pPr>
            <a:r>
              <a:rPr lang="en-PK" dirty="0"/>
              <a:t>Reduced nitrogen leaching and environmental footprint</a:t>
            </a:r>
          </a:p>
          <a:p>
            <a:pPr marL="285750" indent="-285750">
              <a:buFont typeface="Arial" panose="020B0604020202020204" pitchFamily="34" charset="0"/>
              <a:buChar char="•"/>
            </a:pPr>
            <a:r>
              <a:rPr lang="en-PK" dirty="0"/>
              <a:t>Data-driven decision support for farmers</a:t>
            </a:r>
          </a:p>
          <a:p>
            <a:pPr marL="285750" indent="-285750">
              <a:buFont typeface="Arial" panose="020B0604020202020204" pitchFamily="34" charset="0"/>
              <a:buChar char="•"/>
            </a:pPr>
            <a:r>
              <a:rPr lang="en-PK" dirty="0"/>
              <a:t>Extensible framework for other South Asian regions</a:t>
            </a:r>
          </a:p>
          <a:p>
            <a:endParaRPr lang="en-US" b="1" dirty="0"/>
          </a:p>
          <a:p>
            <a:r>
              <a:rPr lang="en-PK" b="1" dirty="0"/>
              <a:t>Future Directions:</a:t>
            </a:r>
          </a:p>
          <a:p>
            <a:pPr marL="285750" indent="-285750">
              <a:buFont typeface="Arial" panose="020B0604020202020204" pitchFamily="34" charset="0"/>
              <a:buChar char="•"/>
            </a:pPr>
            <a:r>
              <a:rPr lang="en-PK" dirty="0"/>
              <a:t>Multi-crop rotation optimization</a:t>
            </a:r>
          </a:p>
          <a:p>
            <a:pPr marL="285750" indent="-285750">
              <a:buFont typeface="Arial" panose="020B0604020202020204" pitchFamily="34" charset="0"/>
              <a:buChar char="•"/>
            </a:pPr>
            <a:r>
              <a:rPr lang="en-PK" dirty="0"/>
              <a:t>Real-world pilot deployment with farmers</a:t>
            </a:r>
          </a:p>
          <a:p>
            <a:pPr marL="285750" indent="-285750">
              <a:buFont typeface="Arial" panose="020B0604020202020204" pitchFamily="34" charset="0"/>
              <a:buChar char="•"/>
            </a:pPr>
            <a:r>
              <a:rPr lang="en-US" dirty="0"/>
              <a:t>I</a:t>
            </a:r>
            <a:r>
              <a:rPr lang="en-PK" dirty="0" err="1"/>
              <a:t>ntegration</a:t>
            </a:r>
            <a:r>
              <a:rPr lang="en-PK" dirty="0"/>
              <a:t> with IoT sensors and mobile platforms</a:t>
            </a:r>
          </a:p>
        </p:txBody>
      </p:sp>
    </p:spTree>
    <p:extLst>
      <p:ext uri="{BB962C8B-B14F-4D97-AF65-F5344CB8AC3E}">
        <p14:creationId xmlns:p14="http://schemas.microsoft.com/office/powerpoint/2010/main" val="31073240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t>REFERENCES</a:t>
            </a:r>
            <a:endParaRPr lang="en-PK" sz="3600" b="1" dirty="0"/>
          </a:p>
        </p:txBody>
      </p:sp>
      <p:sp>
        <p:nvSpPr>
          <p:cNvPr id="7" name="Slide Number Placeholder 6">
            <a:extLst>
              <a:ext uri="{FF2B5EF4-FFF2-40B4-BE49-F238E27FC236}">
                <a16:creationId xmlns:a16="http://schemas.microsoft.com/office/drawing/2014/main" id="{CD32160C-38C4-9159-B27E-63729DDE9D99}"/>
              </a:ext>
            </a:extLst>
          </p:cNvPr>
          <p:cNvSpPr>
            <a:spLocks noGrp="1"/>
          </p:cNvSpPr>
          <p:nvPr>
            <p:ph type="sldNum" sz="quarter" idx="12"/>
          </p:nvPr>
        </p:nvSpPr>
        <p:spPr/>
        <p:txBody>
          <a:bodyPr/>
          <a:lstStyle/>
          <a:p>
            <a:fld id="{27698F7A-D9AE-4498-B063-4ED69550A214}" type="slidenum">
              <a:rPr lang="en-US" smtClean="0"/>
              <a:t>39</a:t>
            </a:fld>
            <a:endParaRPr lang="en-US"/>
          </a:p>
        </p:txBody>
      </p:sp>
      <p:sp>
        <p:nvSpPr>
          <p:cNvPr id="3" name="Rectangle 2">
            <a:extLst>
              <a:ext uri="{FF2B5EF4-FFF2-40B4-BE49-F238E27FC236}">
                <a16:creationId xmlns:a16="http://schemas.microsoft.com/office/drawing/2014/main" id="{EDFA9F2C-F00B-4CE2-BC9D-CEA28E84195E}"/>
              </a:ext>
            </a:extLst>
          </p:cNvPr>
          <p:cNvSpPr/>
          <p:nvPr/>
        </p:nvSpPr>
        <p:spPr>
          <a:xfrm>
            <a:off x="197343" y="1229493"/>
            <a:ext cx="11772868" cy="5450851"/>
          </a:xfrm>
          <a:prstGeom prst="rect">
            <a:avLst/>
          </a:prstGeom>
        </p:spPr>
        <p:txBody>
          <a:bodyPr wrap="square">
            <a:spAutoFit/>
          </a:bodyPr>
          <a:lstStyle/>
          <a:p>
            <a:pPr>
              <a:lnSpc>
                <a:spcPct val="150000"/>
              </a:lnSpc>
            </a:pPr>
            <a:r>
              <a:rPr lang="en-US" dirty="0"/>
              <a:t>[1] </a:t>
            </a:r>
            <a:r>
              <a:rPr lang="en-US" b="1" dirty="0"/>
              <a:t>Dhillon, M. S.</a:t>
            </a:r>
            <a:r>
              <a:rPr lang="en-US" dirty="0"/>
              <a:t>, T. </a:t>
            </a:r>
            <a:r>
              <a:rPr lang="en-US" dirty="0" err="1"/>
              <a:t>Dahms</a:t>
            </a:r>
            <a:r>
              <a:rPr lang="en-US" dirty="0"/>
              <a:t>, C. </a:t>
            </a:r>
            <a:r>
              <a:rPr lang="en-US" dirty="0" err="1"/>
              <a:t>Kuebert</a:t>
            </a:r>
            <a:r>
              <a:rPr lang="en-US" dirty="0"/>
              <a:t>-Flock, T. </a:t>
            </a:r>
            <a:r>
              <a:rPr lang="en-US" dirty="0" err="1"/>
              <a:t>Rummler</a:t>
            </a:r>
            <a:r>
              <a:rPr lang="en-US" dirty="0"/>
              <a:t>, J. </a:t>
            </a:r>
            <a:r>
              <a:rPr lang="en-US" dirty="0" err="1"/>
              <a:t>Arnault</a:t>
            </a:r>
            <a:r>
              <a:rPr lang="en-US" dirty="0"/>
              <a:t>, I. </a:t>
            </a:r>
            <a:r>
              <a:rPr lang="en-US" dirty="0" err="1"/>
              <a:t>Steffan-Dewenter</a:t>
            </a:r>
            <a:r>
              <a:rPr lang="en-US" dirty="0"/>
              <a:t>, and T. Ullmann. </a:t>
            </a:r>
            <a:r>
              <a:rPr lang="en-US" i="1" dirty="0"/>
              <a:t>“Integrating random forest and crop modeling improves the crop yield prediction of winter wheat and oil seed rape.”</a:t>
            </a:r>
            <a:r>
              <a:rPr lang="en-US" dirty="0"/>
              <a:t> Frontiers in Remote Sensing, vol. 3, 2023 (published Jan 2023).</a:t>
            </a:r>
          </a:p>
          <a:p>
            <a:pPr>
              <a:lnSpc>
                <a:spcPct val="150000"/>
              </a:lnSpc>
            </a:pPr>
            <a:r>
              <a:rPr lang="en-US" dirty="0"/>
              <a:t>[2] </a:t>
            </a:r>
            <a:r>
              <a:rPr lang="en-US" b="1" dirty="0" err="1"/>
              <a:t>Tabar</a:t>
            </a:r>
            <a:r>
              <a:rPr lang="en-US" b="1" dirty="0"/>
              <a:t>, M.</a:t>
            </a:r>
            <a:r>
              <a:rPr lang="en-US" dirty="0"/>
              <a:t>, D. Lee, D. P. Hughes, and A. Yadav. </a:t>
            </a:r>
            <a:r>
              <a:rPr lang="en-US" i="1" dirty="0"/>
              <a:t>“Mitigating Low Agricultural Productivity of Smallholder Farms in Africa: Time-Series Forecasting for Environmental Stressors.”</a:t>
            </a:r>
            <a:r>
              <a:rPr lang="en-US" dirty="0"/>
              <a:t> Proceedings of the 36th AAAI Conference on Artificial Intelligence (AAAI-22), 2022.</a:t>
            </a:r>
          </a:p>
          <a:p>
            <a:pPr>
              <a:lnSpc>
                <a:spcPct val="150000"/>
              </a:lnSpc>
            </a:pPr>
            <a:r>
              <a:rPr lang="en-US" dirty="0"/>
              <a:t>[3] </a:t>
            </a:r>
            <a:r>
              <a:rPr lang="en-US" b="1" dirty="0" err="1"/>
              <a:t>Uyeh</a:t>
            </a:r>
            <a:r>
              <a:rPr lang="en-US" b="1" dirty="0"/>
              <a:t>, D. D.</a:t>
            </a:r>
            <a:r>
              <a:rPr lang="en-US" dirty="0"/>
              <a:t>, O. </a:t>
            </a:r>
            <a:r>
              <a:rPr lang="en-US" dirty="0" err="1"/>
              <a:t>Iyiola</a:t>
            </a:r>
            <a:r>
              <a:rPr lang="en-US" dirty="0"/>
              <a:t>, R. </a:t>
            </a:r>
            <a:r>
              <a:rPr lang="en-US" dirty="0" err="1"/>
              <a:t>Mallipeddi</a:t>
            </a:r>
            <a:r>
              <a:rPr lang="en-US" dirty="0"/>
              <a:t>, S. A. </a:t>
            </a:r>
            <a:r>
              <a:rPr lang="en-US" dirty="0" err="1"/>
              <a:t>Hiablie</a:t>
            </a:r>
            <a:r>
              <a:rPr lang="en-US" dirty="0"/>
              <a:t>, M. </a:t>
            </a:r>
            <a:r>
              <a:rPr lang="en-US" dirty="0" err="1"/>
              <a:t>Amaizu</a:t>
            </a:r>
            <a:r>
              <a:rPr lang="en-US" dirty="0"/>
              <a:t>, Y. Ha, and T. Park. </a:t>
            </a:r>
            <a:r>
              <a:rPr lang="en-US" i="1" dirty="0"/>
              <a:t>“Grid Search for Lowest Root Mean Squared Error in Predicting Optimal Sensor Location in Protected Cultivation Systems.”</a:t>
            </a:r>
            <a:r>
              <a:rPr lang="en-US" dirty="0"/>
              <a:t> Frontiers in Plant Science, vol. 13, 2022.</a:t>
            </a:r>
          </a:p>
          <a:p>
            <a:pPr>
              <a:lnSpc>
                <a:spcPct val="150000"/>
              </a:lnSpc>
            </a:pPr>
            <a:r>
              <a:rPr lang="en-US" dirty="0"/>
              <a:t>[4] </a:t>
            </a:r>
            <a:r>
              <a:rPr lang="en-US" b="1" dirty="0"/>
              <a:t>Shastri, S.</a:t>
            </a:r>
            <a:r>
              <a:rPr lang="en-US" dirty="0"/>
              <a:t>, S. Kumar, V. </a:t>
            </a:r>
            <a:r>
              <a:rPr lang="en-US" dirty="0" err="1"/>
              <a:t>Mansotra</a:t>
            </a:r>
            <a:r>
              <a:rPr lang="en-US" dirty="0"/>
              <a:t>, </a:t>
            </a:r>
            <a:r>
              <a:rPr lang="en-US" i="1" dirty="0"/>
              <a:t>et al.</a:t>
            </a:r>
            <a:r>
              <a:rPr lang="en-US" dirty="0"/>
              <a:t> </a:t>
            </a:r>
            <a:r>
              <a:rPr lang="en-US" i="1" dirty="0"/>
              <a:t>“Advancing crop recommendation system with supervised machine learning and explainable artificial intelligence.”</a:t>
            </a:r>
            <a:r>
              <a:rPr lang="en-US" dirty="0"/>
              <a:t> Scientific Reports, vol. 15, Article 25498, 2025.</a:t>
            </a:r>
          </a:p>
          <a:p>
            <a:pPr>
              <a:lnSpc>
                <a:spcPct val="150000"/>
              </a:lnSpc>
            </a:pPr>
            <a:r>
              <a:rPr lang="en-US" dirty="0"/>
              <a:t>[5] </a:t>
            </a:r>
            <a:r>
              <a:rPr lang="en-US" b="1" dirty="0" err="1"/>
              <a:t>Steininger</a:t>
            </a:r>
            <a:r>
              <a:rPr lang="en-US" b="1" dirty="0"/>
              <a:t>, D.</a:t>
            </a:r>
            <a:r>
              <a:rPr lang="en-US" dirty="0"/>
              <a:t>, A. </a:t>
            </a:r>
            <a:r>
              <a:rPr lang="en-US" dirty="0" err="1"/>
              <a:t>Trondl</a:t>
            </a:r>
            <a:r>
              <a:rPr lang="en-US" dirty="0"/>
              <a:t>, G. </a:t>
            </a:r>
            <a:r>
              <a:rPr lang="en-US" dirty="0" err="1"/>
              <a:t>Croonen</a:t>
            </a:r>
            <a:r>
              <a:rPr lang="en-US" dirty="0"/>
              <a:t>, J. Simon, and V. </a:t>
            </a:r>
            <a:r>
              <a:rPr lang="en-US" dirty="0" err="1"/>
              <a:t>Widhalm</a:t>
            </a:r>
            <a:r>
              <a:rPr lang="en-US" dirty="0"/>
              <a:t>. </a:t>
            </a:r>
            <a:r>
              <a:rPr lang="en-US" i="1" dirty="0"/>
              <a:t>“The </a:t>
            </a:r>
            <a:r>
              <a:rPr lang="en-US" i="1" dirty="0" err="1"/>
              <a:t>CropAndWeed</a:t>
            </a:r>
            <a:r>
              <a:rPr lang="en-US" i="1" dirty="0"/>
              <a:t> Dataset: A Multi-Modal Learning Approach for Efficient Crop and Weed Manipulation.”</a:t>
            </a:r>
            <a:r>
              <a:rPr lang="en-US" dirty="0"/>
              <a:t> Proceedings of IEEE/CVF WACV, pp. 3729–3738, 2023.</a:t>
            </a:r>
          </a:p>
        </p:txBody>
      </p:sp>
    </p:spTree>
    <p:extLst>
      <p:ext uri="{BB962C8B-B14F-4D97-AF65-F5344CB8AC3E}">
        <p14:creationId xmlns:p14="http://schemas.microsoft.com/office/powerpoint/2010/main" val="26959749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t>REFERENCES</a:t>
            </a:r>
            <a:endParaRPr lang="en-PK" sz="3600" b="1" dirty="0"/>
          </a:p>
        </p:txBody>
      </p:sp>
      <p:sp>
        <p:nvSpPr>
          <p:cNvPr id="7" name="Slide Number Placeholder 6">
            <a:extLst>
              <a:ext uri="{FF2B5EF4-FFF2-40B4-BE49-F238E27FC236}">
                <a16:creationId xmlns:a16="http://schemas.microsoft.com/office/drawing/2014/main" id="{CD32160C-38C4-9159-B27E-63729DDE9D99}"/>
              </a:ext>
            </a:extLst>
          </p:cNvPr>
          <p:cNvSpPr>
            <a:spLocks noGrp="1"/>
          </p:cNvSpPr>
          <p:nvPr>
            <p:ph type="sldNum" sz="quarter" idx="12"/>
          </p:nvPr>
        </p:nvSpPr>
        <p:spPr/>
        <p:txBody>
          <a:bodyPr/>
          <a:lstStyle/>
          <a:p>
            <a:fld id="{27698F7A-D9AE-4498-B063-4ED69550A214}" type="slidenum">
              <a:rPr lang="en-US" smtClean="0"/>
              <a:t>40</a:t>
            </a:fld>
            <a:endParaRPr lang="en-US"/>
          </a:p>
        </p:txBody>
      </p:sp>
      <p:sp>
        <p:nvSpPr>
          <p:cNvPr id="3" name="Rectangle 2">
            <a:extLst>
              <a:ext uri="{FF2B5EF4-FFF2-40B4-BE49-F238E27FC236}">
                <a16:creationId xmlns:a16="http://schemas.microsoft.com/office/drawing/2014/main" id="{EDFA9F2C-F00B-4CE2-BC9D-CEA28E84195E}"/>
              </a:ext>
            </a:extLst>
          </p:cNvPr>
          <p:cNvSpPr/>
          <p:nvPr/>
        </p:nvSpPr>
        <p:spPr>
          <a:xfrm>
            <a:off x="197343" y="1185103"/>
            <a:ext cx="11772868" cy="5450851"/>
          </a:xfrm>
          <a:prstGeom prst="rect">
            <a:avLst/>
          </a:prstGeom>
        </p:spPr>
        <p:txBody>
          <a:bodyPr wrap="square">
            <a:spAutoFit/>
          </a:bodyPr>
          <a:lstStyle/>
          <a:p>
            <a:pPr>
              <a:lnSpc>
                <a:spcPct val="150000"/>
              </a:lnSpc>
            </a:pPr>
            <a:r>
              <a:rPr lang="en-US" dirty="0"/>
              <a:t>[6] </a:t>
            </a:r>
            <a:r>
              <a:rPr lang="en-US" b="1" dirty="0"/>
              <a:t>Cao, X.</a:t>
            </a:r>
            <a:r>
              <a:rPr lang="en-US" dirty="0"/>
              <a:t>, Y. Yao, L. Li, W. Zhang, Z. An, Z. Zhang, L. Xiao, </a:t>
            </a:r>
            <a:r>
              <a:rPr lang="en-US" i="1" dirty="0"/>
              <a:t>et al.</a:t>
            </a:r>
            <a:r>
              <a:rPr lang="en-US" dirty="0"/>
              <a:t> </a:t>
            </a:r>
            <a:r>
              <a:rPr lang="en-US" i="1" dirty="0"/>
              <a:t>“</a:t>
            </a:r>
            <a:r>
              <a:rPr lang="en-US" i="1" dirty="0" err="1"/>
              <a:t>iGrow</a:t>
            </a:r>
            <a:r>
              <a:rPr lang="en-US" i="1" dirty="0"/>
              <a:t>: A Smart Agriculture Solution to Autonomous Greenhouse Control.”</a:t>
            </a:r>
            <a:r>
              <a:rPr lang="en-US" dirty="0"/>
              <a:t> Proceedings of AAAI 36(11), pp. 11837–11845, 2022.</a:t>
            </a:r>
          </a:p>
          <a:p>
            <a:pPr>
              <a:lnSpc>
                <a:spcPct val="150000"/>
              </a:lnSpc>
            </a:pPr>
            <a:r>
              <a:rPr lang="en-US" dirty="0"/>
              <a:t>[7] </a:t>
            </a:r>
            <a:r>
              <a:rPr lang="en-US" b="1" dirty="0"/>
              <a:t>Wu, J.</a:t>
            </a:r>
            <a:r>
              <a:rPr lang="en-US" dirty="0"/>
              <a:t>, D. Pichler, D. Marley, N. </a:t>
            </a:r>
            <a:r>
              <a:rPr lang="en-US" dirty="0" err="1"/>
              <a:t>Hovakimyan</a:t>
            </a:r>
            <a:r>
              <a:rPr lang="en-US" dirty="0"/>
              <a:t>, and D. A. Wilson. </a:t>
            </a:r>
            <a:r>
              <a:rPr lang="en-US" i="1" dirty="0"/>
              <a:t>“Extended Agriculture-Vision: An Extension of a Large Aerial Image Dataset for Agricultural Pattern Analysis.”</a:t>
            </a:r>
            <a:r>
              <a:rPr lang="en-US" dirty="0"/>
              <a:t> Transactions on Machine Learning Research (TMLR), published Apr 2023.</a:t>
            </a:r>
          </a:p>
          <a:p>
            <a:pPr>
              <a:lnSpc>
                <a:spcPct val="150000"/>
              </a:lnSpc>
            </a:pPr>
            <a:r>
              <a:rPr lang="en-US" dirty="0"/>
              <a:t>[8] </a:t>
            </a:r>
            <a:r>
              <a:rPr lang="en-US" b="1" dirty="0"/>
              <a:t>Khan, A. I.</a:t>
            </a:r>
            <a:r>
              <a:rPr lang="en-US" dirty="0"/>
              <a:t>, S. M. K. </a:t>
            </a:r>
            <a:r>
              <a:rPr lang="en-US" dirty="0" err="1"/>
              <a:t>Quadri</a:t>
            </a:r>
            <a:r>
              <a:rPr lang="en-US" dirty="0"/>
              <a:t>, S. </a:t>
            </a:r>
            <a:r>
              <a:rPr lang="en-US" dirty="0" err="1"/>
              <a:t>Banday</a:t>
            </a:r>
            <a:r>
              <a:rPr lang="en-US" dirty="0"/>
              <a:t>, and J. L. Shah. </a:t>
            </a:r>
            <a:r>
              <a:rPr lang="en-US" i="1" dirty="0"/>
              <a:t>“Deep diagnosis: A real-time apple leaf disease detection system based on deep learning.”</a:t>
            </a:r>
            <a:r>
              <a:rPr lang="en-US" dirty="0"/>
              <a:t> Computers and Electronics in Agriculture, vol. 199, Article 107093, 2022.</a:t>
            </a:r>
          </a:p>
          <a:p>
            <a:pPr>
              <a:lnSpc>
                <a:spcPct val="150000"/>
              </a:lnSpc>
            </a:pPr>
            <a:r>
              <a:rPr lang="en-US" dirty="0"/>
              <a:t>[9] </a:t>
            </a:r>
            <a:r>
              <a:rPr lang="en-US" b="1" dirty="0"/>
              <a:t>Tavera, A.</a:t>
            </a:r>
            <a:r>
              <a:rPr lang="en-US" dirty="0"/>
              <a:t>, E. </a:t>
            </a:r>
            <a:r>
              <a:rPr lang="en-US" dirty="0" err="1"/>
              <a:t>Arnaudo</a:t>
            </a:r>
            <a:r>
              <a:rPr lang="en-US" dirty="0"/>
              <a:t>, C. </a:t>
            </a:r>
            <a:r>
              <a:rPr lang="en-US" dirty="0" err="1"/>
              <a:t>Masone</a:t>
            </a:r>
            <a:r>
              <a:rPr lang="en-US" dirty="0"/>
              <a:t>, and B. Caputo. </a:t>
            </a:r>
            <a:r>
              <a:rPr lang="en-US" i="1" dirty="0"/>
              <a:t>“Augmentation Invariance and Adaptive Sampling in Semantic Segmentation of Agricultural Aerial Images.”</a:t>
            </a:r>
            <a:r>
              <a:rPr lang="en-US" dirty="0"/>
              <a:t> Proceedings of CVPR 2022 Workshops (</a:t>
            </a:r>
            <a:r>
              <a:rPr lang="en-US" dirty="0" err="1"/>
              <a:t>AgriVision</a:t>
            </a:r>
            <a:r>
              <a:rPr lang="en-US" dirty="0"/>
              <a:t>), pp. 1656–1665, 2022.</a:t>
            </a:r>
          </a:p>
          <a:p>
            <a:pPr>
              <a:lnSpc>
                <a:spcPct val="150000"/>
              </a:lnSpc>
            </a:pPr>
            <a:r>
              <a:rPr lang="en-US" dirty="0"/>
              <a:t>[10] </a:t>
            </a:r>
            <a:r>
              <a:rPr lang="en-US" b="1" dirty="0" err="1"/>
              <a:t>Eleojo</a:t>
            </a:r>
            <a:r>
              <a:rPr lang="en-US" b="1" dirty="0"/>
              <a:t>, J. B.</a:t>
            </a:r>
            <a:r>
              <a:rPr lang="en-US" dirty="0"/>
              <a:t> </a:t>
            </a:r>
            <a:r>
              <a:rPr lang="en-US" i="1" dirty="0"/>
              <a:t>“Utilizing Vision-Language Models for Detection of Leaf-Based Diseases in Tomatoes.”</a:t>
            </a:r>
            <a:r>
              <a:rPr lang="en-US" dirty="0"/>
              <a:t> Proceedings of the AAAI Conference on Artificial Intelligence, vol. 39 no. 28 (AI for Social Impact track), pp. 29567–29569, 2025.</a:t>
            </a:r>
          </a:p>
          <a:p>
            <a:pPr>
              <a:lnSpc>
                <a:spcPct val="150000"/>
              </a:lnSpc>
            </a:pPr>
            <a:r>
              <a:rPr lang="en-US" dirty="0"/>
              <a:t>[11] </a:t>
            </a:r>
            <a:r>
              <a:rPr lang="en-US" b="1" dirty="0" err="1"/>
              <a:t>Kallenberg</a:t>
            </a:r>
            <a:r>
              <a:rPr lang="en-US" b="1" dirty="0"/>
              <a:t>, M. G. J.</a:t>
            </a:r>
            <a:r>
              <a:rPr lang="en-US" dirty="0"/>
              <a:t>, H. </a:t>
            </a:r>
            <a:r>
              <a:rPr lang="en-US" dirty="0" err="1"/>
              <a:t>Overweg</a:t>
            </a:r>
            <a:r>
              <a:rPr lang="en-US" dirty="0"/>
              <a:t>, R. van Bree, and I. N. </a:t>
            </a:r>
            <a:r>
              <a:rPr lang="en-US" dirty="0" err="1"/>
              <a:t>Athanasiadis</a:t>
            </a:r>
            <a:r>
              <a:rPr lang="en-US" dirty="0"/>
              <a:t>. </a:t>
            </a:r>
            <a:r>
              <a:rPr lang="en-US" i="1" dirty="0"/>
              <a:t>“Nitrogen management with reinforcement learning and crop growth models.”</a:t>
            </a:r>
            <a:r>
              <a:rPr lang="en-US" dirty="0"/>
              <a:t> Environmental Data Science, vol. 2, e34, 2023.</a:t>
            </a:r>
          </a:p>
        </p:txBody>
      </p:sp>
    </p:spTree>
    <p:extLst>
      <p:ext uri="{BB962C8B-B14F-4D97-AF65-F5344CB8AC3E}">
        <p14:creationId xmlns:p14="http://schemas.microsoft.com/office/powerpoint/2010/main" val="12609324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t>REFERENCES</a:t>
            </a:r>
            <a:endParaRPr lang="en-PK" sz="3600" b="1" dirty="0"/>
          </a:p>
        </p:txBody>
      </p:sp>
      <p:sp>
        <p:nvSpPr>
          <p:cNvPr id="7" name="Slide Number Placeholder 6">
            <a:extLst>
              <a:ext uri="{FF2B5EF4-FFF2-40B4-BE49-F238E27FC236}">
                <a16:creationId xmlns:a16="http://schemas.microsoft.com/office/drawing/2014/main" id="{CD32160C-38C4-9159-B27E-63729DDE9D99}"/>
              </a:ext>
            </a:extLst>
          </p:cNvPr>
          <p:cNvSpPr>
            <a:spLocks noGrp="1"/>
          </p:cNvSpPr>
          <p:nvPr>
            <p:ph type="sldNum" sz="quarter" idx="12"/>
          </p:nvPr>
        </p:nvSpPr>
        <p:spPr/>
        <p:txBody>
          <a:bodyPr/>
          <a:lstStyle/>
          <a:p>
            <a:fld id="{27698F7A-D9AE-4498-B063-4ED69550A214}" type="slidenum">
              <a:rPr lang="en-US" smtClean="0"/>
              <a:t>41</a:t>
            </a:fld>
            <a:endParaRPr lang="en-US"/>
          </a:p>
        </p:txBody>
      </p:sp>
      <p:sp>
        <p:nvSpPr>
          <p:cNvPr id="3" name="Rectangle 2">
            <a:extLst>
              <a:ext uri="{FF2B5EF4-FFF2-40B4-BE49-F238E27FC236}">
                <a16:creationId xmlns:a16="http://schemas.microsoft.com/office/drawing/2014/main" id="{EDFA9F2C-F00B-4CE2-BC9D-CEA28E84195E}"/>
              </a:ext>
            </a:extLst>
          </p:cNvPr>
          <p:cNvSpPr/>
          <p:nvPr/>
        </p:nvSpPr>
        <p:spPr>
          <a:xfrm>
            <a:off x="197343" y="1158469"/>
            <a:ext cx="11772868" cy="5035353"/>
          </a:xfrm>
          <a:prstGeom prst="rect">
            <a:avLst/>
          </a:prstGeom>
        </p:spPr>
        <p:txBody>
          <a:bodyPr wrap="square">
            <a:spAutoFit/>
          </a:bodyPr>
          <a:lstStyle/>
          <a:p>
            <a:pPr>
              <a:lnSpc>
                <a:spcPct val="150000"/>
              </a:lnSpc>
            </a:pPr>
            <a:r>
              <a:rPr lang="en-US" dirty="0"/>
              <a:t>[12] </a:t>
            </a:r>
            <a:r>
              <a:rPr lang="en-US" b="1" dirty="0" err="1"/>
              <a:t>Gautron</a:t>
            </a:r>
            <a:r>
              <a:rPr lang="en-US" b="1" dirty="0"/>
              <a:t>, R.</a:t>
            </a:r>
            <a:r>
              <a:rPr lang="en-US" dirty="0"/>
              <a:t>, O.-A. Maillard, P. </a:t>
            </a:r>
            <a:r>
              <a:rPr lang="en-US" dirty="0" err="1"/>
              <a:t>Preux</a:t>
            </a:r>
            <a:r>
              <a:rPr lang="en-US" dirty="0"/>
              <a:t>, M. </a:t>
            </a:r>
            <a:r>
              <a:rPr lang="en-US" dirty="0" err="1"/>
              <a:t>Corbeels</a:t>
            </a:r>
            <a:r>
              <a:rPr lang="en-US" dirty="0"/>
              <a:t>, and R. </a:t>
            </a:r>
            <a:r>
              <a:rPr lang="en-US" dirty="0" err="1"/>
              <a:t>Sabbadin</a:t>
            </a:r>
            <a:r>
              <a:rPr lang="en-US" dirty="0"/>
              <a:t>. </a:t>
            </a:r>
            <a:r>
              <a:rPr lang="en-US" i="1" dirty="0"/>
              <a:t>“Reinforcement Learning for Crop Management Support: A Review, Prospects and Challenges.”</a:t>
            </a:r>
            <a:r>
              <a:rPr lang="en-US" dirty="0"/>
              <a:t> Computers and Electronics in Agriculture, vol. 200, Article 107182, 2022.</a:t>
            </a:r>
          </a:p>
          <a:p>
            <a:pPr>
              <a:lnSpc>
                <a:spcPct val="150000"/>
              </a:lnSpc>
            </a:pPr>
            <a:r>
              <a:rPr lang="en-US" dirty="0"/>
              <a:t>[13] </a:t>
            </a:r>
            <a:r>
              <a:rPr lang="en-US" b="1" dirty="0" err="1"/>
              <a:t>Turchetta</a:t>
            </a:r>
            <a:r>
              <a:rPr lang="en-US" b="1" dirty="0"/>
              <a:t>, M.</a:t>
            </a:r>
            <a:r>
              <a:rPr lang="en-US" dirty="0"/>
              <a:t>, L. </a:t>
            </a:r>
            <a:r>
              <a:rPr lang="en-US" dirty="0" err="1"/>
              <a:t>Corinzia</a:t>
            </a:r>
            <a:r>
              <a:rPr lang="en-US" dirty="0"/>
              <a:t>, S. Sussex, A. Burton, J. Herrera, I. </a:t>
            </a:r>
            <a:r>
              <a:rPr lang="en-US" dirty="0" err="1"/>
              <a:t>Athanasiadis</a:t>
            </a:r>
            <a:r>
              <a:rPr lang="en-US" dirty="0"/>
              <a:t>, J. M. </a:t>
            </a:r>
            <a:r>
              <a:rPr lang="en-US" dirty="0" err="1"/>
              <a:t>Buhmann</a:t>
            </a:r>
            <a:r>
              <a:rPr lang="en-US" dirty="0"/>
              <a:t>, and A. Krause. </a:t>
            </a:r>
            <a:r>
              <a:rPr lang="en-US" i="1" dirty="0"/>
              <a:t>“Learning long-term crop management strategies with </a:t>
            </a:r>
            <a:r>
              <a:rPr lang="en-US" i="1" dirty="0" err="1"/>
              <a:t>CyclesGym</a:t>
            </a:r>
            <a:r>
              <a:rPr lang="en-US" i="1" dirty="0"/>
              <a:t>.”</a:t>
            </a:r>
            <a:r>
              <a:rPr lang="en-US" dirty="0"/>
              <a:t> Advances in Neural Information Processing Systems 35 (</a:t>
            </a:r>
            <a:r>
              <a:rPr lang="en-US" dirty="0" err="1"/>
              <a:t>NeurIPS</a:t>
            </a:r>
            <a:r>
              <a:rPr lang="en-US" dirty="0"/>
              <a:t> Datasets and Benchmarks Track), 2022.</a:t>
            </a:r>
          </a:p>
          <a:p>
            <a:pPr>
              <a:lnSpc>
                <a:spcPct val="150000"/>
              </a:lnSpc>
            </a:pPr>
            <a:r>
              <a:rPr lang="en-US" dirty="0"/>
              <a:t>[14] </a:t>
            </a:r>
            <a:r>
              <a:rPr lang="en-US" b="1" dirty="0" err="1"/>
              <a:t>Avigal</a:t>
            </a:r>
            <a:r>
              <a:rPr lang="en-US" b="1" dirty="0"/>
              <a:t>, Y.</a:t>
            </a:r>
            <a:r>
              <a:rPr lang="en-US" dirty="0"/>
              <a:t>, W. Wong, M. </a:t>
            </a:r>
            <a:r>
              <a:rPr lang="en-US" dirty="0" err="1"/>
              <a:t>Presten</a:t>
            </a:r>
            <a:r>
              <a:rPr lang="en-US" dirty="0"/>
              <a:t>, M. </a:t>
            </a:r>
            <a:r>
              <a:rPr lang="en-US" dirty="0" err="1"/>
              <a:t>Theis</a:t>
            </a:r>
            <a:r>
              <a:rPr lang="en-US" dirty="0"/>
              <a:t>, S. Aeron, A. </a:t>
            </a:r>
            <a:r>
              <a:rPr lang="en-US" dirty="0" err="1"/>
              <a:t>Deza</a:t>
            </a:r>
            <a:r>
              <a:rPr lang="en-US" dirty="0"/>
              <a:t>, S. Sharma, R. Parikh, S. </a:t>
            </a:r>
            <a:r>
              <a:rPr lang="en-US" dirty="0" err="1"/>
              <a:t>Oehme</a:t>
            </a:r>
            <a:r>
              <a:rPr lang="en-US" dirty="0"/>
              <a:t>, S. </a:t>
            </a:r>
            <a:r>
              <a:rPr lang="en-US" dirty="0" err="1"/>
              <a:t>Carpin</a:t>
            </a:r>
            <a:r>
              <a:rPr lang="en-US" dirty="0"/>
              <a:t>, J. H. </a:t>
            </a:r>
            <a:r>
              <a:rPr lang="en-US" dirty="0" err="1"/>
              <a:t>Viers</a:t>
            </a:r>
            <a:r>
              <a:rPr lang="en-US" dirty="0"/>
              <a:t>, S. </a:t>
            </a:r>
            <a:r>
              <a:rPr lang="en-US" dirty="0" err="1"/>
              <a:t>Vougioukas</a:t>
            </a:r>
            <a:r>
              <a:rPr lang="en-US" dirty="0"/>
              <a:t>, and K. Y. Goldberg. </a:t>
            </a:r>
            <a:r>
              <a:rPr lang="en-US" i="1" dirty="0"/>
              <a:t>“Simulating polyculture farming to learn automation policies for plant diversity and precision irrigation.”</a:t>
            </a:r>
            <a:r>
              <a:rPr lang="en-US" dirty="0"/>
              <a:t> IEEE Transactions on Automation Science and Engineering, vol. 19 no. 3, pp. 1352–1364, 2022.</a:t>
            </a:r>
          </a:p>
          <a:p>
            <a:pPr>
              <a:lnSpc>
                <a:spcPct val="150000"/>
              </a:lnSpc>
            </a:pPr>
            <a:r>
              <a:rPr lang="en-US" dirty="0"/>
              <a:t>[15] </a:t>
            </a:r>
            <a:r>
              <a:rPr lang="en-US" b="1" dirty="0"/>
              <a:t>Din, A.</a:t>
            </a:r>
            <a:r>
              <a:rPr lang="en-US" dirty="0"/>
              <a:t>, M. Y. Ismail, B. Shah, M. Babar, F. Ali, and S. U. </a:t>
            </a:r>
            <a:r>
              <a:rPr lang="en-US" dirty="0" err="1"/>
              <a:t>Baig</a:t>
            </a:r>
            <a:r>
              <a:rPr lang="en-US" dirty="0"/>
              <a:t>. </a:t>
            </a:r>
            <a:r>
              <a:rPr lang="en-US" i="1" dirty="0"/>
              <a:t>“A deep reinforcement learning-based multi-agent area coverage control for smart agriculture.”</a:t>
            </a:r>
            <a:r>
              <a:rPr lang="en-US" dirty="0"/>
              <a:t> Computers and Electrical Engineering, vol. 101, Article 108089, 2022.</a:t>
            </a:r>
          </a:p>
          <a:p>
            <a:pPr>
              <a:lnSpc>
                <a:spcPct val="150000"/>
              </a:lnSpc>
            </a:pPr>
            <a:r>
              <a:rPr lang="en-US" dirty="0"/>
              <a:t>[16] </a:t>
            </a:r>
            <a:r>
              <a:rPr lang="en-US" b="1" dirty="0" err="1"/>
              <a:t>Saikai</a:t>
            </a:r>
            <a:r>
              <a:rPr lang="en-US" b="1" dirty="0"/>
              <a:t>, Y.</a:t>
            </a:r>
            <a:r>
              <a:rPr lang="en-US" dirty="0"/>
              <a:t>, A. Peake, and K. </a:t>
            </a:r>
            <a:r>
              <a:rPr lang="en-US" dirty="0" err="1"/>
              <a:t>Chenu</a:t>
            </a:r>
            <a:r>
              <a:rPr lang="en-US" dirty="0"/>
              <a:t>. </a:t>
            </a:r>
            <a:r>
              <a:rPr lang="en-US" i="1" dirty="0"/>
              <a:t>“Deep reinforcement learning for irrigation scheduling using high-dimensional sensor feedback.”</a:t>
            </a:r>
            <a:r>
              <a:rPr lang="en-US" dirty="0"/>
              <a:t> PLOS Water, vol. 2 no. 9, e0000169, 2023.</a:t>
            </a:r>
          </a:p>
        </p:txBody>
      </p:sp>
    </p:spTree>
    <p:extLst>
      <p:ext uri="{BB962C8B-B14F-4D97-AF65-F5344CB8AC3E}">
        <p14:creationId xmlns:p14="http://schemas.microsoft.com/office/powerpoint/2010/main" val="157281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a black rectangle and colorful squares&#10;&#10;Description automatically generated">
            <a:extLst>
              <a:ext uri="{FF2B5EF4-FFF2-40B4-BE49-F238E27FC236}">
                <a16:creationId xmlns:a16="http://schemas.microsoft.com/office/drawing/2014/main" id="{6B377E1C-A039-B3C4-CD3C-96DE7426FE21}"/>
              </a:ext>
            </a:extLst>
          </p:cNvPr>
          <p:cNvPicPr>
            <a:picLocks noChangeAspect="1"/>
          </p:cNvPicPr>
          <p:nvPr/>
        </p:nvPicPr>
        <p:blipFill rotWithShape="1">
          <a:blip r:embed="rId2">
            <a:extLst>
              <a:ext uri="{28A0092B-C50C-407E-A947-70E740481C1C}">
                <a14:useLocalDpi xmlns:a14="http://schemas.microsoft.com/office/drawing/2010/main" val="0"/>
              </a:ext>
            </a:extLst>
          </a:blip>
          <a:srcRect l="32207" t="27728" r="32273" b="40016"/>
          <a:stretch/>
        </p:blipFill>
        <p:spPr>
          <a:xfrm>
            <a:off x="10820569" y="185493"/>
            <a:ext cx="1149642" cy="1044000"/>
          </a:xfrm>
          <a:prstGeom prst="rect">
            <a:avLst/>
          </a:prstGeom>
        </p:spPr>
      </p:pic>
      <p:sp>
        <p:nvSpPr>
          <p:cNvPr id="5" name="Freeform 18">
            <a:extLst>
              <a:ext uri="{FF2B5EF4-FFF2-40B4-BE49-F238E27FC236}">
                <a16:creationId xmlns:a16="http://schemas.microsoft.com/office/drawing/2014/main" id="{56332FB9-4238-3759-C3C1-F5F65DD25E9A}"/>
              </a:ext>
            </a:extLst>
          </p:cNvPr>
          <p:cNvSpPr>
            <a:spLocks noChangeAspect="1"/>
          </p:cNvSpPr>
          <p:nvPr/>
        </p:nvSpPr>
        <p:spPr>
          <a:xfrm>
            <a:off x="197343" y="223241"/>
            <a:ext cx="1308693" cy="900000"/>
          </a:xfrm>
          <a:custGeom>
            <a:avLst/>
            <a:gdLst/>
            <a:ahLst/>
            <a:cxnLst/>
            <a:rect l="l" t="t" r="r" b="b"/>
            <a:pathLst>
              <a:path w="1920102" h="1320469">
                <a:moveTo>
                  <a:pt x="0" y="0"/>
                </a:moveTo>
                <a:lnTo>
                  <a:pt x="1920103" y="0"/>
                </a:lnTo>
                <a:lnTo>
                  <a:pt x="1920103" y="1320469"/>
                </a:lnTo>
                <a:lnTo>
                  <a:pt x="0" y="1320469"/>
                </a:lnTo>
                <a:lnTo>
                  <a:pt x="0" y="0"/>
                </a:lnTo>
                <a:close/>
              </a:path>
            </a:pathLst>
          </a:custGeom>
          <a:blipFill>
            <a:blip r:embed="rId3"/>
            <a:stretch>
              <a:fillRect/>
            </a:stretch>
          </a:blipFill>
        </p:spPr>
        <p:txBody>
          <a:bodyPr/>
          <a:lstStyle/>
          <a:p>
            <a:endParaRPr lang="en-PK"/>
          </a:p>
        </p:txBody>
      </p:sp>
      <p:sp>
        <p:nvSpPr>
          <p:cNvPr id="2" name="TextBox 1">
            <a:extLst>
              <a:ext uri="{FF2B5EF4-FFF2-40B4-BE49-F238E27FC236}">
                <a16:creationId xmlns:a16="http://schemas.microsoft.com/office/drawing/2014/main" id="{18363AB0-A603-BDB8-F3E4-56A39F4BCE7F}"/>
              </a:ext>
            </a:extLst>
          </p:cNvPr>
          <p:cNvSpPr txBox="1"/>
          <p:nvPr/>
        </p:nvSpPr>
        <p:spPr>
          <a:xfrm>
            <a:off x="2814610" y="412598"/>
            <a:ext cx="6562779" cy="646331"/>
          </a:xfrm>
          <a:prstGeom prst="rect">
            <a:avLst/>
          </a:prstGeom>
          <a:noFill/>
        </p:spPr>
        <p:txBody>
          <a:bodyPr wrap="square" rtlCol="0">
            <a:spAutoFit/>
          </a:bodyPr>
          <a:lstStyle/>
          <a:p>
            <a:pPr algn="ctr"/>
            <a:r>
              <a:rPr lang="en-US" sz="3600" b="1" dirty="0"/>
              <a:t>REFERENCES</a:t>
            </a:r>
            <a:endParaRPr lang="en-PK" sz="3600" b="1" dirty="0"/>
          </a:p>
        </p:txBody>
      </p:sp>
      <p:sp>
        <p:nvSpPr>
          <p:cNvPr id="7" name="Slide Number Placeholder 6">
            <a:extLst>
              <a:ext uri="{FF2B5EF4-FFF2-40B4-BE49-F238E27FC236}">
                <a16:creationId xmlns:a16="http://schemas.microsoft.com/office/drawing/2014/main" id="{CD32160C-38C4-9159-B27E-63729DDE9D99}"/>
              </a:ext>
            </a:extLst>
          </p:cNvPr>
          <p:cNvSpPr>
            <a:spLocks noGrp="1"/>
          </p:cNvSpPr>
          <p:nvPr>
            <p:ph type="sldNum" sz="quarter" idx="12"/>
          </p:nvPr>
        </p:nvSpPr>
        <p:spPr/>
        <p:txBody>
          <a:bodyPr/>
          <a:lstStyle/>
          <a:p>
            <a:fld id="{27698F7A-D9AE-4498-B063-4ED69550A214}" type="slidenum">
              <a:rPr lang="en-US" smtClean="0"/>
              <a:t>42</a:t>
            </a:fld>
            <a:endParaRPr lang="en-US"/>
          </a:p>
        </p:txBody>
      </p:sp>
      <p:sp>
        <p:nvSpPr>
          <p:cNvPr id="3" name="Rectangle 2">
            <a:extLst>
              <a:ext uri="{FF2B5EF4-FFF2-40B4-BE49-F238E27FC236}">
                <a16:creationId xmlns:a16="http://schemas.microsoft.com/office/drawing/2014/main" id="{EDFA9F2C-F00B-4CE2-BC9D-CEA28E84195E}"/>
              </a:ext>
            </a:extLst>
          </p:cNvPr>
          <p:cNvSpPr/>
          <p:nvPr/>
        </p:nvSpPr>
        <p:spPr>
          <a:xfrm>
            <a:off x="197343" y="1229493"/>
            <a:ext cx="11772868" cy="3788858"/>
          </a:xfrm>
          <a:prstGeom prst="rect">
            <a:avLst/>
          </a:prstGeom>
        </p:spPr>
        <p:txBody>
          <a:bodyPr wrap="square">
            <a:spAutoFit/>
          </a:bodyPr>
          <a:lstStyle/>
          <a:p>
            <a:pPr>
              <a:lnSpc>
                <a:spcPct val="150000"/>
              </a:lnSpc>
            </a:pPr>
            <a:r>
              <a:rPr lang="en-US" dirty="0"/>
              <a:t>[17] </a:t>
            </a:r>
            <a:r>
              <a:rPr lang="en-US" b="1" dirty="0"/>
              <a:t>Wang, Y.</a:t>
            </a:r>
            <a:r>
              <a:rPr lang="en-US" dirty="0"/>
              <a:t>, Z. He, D. Cao, L. Ma, and Y. Cui. </a:t>
            </a:r>
            <a:r>
              <a:rPr lang="en-US" i="1" dirty="0"/>
              <a:t>“Coverage path planning for kiwifruit picking robots based on deep reinforcement learning.”</a:t>
            </a:r>
            <a:r>
              <a:rPr lang="en-US" dirty="0"/>
              <a:t> Computers and Electronics in Agriculture, vol. 205, Article 107593, 2023.</a:t>
            </a:r>
          </a:p>
          <a:p>
            <a:pPr>
              <a:lnSpc>
                <a:spcPct val="150000"/>
              </a:lnSpc>
            </a:pPr>
            <a:r>
              <a:rPr lang="en-US" dirty="0"/>
              <a:t>[18] </a:t>
            </a:r>
            <a:r>
              <a:rPr lang="en-US" b="1" dirty="0"/>
              <a:t>Vázquez-</a:t>
            </a:r>
            <a:r>
              <a:rPr lang="en-US" b="1" dirty="0" err="1"/>
              <a:t>Canteli</a:t>
            </a:r>
            <a:r>
              <a:rPr lang="en-US" b="1" dirty="0"/>
              <a:t>, J. R.</a:t>
            </a:r>
            <a:r>
              <a:rPr lang="en-US" dirty="0"/>
              <a:t>, U. R. Siddiqui, H. Madsen, and Z. Nagy. </a:t>
            </a:r>
            <a:r>
              <a:rPr lang="en-US" i="1" dirty="0"/>
              <a:t>“Reinforcement Learning versus Model Predictive Control on greenhouse climate control.”</a:t>
            </a:r>
            <a:r>
              <a:rPr lang="en-US" dirty="0"/>
              <a:t> Computers and Electronics in Agriculture, vol. 215, Article 108372, 2023.</a:t>
            </a:r>
          </a:p>
          <a:p>
            <a:pPr>
              <a:lnSpc>
                <a:spcPct val="150000"/>
              </a:lnSpc>
            </a:pPr>
            <a:r>
              <a:rPr lang="en-US" dirty="0"/>
              <a:t>[19] </a:t>
            </a:r>
            <a:r>
              <a:rPr lang="en-US" b="1" dirty="0"/>
              <a:t>Huang, S.</a:t>
            </a:r>
            <a:r>
              <a:rPr lang="en-US" dirty="0"/>
              <a:t>, A. </a:t>
            </a:r>
            <a:r>
              <a:rPr lang="en-US" dirty="0" err="1"/>
              <a:t>Abdolmaleki</a:t>
            </a:r>
            <a:r>
              <a:rPr lang="en-US" dirty="0"/>
              <a:t>, G. </a:t>
            </a:r>
            <a:r>
              <a:rPr lang="en-US" dirty="0" err="1"/>
              <a:t>Vezzani</a:t>
            </a:r>
            <a:r>
              <a:rPr lang="en-US" dirty="0"/>
              <a:t>, P. </a:t>
            </a:r>
            <a:r>
              <a:rPr lang="en-US" dirty="0" err="1"/>
              <a:t>Brakel</a:t>
            </a:r>
            <a:r>
              <a:rPr lang="en-US" dirty="0"/>
              <a:t>, D. J. Mankowitz, M. </a:t>
            </a:r>
            <a:r>
              <a:rPr lang="en-US" dirty="0" err="1"/>
              <a:t>Neunert</a:t>
            </a:r>
            <a:r>
              <a:rPr lang="en-US" dirty="0"/>
              <a:t>, S. </a:t>
            </a:r>
            <a:r>
              <a:rPr lang="en-US" dirty="0" err="1"/>
              <a:t>Bohez</a:t>
            </a:r>
            <a:r>
              <a:rPr lang="en-US" dirty="0"/>
              <a:t>, </a:t>
            </a:r>
            <a:r>
              <a:rPr lang="en-US" i="1" dirty="0"/>
              <a:t>et al.</a:t>
            </a:r>
            <a:r>
              <a:rPr lang="en-US" dirty="0"/>
              <a:t> </a:t>
            </a:r>
            <a:r>
              <a:rPr lang="en-US" i="1" dirty="0"/>
              <a:t>“A Constrained Multi-Objective Reinforcement Learning Framework.”</a:t>
            </a:r>
            <a:r>
              <a:rPr lang="en-US" dirty="0"/>
              <a:t> Proceedings of the 5th Conference on Robot Learning (</a:t>
            </a:r>
            <a:r>
              <a:rPr lang="en-US" dirty="0" err="1"/>
              <a:t>CoRL</a:t>
            </a:r>
            <a:r>
              <a:rPr lang="en-US" dirty="0"/>
              <a:t>), PMLR vol. 164, pp. 883–893, 2022.</a:t>
            </a:r>
          </a:p>
          <a:p>
            <a:pPr>
              <a:lnSpc>
                <a:spcPct val="150000"/>
              </a:lnSpc>
            </a:pPr>
            <a:r>
              <a:rPr lang="en-US" dirty="0"/>
              <a:t>[20] </a:t>
            </a:r>
            <a:r>
              <a:rPr lang="en-US" b="1" dirty="0"/>
              <a:t>Zhao, W.</a:t>
            </a:r>
            <a:r>
              <a:rPr lang="en-US" dirty="0"/>
              <a:t>, T. He, R. Chen, T. Wei, and C. Liu. </a:t>
            </a:r>
            <a:r>
              <a:rPr lang="en-US" i="1" dirty="0"/>
              <a:t>“State-wise Safe Reinforcement Learning: A Survey.”</a:t>
            </a:r>
            <a:r>
              <a:rPr lang="en-US" dirty="0"/>
              <a:t> Proceedings of the 32nd International Joint Conference on AI (IJCAI-23), Survey Track, pp. 6814–6820, 2023.</a:t>
            </a:r>
          </a:p>
        </p:txBody>
      </p:sp>
    </p:spTree>
    <p:extLst>
      <p:ext uri="{BB962C8B-B14F-4D97-AF65-F5344CB8AC3E}">
        <p14:creationId xmlns:p14="http://schemas.microsoft.com/office/powerpoint/2010/main" val="34191218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5289</TotalTime>
  <Words>3926</Words>
  <Application>Microsoft Office PowerPoint</Application>
  <PresentationFormat>Widescreen</PresentationFormat>
  <Paragraphs>514</Paragraphs>
  <Slides>42</Slides>
  <Notes>1</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42</vt:i4>
      </vt:variant>
    </vt:vector>
  </HeadingPairs>
  <TitlesOfParts>
    <vt:vector size="55" baseType="lpstr">
      <vt:lpstr>MS Mincho</vt:lpstr>
      <vt:lpstr>Aptos</vt:lpstr>
      <vt:lpstr>Aptos Display</vt:lpstr>
      <vt:lpstr>Arial</vt:lpstr>
      <vt:lpstr>Calibri</vt:lpstr>
      <vt:lpstr>Cambria Math</vt:lpstr>
      <vt:lpstr>fkGroteskNeue</vt:lpstr>
      <vt:lpstr>Georgia</vt:lpstr>
      <vt:lpstr>inter</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Haider</dc:creator>
  <cp:lastModifiedBy>Haider Masood</cp:lastModifiedBy>
  <cp:revision>155</cp:revision>
  <dcterms:created xsi:type="dcterms:W3CDTF">2024-01-22T04:02:06Z</dcterms:created>
  <dcterms:modified xsi:type="dcterms:W3CDTF">2025-10-28T15:04:21Z</dcterms:modified>
</cp:coreProperties>
</file>