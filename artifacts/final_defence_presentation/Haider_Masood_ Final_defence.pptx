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0A1E33"/>
          </a:solidFill>
          <a:ln w="12700">
            <a:solidFill>
              <a:srgbClr val="0A1E33"/>
            </a:solidFill>
            <a:prstDash val="solid"/>
          </a:ln>
        </p:spPr>
      </p:sp>
      <p:pic>
        <p:nvPicPr>
          <p:cNvPr id="4" name="Image 0" descr="D:\THESIS FINAL EXPERIMENTS\thesis_backup\thesis\artifacts\final_defence_presentation\assets\nu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6856" y="384048"/>
            <a:ext cx="1822704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133856"/>
            <a:ext cx="8549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Agricultural Resource Allocation through Reinforcement Learning for Yield Improvement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85800" y="2670048"/>
            <a:ext cx="8549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D6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Cost-Driven Approach to Crop Efficiency Enhancement in Pakistan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85800" y="380390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E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Thesis Defence Presentation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5800" y="4334256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(401636)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Artificial Intelligence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Zuhair Zafar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6245352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Computing, NUST SEECS | March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60120"/>
            <a:ext cx="106070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motivation, and Pakistan context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statement, and thesis scope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system architecture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evidence and verification logs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broad NPK matrix and current status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benchmark context and runtime profile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Contributions, limitations, and future work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Motivation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5669280" cy="411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agriculture is economically critical and operationally risk-sensitive.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trial-and-error is expensive when weather and fertilizer costs are volatile.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Simulation-first RL narrows viable policy space before field-adjacent validation.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claim: this thesis contributes a localized, evidence-disciplined RL stack.</a:t>
            </a:r>
            <a:endParaRPr lang="en-US" sz="1600" dirty="0"/>
          </a:p>
        </p:txBody>
      </p:sp>
      <p:pic>
        <p:nvPicPr>
          <p:cNvPr id="9" name="Image 0" descr="D:\THESIS FINAL EXPERIMENTS\thesis_backup\thesis\artifacts\final_defence_presentation\assets\pakistan_weather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56348"/>
            <a:ext cx="5212080" cy="279666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5486400"/>
            <a:ext cx="10972800" cy="566928"/>
          </a:xfrm>
          <a:prstGeom prst="roundRect">
            <a:avLst/>
          </a:prstGeom>
          <a:solidFill>
            <a:srgbClr val="EEF8F6"/>
          </a:solidFill>
          <a:ln w="12700">
            <a:solidFill>
              <a:srgbClr val="D0EC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66928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weather/soil/economic inputs are implemented, not just proposed.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and Problem Statement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987552"/>
            <a:ext cx="548640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RL agriculture stacks are built for non-Pakistan assumptions.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setup lacked complete NPK-aware economics and report-level traceability.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ambitions exceeded current implemented controls in some areas.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969264"/>
            <a:ext cx="5212080" cy="4526280"/>
          </a:xfrm>
          <a:prstGeom prst="roundRect">
            <a:avLst/>
          </a:prstGeom>
          <a:solidFill>
            <a:srgbClr val="F9F4F2"/>
          </a:solidFill>
          <a:ln w="12700">
            <a:solidFill>
              <a:srgbClr val="E7C8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22529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01968" y="1682496"/>
            <a:ext cx="4754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4A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RL agricultural systems designed for North American/European contexts are not directly transferable to Pakistani climate, crop, and economic conditions.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01968" y="4160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response: localization + NPK expansion + hierarchical reporting + strict claims policy.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Scope: Implemented vs Deferred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932688"/>
            <a:ext cx="5440680" cy="50292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BDE2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8872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572768"/>
            <a:ext cx="4892040" cy="411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B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weather and soil integration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B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Year-varying Pakistan crop and nutrient price series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B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NPK-aware fertilization and reward decomposition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B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planning + weekly fertilization control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B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summary JSON and reporting callbacks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53912" y="932688"/>
            <a:ext cx="5394960" cy="5029200"/>
          </a:xfrm>
          <a:prstGeom prst="roundRect">
            <a:avLst/>
          </a:prstGeom>
          <a:solidFill>
            <a:srgbClr val="FFF4E9"/>
          </a:solidFill>
          <a:ln w="12700">
            <a:solidFill>
              <a:srgbClr val="F0D7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18872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/ Future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1572768"/>
            <a:ext cx="4846320" cy="411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6B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as learned action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6B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Rice-specific cultivar localization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6B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Rice-wheat finalized campaign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6B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Post-thesis rerun expansion beyond frozen 113+42 packs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914400"/>
            <a:ext cx="10972800" cy="86868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C6D9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704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maximize discounted return with explicit NPK cost decomposition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5440680" cy="384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 fertilization environment: 7-day decisions, N or NPK action channels.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CropPlanningFixedPlanting: yearly crop + planting week decisions.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environment: yearly planner plus within-season nutrient control.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design keeps cost channels and compliance metrics interpretable.</a:t>
            </a:r>
            <a:endParaRPr lang="en-US" sz="1400" dirty="0"/>
          </a:p>
        </p:txBody>
      </p:sp>
      <p:pic>
        <p:nvPicPr>
          <p:cNvPr id="11" name="Image 0" descr="D:\THESIS FINAL EXPERIMENTS\thesis_backup\thesis\artifacts\final_defence_presentation\assets\reward_decomposition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951" y="1874520"/>
            <a:ext cx="3711457" cy="1965960"/>
          </a:xfrm>
          <a:prstGeom prst="rect">
            <a:avLst/>
          </a:prstGeom>
        </p:spPr>
      </p:pic>
      <p:pic>
        <p:nvPicPr>
          <p:cNvPr id="12" name="Image 1" descr="D:\THESIS FINAL EXPERIMENTS\thesis_backup\thesis\artifacts\final_defence_presentation\assets\hierarchical_decision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628" y="3931920"/>
            <a:ext cx="3362103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Thesis System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8" name="Image 0" descr="D:\THESIS FINAL EXPERIMENTS\thesis_backup\thesis\artifacts\final_defence_presentation\assets\system_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27411"/>
            <a:ext cx="7315200" cy="42774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83880" y="987552"/>
            <a:ext cx="3474720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layer: PPO/A2C/DQN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layer: Corn, planning, hierarchical variants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I/O: CYCLES inputs, execution, outputs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layer: per-step info + per-run summary JSON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Economic Inputs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8" name="Image 0" descr="D:\THESIS FINAL EXPERIMENTS\thesis_backup\thesis\artifacts\final_defence_presentation\assets\pakistan_crop_price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4420"/>
            <a:ext cx="5669280" cy="3137095"/>
          </a:xfrm>
          <a:prstGeom prst="rect">
            <a:avLst/>
          </a:prstGeom>
        </p:spPr>
      </p:pic>
      <p:pic>
        <p:nvPicPr>
          <p:cNvPr id="9" name="Image 1" descr="D:\THESIS FINAL EXPERIMENTS\thesis_backup\thesis\artifacts\final_defence_presentation\assets\pakistan_nutrient_price_tr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26512"/>
            <a:ext cx="5074920" cy="28929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5532120"/>
            <a:ext cx="10972800" cy="530352"/>
          </a:xfrm>
          <a:prstGeom prst="roundRect">
            <a:avLst/>
          </a:prstGeom>
          <a:solidFill>
            <a:srgbClr val="F0F6FD"/>
          </a:solidFill>
          <a:ln w="12700">
            <a:solidFill>
              <a:srgbClr val="D2E1F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570585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series are consumed by Pakistan yearly price profiles used in reward calculations.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Broad NPK Experiment Matrix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5212080" cy="438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Runner: run_experiments_7_3_2026.py</a:t>
            </a:r>
            <a:endParaRPr lang="en-US" sz="15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jobs encoded: 113</a:t>
            </a:r>
            <a:endParaRPr lang="en-US" sz="15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Fertilization jobs: 75</a:t>
            </a:r>
            <a:endParaRPr lang="en-US" sz="15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Crop-planning jobs: 38</a:t>
            </a:r>
            <a:endParaRPr lang="en-US" sz="15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method: PPO, with A2C baseline and DQN ablation</a:t>
            </a:r>
            <a:endParaRPr lang="en-US" sz="1500" dirty="0"/>
          </a:p>
        </p:txBody>
      </p:sp>
      <p:pic>
        <p:nvPicPr>
          <p:cNvPr id="9" name="Image 0" descr="D:\THESIS FINAL EXPERIMENTS\thesis_backup\thesis\artifacts\final_defence_presentation\assets\experiment_matrix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759583"/>
            <a:ext cx="5532120" cy="30645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Logs and Smoke-Run Evidence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932688"/>
            <a:ext cx="6629400" cy="51663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DDE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521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commands (8 March 2026)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621792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test_thesis_reporting: Passed</a:t>
            </a:r>
            <a:endParaRPr lang="en-US" sz="13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test_pricing_utils: Passed</a:t>
            </a:r>
            <a:endParaRPr lang="en-US" sz="13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test_crop_planning: Passed</a:t>
            </a:r>
            <a:endParaRPr lang="en-US" sz="13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test_hierarchical_env: Passed</a:t>
            </a:r>
            <a:endParaRPr lang="en-US" sz="13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build.ps1 thesis rebuild: Passed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43800" y="932688"/>
            <a:ext cx="4069080" cy="5166360"/>
          </a:xfrm>
          <a:prstGeom prst="roundRect">
            <a:avLst/>
          </a:prstGeom>
          <a:solidFill>
            <a:srgbClr val="EEF9F5"/>
          </a:solidFill>
          <a:ln w="12700">
            <a:solidFill>
              <a:srgbClr val="CBE9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161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Run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18120" y="155448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offline_20260308_071804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fertilization | Method: PPO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NPK, fixed weather, 1000 years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292608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1819.76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mean: 1805.40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 17.60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holdout: 1816.86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Status (Frozen Completed Packs)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STATUS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8" name="Image 0" descr="D:\THESIS FINAL EXPERIMENTS\thesis_backup\thesis\artifacts\final_defence_presentation\assets\latest_matrix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63624"/>
            <a:ext cx="5760720" cy="34564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0" y="914400"/>
            <a:ext cx="4983480" cy="4754880"/>
          </a:xfrm>
          <a:prstGeom prst="roundRect">
            <a:avLst/>
          </a:prstGeom>
          <a:solidFill>
            <a:srgbClr val="EEF9F5"/>
          </a:solidFill>
          <a:ln w="12700">
            <a:solidFill>
              <a:srgbClr val="CBE9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11704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table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0" y="1572768"/>
            <a:ext cx="4389120" cy="3566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matrix rows (final_113): 113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final_113 jobs: 113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final_42_ablation jobs: 42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reporting packs generated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comparative chapter uses these completed packs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Benchmark Context (Not Final Evidence)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8" name="Image 0" descr="D:\THESIS FINAL EXPERIMENTS\thesis_backup\thesis\artifacts\final_defence_presentation\assets\historical_fertilization_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24951"/>
            <a:ext cx="5669280" cy="2813538"/>
          </a:xfrm>
          <a:prstGeom prst="rect">
            <a:avLst/>
          </a:prstGeom>
        </p:spPr>
      </p:pic>
      <p:pic>
        <p:nvPicPr>
          <p:cNvPr id="9" name="Image 1" descr="D:\THESIS FINAL EXPERIMENTS\thesis_backup\thesis\artifacts\final_defence_presentation\assets\historical_crop_sco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40981"/>
            <a:ext cx="5074920" cy="2581477"/>
          </a:xfrm>
          <a:prstGeom prst="rect">
            <a:avLst/>
          </a:prstGeom>
        </p:spPr>
      </p:pic>
      <p:pic>
        <p:nvPicPr>
          <p:cNvPr id="10" name="Image 2" descr="D:\THESIS FINAL EXPERIMENTS\thesis_backup\thesis\artifacts\final_defence_presentation\assets\historical_runtime_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237" y="3794760"/>
            <a:ext cx="3728406" cy="2148840"/>
          </a:xfrm>
          <a:prstGeom prst="rect">
            <a:avLst/>
          </a:prstGeom>
        </p:spPr>
      </p:pic>
      <p:pic>
        <p:nvPicPr>
          <p:cNvPr id="11" name="Image 3" descr="D:\THESIS FINAL EXPERIMENTS\thesis_backup\thesis\artifacts\final_defence_presentation\assets\historical_failure_signatu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289" y="3794760"/>
            <a:ext cx="4765381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Contributions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6858000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Pakistan-adapted localization of weather, soil, and pricing inputs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mostly N-centric to NPK-capable action/reward/reporting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integration of yearly planning with weekly fertilization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summary outputs for reproducible thesis evidence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claims policy separating implemented, partial, and future 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26680" y="1097280"/>
            <a:ext cx="3840480" cy="4389120"/>
          </a:xfrm>
          <a:prstGeom prst="roundRect">
            <a:avLst/>
          </a:prstGeom>
          <a:solidFill>
            <a:srgbClr val="ECF6F1"/>
          </a:solidFill>
          <a:ln w="12700">
            <a:solidFill>
              <a:srgbClr val="C8E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3533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Synopsis closure snapshot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0" y="20116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4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2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3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5440680" cy="448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 is not completed; evidence remains simulation-based.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crop setup remains maize-soy.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is not yet a learned control variable.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validity remains simulation-based.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is cost-aware but still simplified.</a:t>
            </a:r>
            <a:endParaRPr lang="en-US" sz="1400" dirty="0"/>
          </a:p>
        </p:txBody>
      </p:sp>
      <p:pic>
        <p:nvPicPr>
          <p:cNvPr id="9" name="Image 0" descr="D:\THESIS FINAL EXPERIMENTS\thesis_backup\thesis\artifacts\final_defence_presentation\assets\future_work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924650"/>
            <a:ext cx="5349240" cy="2734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MS-AI Thesis Defence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932688"/>
            <a:ext cx="10972800" cy="53035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CFD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2435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6583680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stack is materially improved and localized for Pakistan context.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contributions are implemented and verification-backed.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integrity is preserved by mapping claims to frozen 113 + 42 evidence packs.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post-thesis extensions (irrigation, rice-focused studies, field-adjacent validation).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8120" y="1600200"/>
            <a:ext cx="3566160" cy="2240280"/>
          </a:xfrm>
          <a:prstGeom prst="round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5008" y="21031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3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7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3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NUST SEECS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Haider_Masood_ Final_defence</dc:title>
  <dc:subject>Final Thesis Defence</dc:subject>
  <dc:creator>Haider Masood</dc:creator>
  <cp:lastModifiedBy>Haider Masood</cp:lastModifiedBy>
  <cp:revision>1</cp:revision>
  <dcterms:created xsi:type="dcterms:W3CDTF">2026-03-24T08:13:17Z</dcterms:created>
  <dcterms:modified xsi:type="dcterms:W3CDTF">2026-03-24T08:13:17Z</dcterms:modified>
</cp:coreProperties>
</file>